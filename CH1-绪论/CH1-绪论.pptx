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Lst>
  <p:notesMasterIdLst>
    <p:notesMasterId r:id="rId12"/>
  </p:notesMasterIdLst>
  <p:sldIdLst>
    <p:sldId id="296" r:id="rId3"/>
    <p:sldId id="291" r:id="rId4"/>
    <p:sldId id="258" r:id="rId5"/>
    <p:sldId id="297" r:id="rId6"/>
    <p:sldId id="298" r:id="rId7"/>
    <p:sldId id="299" r:id="rId8"/>
    <p:sldId id="300" r:id="rId9"/>
    <p:sldId id="282" r:id="rId10"/>
    <p:sldId id="293"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1F87"/>
    <a:srgbClr val="0066CC"/>
    <a:srgbClr val="192EC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54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9FE52-C6E7-4B1A-9A72-EDC7F2CC29C4}" type="datetimeFigureOut">
              <a:rPr lang="zh-CN" altLang="en-US" smtClean="0"/>
              <a:t>2026/7/8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B1401E-ED6B-48B2-A950-5A30F0C2C18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1B1401E-ED6B-48B2-A950-5A30F0C2C18A}"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zh-CN" altLang="en-US"/>
              <a:t>视觉模式分析及实践 —— 绪论</a:t>
            </a:r>
          </a:p>
        </p:txBody>
      </p:sp>
      <p:sp>
        <p:nvSpPr>
          <p:cNvPr id="6" name="灯片编号占位符 5"/>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zh-CN" altLang="en-US"/>
              <a:t>视觉模式分析及实践 —— 绪论</a:t>
            </a:r>
          </a:p>
        </p:txBody>
      </p:sp>
      <p:sp>
        <p:nvSpPr>
          <p:cNvPr id="6" name="灯片编号占位符 5"/>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zh-CN" altLang="en-US"/>
              <a:t>视觉模式分析及实践 —— 绪论</a:t>
            </a:r>
          </a:p>
        </p:txBody>
      </p:sp>
      <p:sp>
        <p:nvSpPr>
          <p:cNvPr id="6" name="灯片编号占位符 5"/>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r>
              <a:rPr lang="zh-CN" altLang="en-US"/>
              <a:t>视觉模式分析及实践 —— 绪论</a:t>
            </a:r>
          </a:p>
        </p:txBody>
      </p:sp>
      <p:sp>
        <p:nvSpPr>
          <p:cNvPr id="7" name="灯片编号占位符 6"/>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r>
              <a:rPr lang="zh-CN" altLang="en-US"/>
              <a:t>视觉模式分析及实践 —— 绪论</a:t>
            </a:r>
          </a:p>
        </p:txBody>
      </p:sp>
      <p:sp>
        <p:nvSpPr>
          <p:cNvPr id="9" name="灯片编号占位符 8"/>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a:xfrm>
            <a:off x="0" y="6473537"/>
            <a:ext cx="2674834" cy="365125"/>
          </a:xfrm>
        </p:spPr>
        <p:txBody>
          <a:bodyPr/>
          <a:lstStyle/>
          <a:p>
            <a:r>
              <a:rPr lang="zh-CN" altLang="en-US" sz="1200" dirty="0">
                <a:latin typeface="微软雅黑" panose="020B0503020204020204" pitchFamily="34" charset="-122"/>
                <a:ea typeface="微软雅黑" panose="020B0503020204020204" pitchFamily="34" charset="-122"/>
              </a:rPr>
              <a:t>视觉模式分析及实践 —— 绪论</a:t>
            </a:r>
          </a:p>
        </p:txBody>
      </p:sp>
      <p:sp>
        <p:nvSpPr>
          <p:cNvPr id="4" name="灯片编号占位符 3"/>
          <p:cNvSpPr>
            <a:spLocks noGrp="1"/>
          </p:cNvSpPr>
          <p:nvPr>
            <p:ph type="sldNum" sz="quarter" idx="12"/>
          </p:nvPr>
        </p:nvSpPr>
        <p:spPr>
          <a:xfrm>
            <a:off x="9294263" y="6473536"/>
            <a:ext cx="2743200" cy="365125"/>
          </a:xfrm>
        </p:spPr>
        <p:txBody>
          <a:bodyPr/>
          <a:lstStyle/>
          <a:p>
            <a:fld id="{9FD78845-01F8-4781-BC44-71E27FEEA8FC}" type="slidenum">
              <a:rPr lang="zh-CN" altLang="en-US" smtClean="0"/>
              <a:t>‹#›</a:t>
            </a:fld>
            <a:endParaRPr lang="zh-CN" altLang="en-US" dirty="0"/>
          </a:p>
        </p:txBody>
      </p:sp>
      <p:sp>
        <p:nvSpPr>
          <p:cNvPr id="5" name="矩形 4"/>
          <p:cNvSpPr/>
          <p:nvPr userDrawn="1"/>
        </p:nvSpPr>
        <p:spPr>
          <a:xfrm>
            <a:off x="0" y="0"/>
            <a:ext cx="12192000" cy="675118"/>
          </a:xfrm>
          <a:prstGeom prst="rect">
            <a:avLst/>
          </a:prstGeom>
          <a:solidFill>
            <a:srgbClr val="111F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CN" altLang="en-US" sz="3600" dirty="0">
              <a:latin typeface="微软雅黑" panose="020B0503020204020204" pitchFamily="34" charset="-122"/>
              <a:ea typeface="微软雅黑" panose="020B0503020204020204" pitchFamily="34" charset="-122"/>
            </a:endParaRPr>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r>
              <a:rPr lang="zh-CN" altLang="en-US"/>
              <a:t>视觉模式分析及实践 —— 绪论</a:t>
            </a:r>
          </a:p>
        </p:txBody>
      </p:sp>
      <p:sp>
        <p:nvSpPr>
          <p:cNvPr id="7" name="灯片编号占位符 6"/>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r>
              <a:rPr lang="zh-CN" altLang="en-US"/>
              <a:t>视觉模式分析及实践 —— 绪论</a:t>
            </a:r>
          </a:p>
        </p:txBody>
      </p:sp>
      <p:sp>
        <p:nvSpPr>
          <p:cNvPr id="7" name="灯片编号占位符 6"/>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zh-CN" altLang="en-US"/>
              <a:t>视觉模式分析及实践 —— 绪论</a:t>
            </a:r>
          </a:p>
        </p:txBody>
      </p:sp>
      <p:sp>
        <p:nvSpPr>
          <p:cNvPr id="6" name="灯片编号占位符 5"/>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zh-CN" altLang="en-US"/>
              <a:t>视觉模式分析及实践 —— 绪论</a:t>
            </a:r>
          </a:p>
        </p:txBody>
      </p:sp>
      <p:sp>
        <p:nvSpPr>
          <p:cNvPr id="6" name="灯片编号占位符 5"/>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zh-CN" altLang="en-US"/>
              <a:t>视觉模式分析及实践 —— 绪论</a:t>
            </a:r>
          </a:p>
        </p:txBody>
      </p:sp>
      <p:sp>
        <p:nvSpPr>
          <p:cNvPr id="6" name="灯片编号占位符 5"/>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zh-CN" altLang="en-US"/>
              <a:t>视觉模式分析及实践 —— 绪论</a:t>
            </a:r>
          </a:p>
        </p:txBody>
      </p:sp>
      <p:sp>
        <p:nvSpPr>
          <p:cNvPr id="6" name="灯片编号占位符 5"/>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zh-CN" altLang="en-US"/>
              <a:t>视觉模式分析及实践 —— 绪论</a:t>
            </a:r>
          </a:p>
        </p:txBody>
      </p:sp>
      <p:sp>
        <p:nvSpPr>
          <p:cNvPr id="6" name="灯片编号占位符 5"/>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r>
              <a:rPr lang="zh-CN" altLang="en-US"/>
              <a:t>视觉模式分析及实践 —— 绪论</a:t>
            </a:r>
          </a:p>
        </p:txBody>
      </p:sp>
      <p:sp>
        <p:nvSpPr>
          <p:cNvPr id="7" name="灯片编号占位符 6"/>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r>
              <a:rPr lang="zh-CN" altLang="en-US"/>
              <a:t>视觉模式分析及实践 —— 绪论</a:t>
            </a:r>
          </a:p>
        </p:txBody>
      </p:sp>
      <p:sp>
        <p:nvSpPr>
          <p:cNvPr id="9" name="灯片编号占位符 8"/>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a:xfrm>
            <a:off x="0" y="6473537"/>
            <a:ext cx="2674834" cy="365125"/>
          </a:xfrm>
        </p:spPr>
        <p:txBody>
          <a:bodyPr/>
          <a:lstStyle/>
          <a:p>
            <a:r>
              <a:rPr lang="zh-CN" altLang="en-US" sz="1200" dirty="0">
                <a:latin typeface="微软雅黑" panose="020B0503020204020204" pitchFamily="34" charset="-122"/>
                <a:ea typeface="微软雅黑" panose="020B0503020204020204" pitchFamily="34" charset="-122"/>
              </a:rPr>
              <a:t>视觉模式分析及实践 —— 绪论</a:t>
            </a:r>
          </a:p>
        </p:txBody>
      </p:sp>
      <p:sp>
        <p:nvSpPr>
          <p:cNvPr id="4" name="灯片编号占位符 3"/>
          <p:cNvSpPr>
            <a:spLocks noGrp="1"/>
          </p:cNvSpPr>
          <p:nvPr>
            <p:ph type="sldNum" sz="quarter" idx="12"/>
          </p:nvPr>
        </p:nvSpPr>
        <p:spPr>
          <a:xfrm>
            <a:off x="9294263" y="6473536"/>
            <a:ext cx="2743200" cy="365125"/>
          </a:xfrm>
        </p:spPr>
        <p:txBody>
          <a:bodyPr/>
          <a:lstStyle/>
          <a:p>
            <a:fld id="{9FD78845-01F8-4781-BC44-71E27FEEA8FC}" type="slidenum">
              <a:rPr lang="zh-CN" altLang="en-US" smtClean="0"/>
              <a:t>‹#›</a:t>
            </a:fld>
            <a:endParaRPr lang="zh-CN" altLang="en-US" dirty="0"/>
          </a:p>
        </p:txBody>
      </p:sp>
      <p:sp>
        <p:nvSpPr>
          <p:cNvPr id="5" name="矩形 4"/>
          <p:cNvSpPr/>
          <p:nvPr userDrawn="1"/>
        </p:nvSpPr>
        <p:spPr>
          <a:xfrm>
            <a:off x="0" y="0"/>
            <a:ext cx="12192000" cy="675118"/>
          </a:xfrm>
          <a:prstGeom prst="rect">
            <a:avLst/>
          </a:prstGeom>
          <a:solidFill>
            <a:srgbClr val="111F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CN" altLang="en-US" sz="3600" dirty="0">
              <a:latin typeface="微软雅黑" panose="020B0503020204020204" pitchFamily="34" charset="-122"/>
              <a:ea typeface="微软雅黑" panose="020B0503020204020204" pitchFamily="34" charset="-122"/>
            </a:endParaRPr>
          </a:p>
        </p:txBody>
      </p:sp>
    </p:spTree>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r>
              <a:rPr lang="zh-CN" altLang="en-US"/>
              <a:t>视觉模式分析及实践 —— 绪论</a:t>
            </a:r>
          </a:p>
        </p:txBody>
      </p:sp>
      <p:sp>
        <p:nvSpPr>
          <p:cNvPr id="7" name="灯片编号占位符 6"/>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r>
              <a:rPr lang="zh-CN" altLang="en-US"/>
              <a:t>视觉模式分析及实践 —— 绪论</a:t>
            </a:r>
          </a:p>
        </p:txBody>
      </p:sp>
      <p:sp>
        <p:nvSpPr>
          <p:cNvPr id="7" name="灯片编号占位符 6"/>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zh-CN" altLang="en-US"/>
              <a:t>视觉模式分析及实践 —— 绪论</a:t>
            </a:r>
          </a:p>
        </p:txBody>
      </p:sp>
      <p:sp>
        <p:nvSpPr>
          <p:cNvPr id="6" name="灯片编号占位符 5"/>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zh-CN" altLang="en-US"/>
              <a:t>视觉模式分析及实践 —— 绪论</a:t>
            </a:r>
          </a:p>
        </p:txBody>
      </p:sp>
      <p:sp>
        <p:nvSpPr>
          <p:cNvPr id="6" name="灯片编号占位符 5"/>
          <p:cNvSpPr>
            <a:spLocks noGrp="1"/>
          </p:cNvSpPr>
          <p:nvPr>
            <p:ph type="sldNum" sz="quarter" idx="12"/>
          </p:nvPr>
        </p:nvSpPr>
        <p:spPr/>
        <p:txBody>
          <a:bodyPr/>
          <a:lstStyle/>
          <a:p>
            <a:fld id="{9FD78845-01F8-4781-BC44-71E27FEEA8FC}" type="slidenum">
              <a:rPr lang="zh-CN" altLang="en-US" smtClean="0"/>
              <a:t>‹#›</a:t>
            </a:fld>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zh-CN" altLang="en-US"/>
              <a:t>视觉模式分析及实践 —— 绪论</a:t>
            </a: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D78845-01F8-4781-BC44-71E27FEEA8F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zh-CN" altLang="en-US"/>
              <a:t>视觉模式分析及实践 —— 绪论</a:t>
            </a: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D78845-01F8-4781-BC44-71E27FEEA8F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www.yishikj.cn/fzxz/285.html" TargetMode="External"/><Relationship Id="rId2" Type="http://schemas.openxmlformats.org/officeDocument/2006/relationships/hyperlink" Target="http://www.sxyxh-lot.com/article/1945.html" TargetMode="Externa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hyperlink" Target="https://zhuanlan.zhihu.com/p/525911387" TargetMode="External"/><Relationship Id="rId2" Type="http://schemas.openxmlformats.org/officeDocument/2006/relationships/image" Target="../media/image3.jpeg"/><Relationship Id="rId1" Type="http://schemas.openxmlformats.org/officeDocument/2006/relationships/slideLayout" Target="../slideLayouts/slideLayout19.xml"/><Relationship Id="rId5" Type="http://schemas.openxmlformats.org/officeDocument/2006/relationships/image" Target="../media/image4.png"/><Relationship Id="rId4" Type="http://schemas.openxmlformats.org/officeDocument/2006/relationships/hyperlink" Target="https://blog.csdn.net/weixin_42113310/article/details/130558754"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gisrs.cn/?public_307/0a61b5f5-483a-4464-8260-6c5bb36361af.html" TargetMode="External"/><Relationship Id="rId2" Type="http://schemas.openxmlformats.org/officeDocument/2006/relationships/hyperlink" Target="https://aitri.sjtu.edu.cn/ach/info/f53cb2c4-6f59-49bc-8bf9-0c5106d1170d" TargetMode="External"/><Relationship Id="rId1" Type="http://schemas.openxmlformats.org/officeDocument/2006/relationships/slideLayout" Target="../slideLayouts/slideLayout19.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9.xml"/><Relationship Id="rId5" Type="http://schemas.openxmlformats.org/officeDocument/2006/relationships/hyperlink" Target="https://www.scsi.cn/product/id/26.html" TargetMode="External"/><Relationship Id="rId4" Type="http://schemas.openxmlformats.org/officeDocument/2006/relationships/hyperlink" Target="https://www.waveshare.net/shop/JETSON-ORIN-NANO-8G-DEV-KIT-A.ht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2875002"/>
            <a:ext cx="12192000" cy="110799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a:t>
            </a:r>
            <a:r>
              <a:rPr kumimoji="0" lang="en-US" altLang="zh-CN" sz="6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3</a:t>
            </a:r>
            <a:r>
              <a:rPr kumimoji="0" lang="zh-CN" altLang="en-US" sz="66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章 动作识别</a:t>
            </a:r>
            <a:endParaRPr kumimoji="0" lang="zh-CN" altLang="en-US" sz="66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5" name="页脚占位符 3"/>
          <p:cNvSpPr txBox="1"/>
          <p:nvPr/>
        </p:nvSpPr>
        <p:spPr>
          <a:xfrm>
            <a:off x="137160" y="0"/>
            <a:ext cx="4281016" cy="365125"/>
          </a:xfrm>
          <a:prstGeom prst="homePlate">
            <a:avLst/>
          </a:prstGeom>
          <a:solidFill>
            <a:srgbClr val="111F87"/>
          </a:solidFill>
        </p:spPr>
        <p:txBody>
          <a:bodyPr vert="horz" lIns="91440" tIns="45720" rIns="91440" bIns="45720" rtlCol="0" anchor="ctr"/>
          <a:lstStyle>
            <a:defPPr>
              <a:defRPr lang="zh-CN"/>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i="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b="1" i="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视觉模式分析及实践 </a:t>
            </a:r>
            <a:r>
              <a:rPr lang="en-US" altLang="zh-CN" b="1" i="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教材 </a:t>
            </a:r>
            <a:r>
              <a:rPr lang="en-US" altLang="zh-CN"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2026 </a:t>
            </a:r>
            <a:r>
              <a:rPr lang="zh-CN" altLang="en-US"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版 </a:t>
            </a:r>
            <a:r>
              <a:rPr lang="en-US" altLang="zh-CN"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杭州电子科技大学</a:t>
            </a:r>
          </a:p>
        </p:txBody>
      </p:sp>
      <p:sp>
        <p:nvSpPr>
          <p:cNvPr id="6" name="矩形 5"/>
          <p:cNvSpPr/>
          <p:nvPr/>
        </p:nvSpPr>
        <p:spPr>
          <a:xfrm>
            <a:off x="0" y="2565000"/>
            <a:ext cx="12191999" cy="1728000"/>
          </a:xfrm>
          <a:prstGeom prst="rect">
            <a:avLst/>
          </a:prstGeom>
          <a:solidFill>
            <a:srgbClr val="111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600" dirty="0">
                <a:latin typeface="Times New Roman" panose="02020603050405020304" pitchFamily="18" charset="0"/>
                <a:ea typeface="微软雅黑" panose="020B0503020204020204" pitchFamily="34" charset="-122"/>
              </a:rPr>
              <a:t>第</a:t>
            </a:r>
            <a:r>
              <a:rPr lang="en-US" altLang="zh-CN" sz="6600" dirty="0">
                <a:latin typeface="Times New Roman" panose="02020603050405020304" pitchFamily="18" charset="0"/>
                <a:ea typeface="微软雅黑" panose="020B0503020204020204" pitchFamily="34" charset="-122"/>
              </a:rPr>
              <a:t>1</a:t>
            </a:r>
            <a:r>
              <a:rPr lang="zh-CN" altLang="en-US" sz="6600" dirty="0">
                <a:latin typeface="Times New Roman" panose="02020603050405020304" pitchFamily="18" charset="0"/>
                <a:ea typeface="微软雅黑" panose="020B0503020204020204" pitchFamily="34" charset="-122"/>
              </a:rPr>
              <a:t>章  绪论</a:t>
            </a:r>
          </a:p>
        </p:txBody>
      </p:sp>
      <p:sp>
        <p:nvSpPr>
          <p:cNvPr id="10" name="箭头: V 形 9"/>
          <p:cNvSpPr/>
          <p:nvPr/>
        </p:nvSpPr>
        <p:spPr>
          <a:xfrm>
            <a:off x="4272814" y="-1"/>
            <a:ext cx="365760" cy="365125"/>
          </a:xfrm>
          <a:prstGeom prst="chevron">
            <a:avLst/>
          </a:prstGeom>
          <a:solidFill>
            <a:srgbClr val="111F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矩形 10"/>
          <p:cNvSpPr/>
          <p:nvPr/>
        </p:nvSpPr>
        <p:spPr>
          <a:xfrm>
            <a:off x="0" y="-1"/>
            <a:ext cx="109728" cy="365124"/>
          </a:xfrm>
          <a:prstGeom prst="rect">
            <a:avLst/>
          </a:prstGeom>
          <a:solidFill>
            <a:srgbClr val="111F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custDataLst>
              <p:tags r:id="rId1"/>
            </p:custDataLst>
          </p:nvPr>
        </p:nvGrpSpPr>
        <p:grpSpPr>
          <a:xfrm>
            <a:off x="2401570" y="1771650"/>
            <a:ext cx="4194175" cy="625475"/>
            <a:chOff x="2290870" y="2040671"/>
            <a:chExt cx="4194402" cy="625474"/>
          </a:xfrm>
        </p:grpSpPr>
        <p:sp>
          <p:nvSpPr>
            <p:cNvPr id="12" name="AutoShape 51"/>
            <p:cNvSpPr>
              <a:spLocks noChangeArrowheads="1"/>
            </p:cNvSpPr>
            <p:nvPr>
              <p:custDataLst>
                <p:tags r:id="rId20"/>
              </p:custDataLst>
            </p:nvPr>
          </p:nvSpPr>
          <p:spPr bwMode="gray">
            <a:xfrm flipH="1">
              <a:off x="2740856" y="2040671"/>
              <a:ext cx="3744416" cy="625474"/>
            </a:xfrm>
            <a:prstGeom prst="rect">
              <a:avLst/>
            </a:prstGeom>
            <a:noFill/>
            <a:ln w="28575" algn="ctr">
              <a:noFill/>
              <a:round/>
            </a:ln>
            <a:effectLst/>
          </p:spPr>
          <p:txBody>
            <a:bodyPr wrap="none" lIns="288000" anchor="ctr"/>
            <a:lstStyle/>
            <a:p>
              <a:pPr algn="l">
                <a:lnSpc>
                  <a:spcPct val="90000"/>
                </a:lnSpc>
                <a:buClr>
                  <a:schemeClr val="bg2"/>
                </a:buClr>
                <a:buSzPct val="70000"/>
                <a:buFont typeface="Wingdings" panose="05000000000000000000" pitchFamily="2" charset="2"/>
                <a:buNone/>
                <a:defRPr/>
              </a:pPr>
              <a:r>
                <a:rPr lang="zh-CN" altLang="en-US"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rPr>
                <a:t>视频动作理解</a:t>
              </a:r>
            </a:p>
          </p:txBody>
        </p:sp>
        <p:sp>
          <p:nvSpPr>
            <p:cNvPr id="13" name="椭圆 12"/>
            <p:cNvSpPr/>
            <p:nvPr>
              <p:custDataLst>
                <p:tags r:id="rId21"/>
              </p:custDataLst>
            </p:nvPr>
          </p:nvSpPr>
          <p:spPr>
            <a:xfrm>
              <a:off x="2290870" y="2097201"/>
              <a:ext cx="468000" cy="468000"/>
            </a:xfrm>
            <a:prstGeom prst="ellipse">
              <a:avLst/>
            </a:prstGeom>
            <a:solidFill>
              <a:srgbClr val="111F87"/>
            </a:solidFill>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a:t>
              </a:r>
              <a:endParaRPr lang="zh-CN" altLang="en-US"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grpSp>
        <p:nvGrpSpPr>
          <p:cNvPr id="14" name="组合 13"/>
          <p:cNvGrpSpPr/>
          <p:nvPr>
            <p:custDataLst>
              <p:tags r:id="rId2"/>
            </p:custDataLst>
          </p:nvPr>
        </p:nvGrpSpPr>
        <p:grpSpPr>
          <a:xfrm>
            <a:off x="2401570" y="2764790"/>
            <a:ext cx="4194175" cy="625475"/>
            <a:chOff x="2290870" y="2040671"/>
            <a:chExt cx="4194402" cy="625474"/>
          </a:xfrm>
        </p:grpSpPr>
        <p:sp>
          <p:nvSpPr>
            <p:cNvPr id="15" name="AutoShape 51"/>
            <p:cNvSpPr>
              <a:spLocks noChangeArrowheads="1"/>
            </p:cNvSpPr>
            <p:nvPr>
              <p:custDataLst>
                <p:tags r:id="rId18"/>
              </p:custDataLst>
            </p:nvPr>
          </p:nvSpPr>
          <p:spPr bwMode="gray">
            <a:xfrm flipH="1">
              <a:off x="2740856" y="2040671"/>
              <a:ext cx="3744416" cy="625474"/>
            </a:xfrm>
            <a:prstGeom prst="rect">
              <a:avLst/>
            </a:prstGeom>
            <a:noFill/>
            <a:ln w="28575" algn="ctr">
              <a:noFill/>
              <a:round/>
            </a:ln>
            <a:effectLst/>
          </p:spPr>
          <p:txBody>
            <a:bodyPr wrap="none" lIns="288000" anchor="ctr"/>
            <a:lstStyle/>
            <a:p>
              <a:pPr algn="l">
                <a:lnSpc>
                  <a:spcPct val="90000"/>
                </a:lnSpc>
                <a:buClr>
                  <a:schemeClr val="bg2"/>
                </a:buClr>
                <a:buSzPct val="70000"/>
                <a:buFont typeface="Wingdings" panose="05000000000000000000" pitchFamily="2" charset="2"/>
                <a:buNone/>
                <a:defRPr/>
              </a:pPr>
              <a:r>
                <a:rPr lang="zh-CN" altLang="en-US"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rPr>
                <a:t>视频描述与定位</a:t>
              </a:r>
            </a:p>
          </p:txBody>
        </p:sp>
        <p:sp>
          <p:nvSpPr>
            <p:cNvPr id="16" name="椭圆 15"/>
            <p:cNvSpPr/>
            <p:nvPr>
              <p:custDataLst>
                <p:tags r:id="rId19"/>
              </p:custDataLst>
            </p:nvPr>
          </p:nvSpPr>
          <p:spPr>
            <a:xfrm>
              <a:off x="2290870" y="2097201"/>
              <a:ext cx="468000" cy="468000"/>
            </a:xfrm>
            <a:prstGeom prst="ellipse">
              <a:avLst/>
            </a:prstGeom>
            <a:solidFill>
              <a:srgbClr val="111F87"/>
            </a:solidFill>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a:t>
              </a:r>
              <a:endParaRPr lang="zh-CN" altLang="en-US"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grpSp>
        <p:nvGrpSpPr>
          <p:cNvPr id="17" name="组合 16"/>
          <p:cNvGrpSpPr/>
          <p:nvPr>
            <p:custDataLst>
              <p:tags r:id="rId3"/>
            </p:custDataLst>
          </p:nvPr>
        </p:nvGrpSpPr>
        <p:grpSpPr>
          <a:xfrm>
            <a:off x="2401570" y="3758565"/>
            <a:ext cx="4194175" cy="625475"/>
            <a:chOff x="2290870" y="2040671"/>
            <a:chExt cx="4194402" cy="625474"/>
          </a:xfrm>
        </p:grpSpPr>
        <p:sp>
          <p:nvSpPr>
            <p:cNvPr id="18" name="AutoShape 51"/>
            <p:cNvSpPr>
              <a:spLocks noChangeArrowheads="1"/>
            </p:cNvSpPr>
            <p:nvPr>
              <p:custDataLst>
                <p:tags r:id="rId16"/>
              </p:custDataLst>
            </p:nvPr>
          </p:nvSpPr>
          <p:spPr bwMode="gray">
            <a:xfrm flipH="1">
              <a:off x="2740856" y="2040671"/>
              <a:ext cx="3744416" cy="625474"/>
            </a:xfrm>
            <a:prstGeom prst="rect">
              <a:avLst/>
            </a:prstGeom>
            <a:noFill/>
            <a:ln w="28575" algn="ctr">
              <a:noFill/>
              <a:round/>
            </a:ln>
            <a:effectLst/>
          </p:spPr>
          <p:txBody>
            <a:bodyPr wrap="none" lIns="288000" anchor="ctr"/>
            <a:lstStyle/>
            <a:p>
              <a:pPr algn="l">
                <a:lnSpc>
                  <a:spcPct val="90000"/>
                </a:lnSpc>
                <a:buClr>
                  <a:schemeClr val="bg2"/>
                </a:buClr>
                <a:buSzPct val="70000"/>
                <a:buFont typeface="Wingdings" panose="05000000000000000000" pitchFamily="2" charset="2"/>
                <a:buNone/>
                <a:defRPr/>
              </a:pPr>
              <a:r>
                <a:rPr lang="zh-CN" altLang="en-US"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rPr>
                <a:t>视觉语义分割</a:t>
              </a:r>
              <a:endParaRPr lang="en-US" altLang="zh-CN"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9" name="椭圆 18"/>
            <p:cNvSpPr/>
            <p:nvPr>
              <p:custDataLst>
                <p:tags r:id="rId17"/>
              </p:custDataLst>
            </p:nvPr>
          </p:nvSpPr>
          <p:spPr>
            <a:xfrm>
              <a:off x="2290870" y="2097201"/>
              <a:ext cx="468000" cy="468000"/>
            </a:xfrm>
            <a:prstGeom prst="ellipse">
              <a:avLst/>
            </a:prstGeom>
            <a:solidFill>
              <a:srgbClr val="111F87"/>
            </a:solidFill>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endParaRPr lang="zh-CN" altLang="en-US"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grpSp>
        <p:nvGrpSpPr>
          <p:cNvPr id="20" name="组合 19"/>
          <p:cNvGrpSpPr/>
          <p:nvPr>
            <p:custDataLst>
              <p:tags r:id="rId4"/>
            </p:custDataLst>
          </p:nvPr>
        </p:nvGrpSpPr>
        <p:grpSpPr>
          <a:xfrm>
            <a:off x="6495415" y="1771650"/>
            <a:ext cx="4194175" cy="625475"/>
            <a:chOff x="2290870" y="2040671"/>
            <a:chExt cx="4194402" cy="625474"/>
          </a:xfrm>
        </p:grpSpPr>
        <p:sp>
          <p:nvSpPr>
            <p:cNvPr id="21" name="AutoShape 51"/>
            <p:cNvSpPr>
              <a:spLocks noChangeArrowheads="1"/>
            </p:cNvSpPr>
            <p:nvPr>
              <p:custDataLst>
                <p:tags r:id="rId14"/>
              </p:custDataLst>
            </p:nvPr>
          </p:nvSpPr>
          <p:spPr bwMode="gray">
            <a:xfrm flipH="1">
              <a:off x="2740856" y="2040671"/>
              <a:ext cx="3744416" cy="625474"/>
            </a:xfrm>
            <a:prstGeom prst="rect">
              <a:avLst/>
            </a:prstGeom>
            <a:noFill/>
            <a:ln w="28575" algn="ctr">
              <a:noFill/>
              <a:round/>
            </a:ln>
            <a:effectLst/>
          </p:spPr>
          <p:txBody>
            <a:bodyPr wrap="none" lIns="288000" anchor="ctr"/>
            <a:lstStyle/>
            <a:p>
              <a:pPr algn="l">
                <a:lnSpc>
                  <a:spcPct val="90000"/>
                </a:lnSpc>
                <a:buClr>
                  <a:schemeClr val="bg2"/>
                </a:buClr>
                <a:buSzPct val="70000"/>
                <a:buFont typeface="Wingdings" panose="05000000000000000000" pitchFamily="2" charset="2"/>
                <a:buNone/>
                <a:defRPr/>
              </a:pPr>
              <a:r>
                <a:rPr lang="zh-CN" altLang="en-US"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rPr>
                <a:t>视觉模型安全性</a:t>
              </a:r>
              <a:endParaRPr lang="en-US" altLang="zh-CN"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2" name="椭圆 21"/>
            <p:cNvSpPr/>
            <p:nvPr>
              <p:custDataLst>
                <p:tags r:id="rId15"/>
              </p:custDataLst>
            </p:nvPr>
          </p:nvSpPr>
          <p:spPr>
            <a:xfrm>
              <a:off x="2290870" y="2097201"/>
              <a:ext cx="468000" cy="468000"/>
            </a:xfrm>
            <a:prstGeom prst="ellipse">
              <a:avLst/>
            </a:prstGeom>
            <a:solidFill>
              <a:srgbClr val="111F87"/>
            </a:solidFill>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5</a:t>
              </a:r>
              <a:endParaRPr lang="zh-CN" altLang="en-US"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grpSp>
        <p:nvGrpSpPr>
          <p:cNvPr id="23" name="组合 22"/>
          <p:cNvGrpSpPr/>
          <p:nvPr>
            <p:custDataLst>
              <p:tags r:id="rId5"/>
            </p:custDataLst>
          </p:nvPr>
        </p:nvGrpSpPr>
        <p:grpSpPr>
          <a:xfrm>
            <a:off x="6495415" y="2764790"/>
            <a:ext cx="4194175" cy="625475"/>
            <a:chOff x="2290870" y="2040671"/>
            <a:chExt cx="4194402" cy="625474"/>
          </a:xfrm>
        </p:grpSpPr>
        <p:sp>
          <p:nvSpPr>
            <p:cNvPr id="24" name="AutoShape 51"/>
            <p:cNvSpPr>
              <a:spLocks noChangeArrowheads="1"/>
            </p:cNvSpPr>
            <p:nvPr>
              <p:custDataLst>
                <p:tags r:id="rId12"/>
              </p:custDataLst>
            </p:nvPr>
          </p:nvSpPr>
          <p:spPr bwMode="gray">
            <a:xfrm flipH="1">
              <a:off x="2740856" y="2040671"/>
              <a:ext cx="3744416" cy="625474"/>
            </a:xfrm>
            <a:prstGeom prst="rect">
              <a:avLst/>
            </a:prstGeom>
            <a:noFill/>
            <a:ln w="28575" algn="ctr">
              <a:noFill/>
              <a:round/>
            </a:ln>
            <a:effectLst/>
          </p:spPr>
          <p:txBody>
            <a:bodyPr wrap="none" lIns="288000" anchor="ctr"/>
            <a:lstStyle/>
            <a:p>
              <a:pPr algn="l">
                <a:lnSpc>
                  <a:spcPct val="90000"/>
                </a:lnSpc>
                <a:buClr>
                  <a:schemeClr val="bg2"/>
                </a:buClr>
                <a:buSzPct val="70000"/>
                <a:buFont typeface="Wingdings" panose="05000000000000000000" pitchFamily="2" charset="2"/>
                <a:buNone/>
                <a:defRPr/>
              </a:pPr>
              <a:r>
                <a:rPr lang="zh-CN" altLang="en-US"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rPr>
                <a:t>本章习题</a:t>
              </a:r>
            </a:p>
          </p:txBody>
        </p:sp>
        <p:sp>
          <p:nvSpPr>
            <p:cNvPr id="25" name="椭圆 24"/>
            <p:cNvSpPr/>
            <p:nvPr>
              <p:custDataLst>
                <p:tags r:id="rId13"/>
              </p:custDataLst>
            </p:nvPr>
          </p:nvSpPr>
          <p:spPr>
            <a:xfrm>
              <a:off x="2290870" y="2097201"/>
              <a:ext cx="468000" cy="468000"/>
            </a:xfrm>
            <a:prstGeom prst="ellipse">
              <a:avLst/>
            </a:prstGeom>
            <a:solidFill>
              <a:srgbClr val="111F87"/>
            </a:solidFill>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6</a:t>
              </a:r>
              <a:endParaRPr lang="zh-CN" altLang="en-US"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sp>
        <p:nvSpPr>
          <p:cNvPr id="29" name="矩形 28"/>
          <p:cNvSpPr/>
          <p:nvPr/>
        </p:nvSpPr>
        <p:spPr>
          <a:xfrm>
            <a:off x="402431" y="1088136"/>
            <a:ext cx="11387138" cy="5001768"/>
          </a:xfrm>
          <a:prstGeom prst="rect">
            <a:avLst/>
          </a:prstGeom>
          <a:noFill/>
          <a:ln>
            <a:solidFill>
              <a:srgbClr val="111F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 name="矩形 29"/>
          <p:cNvSpPr/>
          <p:nvPr/>
        </p:nvSpPr>
        <p:spPr>
          <a:xfrm>
            <a:off x="4260000" y="5979904"/>
            <a:ext cx="3672000" cy="216000"/>
          </a:xfrm>
          <a:prstGeom prst="rect">
            <a:avLst/>
          </a:prstGeom>
          <a:solidFill>
            <a:srgbClr val="111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文本框 36"/>
          <p:cNvSpPr txBox="1"/>
          <p:nvPr/>
        </p:nvSpPr>
        <p:spPr>
          <a:xfrm rot="16200000">
            <a:off x="565050" y="-471714"/>
            <a:ext cx="492443" cy="1622544"/>
          </a:xfrm>
          <a:prstGeom prst="rect">
            <a:avLst/>
          </a:prstGeom>
          <a:noFill/>
          <a:ln>
            <a:noFill/>
          </a:ln>
        </p:spPr>
        <p:txBody>
          <a:bodyPr vert="eaVert" wrap="square" lIns="0" tIns="0" rIns="0" bIns="0" rtlCol="0">
            <a:spAutoFit/>
          </a:bodyPr>
          <a:lstStyle/>
          <a:p>
            <a:r>
              <a:rPr lang="zh-CN" altLang="en-US" sz="3200" b="1" dirty="0">
                <a:solidFill>
                  <a:schemeClr val="bg1"/>
                </a:solidFill>
                <a:effectLst>
                  <a:outerShdw blurRad="50800" dist="38100" dir="2700000" algn="tl" rotWithShape="0">
                    <a:prstClr val="black">
                      <a:alpha val="9000"/>
                    </a:prstClr>
                  </a:outerShdw>
                </a:effectLst>
                <a:latin typeface="Times New Roman" panose="02020603050405020304" pitchFamily="18" charset="0"/>
                <a:ea typeface="微软雅黑" panose="020B0503020204020204" pitchFamily="34" charset="-122"/>
                <a:cs typeface="+mn-ea"/>
                <a:sym typeface="Times New Roman" panose="02020603050405020304" pitchFamily="18" charset="0"/>
              </a:rPr>
              <a:t> 目录 </a:t>
            </a:r>
          </a:p>
        </p:txBody>
      </p:sp>
      <p:sp>
        <p:nvSpPr>
          <p:cNvPr id="40" name="灯片编号占位符 39"/>
          <p:cNvSpPr>
            <a:spLocks noGrp="1"/>
          </p:cNvSpPr>
          <p:nvPr>
            <p:ph type="sldNum" sz="quarter" idx="12"/>
          </p:nvPr>
        </p:nvSpPr>
        <p:spPr/>
        <p:txBody>
          <a:bodyPr/>
          <a:lstStyle/>
          <a:p>
            <a:fld id="{9FD78845-01F8-4781-BC44-71E27FEEA8FC}" type="slidenum">
              <a:rPr lang="zh-CN" altLang="en-US" smtClean="0"/>
              <a:t>2</a:t>
            </a:fld>
            <a:endParaRPr lang="zh-CN" altLang="en-US"/>
          </a:p>
        </p:txBody>
      </p:sp>
      <p:sp>
        <p:nvSpPr>
          <p:cNvPr id="41" name="页脚占位符 40"/>
          <p:cNvSpPr>
            <a:spLocks noGrp="1"/>
          </p:cNvSpPr>
          <p:nvPr>
            <p:ph type="ftr" sz="quarter" idx="11"/>
          </p:nvPr>
        </p:nvSpPr>
        <p:spPr/>
        <p:txBody>
          <a:bodyPr/>
          <a:lstStyle/>
          <a:p>
            <a:r>
              <a:rPr lang="zh-CN" altLang="en-US" sz="1200">
                <a:latin typeface="微软雅黑" panose="020B0503020204020204" pitchFamily="34" charset="-122"/>
                <a:ea typeface="微软雅黑" panose="020B0503020204020204" pitchFamily="34" charset="-122"/>
              </a:rPr>
              <a:t>视觉模式分析及实践 —— 绪论</a:t>
            </a:r>
            <a:endParaRPr lang="zh-CN" altLang="en-US" sz="1200" dirty="0">
              <a:latin typeface="微软雅黑" panose="020B0503020204020204" pitchFamily="34" charset="-122"/>
              <a:ea typeface="微软雅黑" panose="020B0503020204020204" pitchFamily="34" charset="-122"/>
            </a:endParaRPr>
          </a:p>
        </p:txBody>
      </p:sp>
      <p:grpSp>
        <p:nvGrpSpPr>
          <p:cNvPr id="8" name="组合 7"/>
          <p:cNvGrpSpPr/>
          <p:nvPr>
            <p:custDataLst>
              <p:tags r:id="rId6"/>
            </p:custDataLst>
          </p:nvPr>
        </p:nvGrpSpPr>
        <p:grpSpPr>
          <a:xfrm>
            <a:off x="6495415" y="3757930"/>
            <a:ext cx="4194175" cy="624840"/>
            <a:chOff x="10229" y="6750"/>
            <a:chExt cx="6605" cy="984"/>
          </a:xfrm>
        </p:grpSpPr>
        <p:sp>
          <p:nvSpPr>
            <p:cNvPr id="6" name="AutoShape 51"/>
            <p:cNvSpPr>
              <a:spLocks noChangeArrowheads="1"/>
            </p:cNvSpPr>
            <p:nvPr>
              <p:custDataLst>
                <p:tags r:id="rId10"/>
              </p:custDataLst>
            </p:nvPr>
          </p:nvSpPr>
          <p:spPr bwMode="gray">
            <a:xfrm flipH="1">
              <a:off x="10938" y="6750"/>
              <a:ext cx="5897" cy="985"/>
            </a:xfrm>
            <a:prstGeom prst="rect">
              <a:avLst/>
            </a:prstGeom>
            <a:noFill/>
            <a:ln w="28575" algn="ctr">
              <a:noFill/>
              <a:round/>
            </a:ln>
            <a:effectLst/>
          </p:spPr>
          <p:txBody>
            <a:bodyPr wrap="none" lIns="288000" anchor="ctr"/>
            <a:lstStyle/>
            <a:p>
              <a:pPr algn="l">
                <a:lnSpc>
                  <a:spcPct val="90000"/>
                </a:lnSpc>
                <a:buClr>
                  <a:schemeClr val="bg2"/>
                </a:buClr>
                <a:buSzPct val="70000"/>
                <a:buFont typeface="Wingdings" panose="05000000000000000000" pitchFamily="2" charset="2"/>
                <a:buNone/>
                <a:defRPr/>
              </a:pPr>
              <a:r>
                <a:rPr lang="zh-CN" altLang="en-US"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rPr>
                <a:t>参考文献</a:t>
              </a:r>
            </a:p>
          </p:txBody>
        </p:sp>
        <p:sp>
          <p:nvSpPr>
            <p:cNvPr id="7" name="椭圆 6"/>
            <p:cNvSpPr/>
            <p:nvPr>
              <p:custDataLst>
                <p:tags r:id="rId11"/>
              </p:custDataLst>
            </p:nvPr>
          </p:nvSpPr>
          <p:spPr>
            <a:xfrm>
              <a:off x="10229" y="6839"/>
              <a:ext cx="737" cy="737"/>
            </a:xfrm>
            <a:prstGeom prst="ellipse">
              <a:avLst/>
            </a:prstGeom>
            <a:solidFill>
              <a:srgbClr val="111F87"/>
            </a:solidFill>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7</a:t>
              </a:r>
              <a:endParaRPr lang="zh-CN" altLang="en-US"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grpSp>
        <p:nvGrpSpPr>
          <p:cNvPr id="9" name="组合 8"/>
          <p:cNvGrpSpPr/>
          <p:nvPr>
            <p:custDataLst>
              <p:tags r:id="rId7"/>
            </p:custDataLst>
          </p:nvPr>
        </p:nvGrpSpPr>
        <p:grpSpPr>
          <a:xfrm>
            <a:off x="2401570" y="4716780"/>
            <a:ext cx="4194175" cy="625475"/>
            <a:chOff x="2290870" y="2040671"/>
            <a:chExt cx="4194402" cy="625474"/>
          </a:xfrm>
        </p:grpSpPr>
        <p:sp>
          <p:nvSpPr>
            <p:cNvPr id="10" name="AutoShape 51"/>
            <p:cNvSpPr>
              <a:spLocks noChangeArrowheads="1"/>
            </p:cNvSpPr>
            <p:nvPr>
              <p:custDataLst>
                <p:tags r:id="rId8"/>
              </p:custDataLst>
            </p:nvPr>
          </p:nvSpPr>
          <p:spPr bwMode="gray">
            <a:xfrm flipH="1">
              <a:off x="2740856" y="2040671"/>
              <a:ext cx="3744416" cy="625474"/>
            </a:xfrm>
            <a:prstGeom prst="rect">
              <a:avLst/>
            </a:prstGeom>
            <a:noFill/>
            <a:ln w="28575" algn="ctr">
              <a:noFill/>
              <a:round/>
            </a:ln>
            <a:effectLst/>
          </p:spPr>
          <p:txBody>
            <a:bodyPr wrap="none" lIns="288000" anchor="ctr"/>
            <a:lstStyle/>
            <a:p>
              <a:pPr algn="l">
                <a:lnSpc>
                  <a:spcPct val="90000"/>
                </a:lnSpc>
                <a:buClr>
                  <a:schemeClr val="bg2"/>
                </a:buClr>
                <a:buSzPct val="70000"/>
                <a:buFont typeface="Wingdings" panose="05000000000000000000" pitchFamily="2" charset="2"/>
                <a:buNone/>
                <a:defRPr/>
              </a:pPr>
              <a:r>
                <a:rPr lang="zh-CN" altLang="en-US"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rPr>
                <a:t>视觉模型轻量化 </a:t>
              </a:r>
              <a:endParaRPr lang="en-US" altLang="zh-CN" sz="2800" b="1" dirty="0">
                <a:solidFill>
                  <a:srgbClr val="111F87"/>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6" name="椭圆 25"/>
            <p:cNvSpPr/>
            <p:nvPr>
              <p:custDataLst>
                <p:tags r:id="rId9"/>
              </p:custDataLst>
            </p:nvPr>
          </p:nvSpPr>
          <p:spPr>
            <a:xfrm>
              <a:off x="2290870" y="2097201"/>
              <a:ext cx="468000" cy="468000"/>
            </a:xfrm>
            <a:prstGeom prst="ellipse">
              <a:avLst/>
            </a:prstGeom>
            <a:solidFill>
              <a:srgbClr val="111F87"/>
            </a:solidFill>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endParaRPr lang="zh-CN" altLang="en-US" sz="24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p:cNvSpPr txBox="1"/>
          <p:nvPr/>
        </p:nvSpPr>
        <p:spPr>
          <a:xfrm>
            <a:off x="0" y="44674"/>
            <a:ext cx="6125950" cy="583565"/>
          </a:xfrm>
          <a:prstGeom prst="rect">
            <a:avLst/>
          </a:prstGeom>
          <a:noFill/>
        </p:spPr>
        <p:txBody>
          <a:bodyPr wrap="square">
            <a:spAutoFit/>
          </a:bodyPr>
          <a:lstStyle/>
          <a:p>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1.1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视频动作理解</a:t>
            </a:r>
          </a:p>
        </p:txBody>
      </p:sp>
      <p:sp>
        <p:nvSpPr>
          <p:cNvPr id="38" name="灯片编号占位符 37"/>
          <p:cNvSpPr>
            <a:spLocks noGrp="1"/>
          </p:cNvSpPr>
          <p:nvPr>
            <p:ph type="sldNum" sz="quarter" idx="12"/>
          </p:nvPr>
        </p:nvSpPr>
        <p:spPr/>
        <p:txBody>
          <a:bodyPr/>
          <a:lstStyle/>
          <a:p>
            <a:fld id="{9FD78845-01F8-4781-BC44-71E27FEEA8FC}" type="slidenum">
              <a:rPr lang="zh-CN" altLang="en-US" smtClean="0"/>
              <a:t>3</a:t>
            </a:fld>
            <a:endParaRPr lang="zh-CN" altLang="en-US" dirty="0"/>
          </a:p>
        </p:txBody>
      </p:sp>
      <p:sp>
        <p:nvSpPr>
          <p:cNvPr id="39" name="页脚占位符 38"/>
          <p:cNvSpPr>
            <a:spLocks noGrp="1"/>
          </p:cNvSpPr>
          <p:nvPr>
            <p:ph type="ftr" sz="quarter" idx="11"/>
          </p:nvPr>
        </p:nvSpPr>
        <p:spPr/>
        <p:txBody>
          <a:bodyPr/>
          <a:lstStyle/>
          <a:p>
            <a:r>
              <a:rPr lang="zh-CN" altLang="en-US" sz="1200">
                <a:latin typeface="微软雅黑" panose="020B0503020204020204" pitchFamily="34" charset="-122"/>
                <a:ea typeface="微软雅黑" panose="020B0503020204020204" pitchFamily="34" charset="-122"/>
              </a:rPr>
              <a:t>视觉模式分析及实践 —— 绪论</a:t>
            </a:r>
            <a:endParaRPr lang="zh-CN" altLang="en-US" sz="1200" dirty="0">
              <a:latin typeface="微软雅黑" panose="020B0503020204020204" pitchFamily="34" charset="-122"/>
              <a:ea typeface="微软雅黑" panose="020B0503020204020204" pitchFamily="34" charset="-122"/>
            </a:endParaRPr>
          </a:p>
        </p:txBody>
      </p:sp>
      <p:sp>
        <p:nvSpPr>
          <p:cNvPr id="277" name="文本框 276"/>
          <p:cNvSpPr txBox="1"/>
          <p:nvPr/>
        </p:nvSpPr>
        <p:spPr>
          <a:xfrm>
            <a:off x="0" y="1041281"/>
            <a:ext cx="12191999" cy="2397708"/>
          </a:xfrm>
          <a:prstGeom prst="rect">
            <a:avLst/>
          </a:prstGeom>
          <a:noFill/>
        </p:spPr>
        <p:txBody>
          <a:bodyPr wrap="square">
            <a:spAutoFit/>
          </a:bodyPr>
          <a:lstStyle/>
          <a:p>
            <a:pPr indent="457200">
              <a:lnSpc>
                <a:spcPct val="150000"/>
              </a:lnSpc>
            </a:pP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视频动作理解主要包括视频</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动作识别</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时序动作检测</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和</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时空动作检测</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三类任务。</a:t>
            </a:r>
          </a:p>
          <a:p>
            <a:pPr marL="742950" lvl="1" indent="-285750" algn="just">
              <a:lnSpc>
                <a:spcPct val="150000"/>
              </a:lnSpc>
              <a:buClrTx/>
              <a:buSzTx/>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sym typeface="Times New Roman" panose="02020603050405020304" pitchFamily="18" charset="0"/>
              </a:rPr>
              <a:t>视频动作识别分为 RGB 动作识别和点云动作识别；</a:t>
            </a:r>
          </a:p>
          <a:p>
            <a:pPr marL="742950" lvl="1" indent="-285750" algn="just">
              <a:lnSpc>
                <a:spcPct val="150000"/>
              </a:lnSpc>
              <a:buClrTx/>
              <a:buSzTx/>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sym typeface="Times New Roman" panose="02020603050405020304" pitchFamily="18" charset="0"/>
              </a:rPr>
              <a:t>时序动作检测用于确定动作发生的开始时间和结束时间；</a:t>
            </a:r>
          </a:p>
          <a:p>
            <a:pPr marL="742950" lvl="1" indent="-285750" algn="just">
              <a:lnSpc>
                <a:spcPct val="150000"/>
              </a:lnSpc>
              <a:buClrTx/>
              <a:buSzTx/>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sym typeface="Times New Roman" panose="02020603050405020304" pitchFamily="18" charset="0"/>
              </a:rPr>
              <a:t>时空动作检测进一步确定动作类别以及目标所在视频帧中的空间位置。</a:t>
            </a:r>
            <a:endParaRPr lang="en-US"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marL="742950" lvl="1" indent="-285750" algn="just">
              <a:lnSpc>
                <a:spcPct val="150000"/>
              </a:lnSpc>
              <a:buClrTx/>
              <a:buSzTx/>
              <a:buFont typeface="Arial" panose="020B0604020202020204" pitchFamily="34" charset="0"/>
              <a:buChar char="•"/>
            </a:pP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a:p>
            <a:pPr indent="457200">
              <a:lnSpc>
                <a:spcPct val="150000"/>
              </a:lnSpc>
            </a:pPr>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典型应用：</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智能安防异常行为预警、人机交互、体育训练分析以及医疗康复动作评估。</a:t>
            </a:r>
          </a:p>
        </p:txBody>
      </p:sp>
      <p:grpSp>
        <p:nvGrpSpPr>
          <p:cNvPr id="20" name="组合 19">
            <a:extLst>
              <a:ext uri="{FF2B5EF4-FFF2-40B4-BE49-F238E27FC236}">
                <a16:creationId xmlns:a16="http://schemas.microsoft.com/office/drawing/2014/main" id="{0D99E7C3-8900-4F46-9660-BF7106CFA5FD}"/>
              </a:ext>
            </a:extLst>
          </p:cNvPr>
          <p:cNvGrpSpPr/>
          <p:nvPr/>
        </p:nvGrpSpPr>
        <p:grpSpPr>
          <a:xfrm>
            <a:off x="0" y="3549555"/>
            <a:ext cx="12191998" cy="2928137"/>
            <a:chOff x="0" y="3056494"/>
            <a:chExt cx="12191998" cy="2928137"/>
          </a:xfrm>
        </p:grpSpPr>
        <p:sp>
          <p:nvSpPr>
            <p:cNvPr id="15" name="文本框 14">
              <a:extLst>
                <a:ext uri="{FF2B5EF4-FFF2-40B4-BE49-F238E27FC236}">
                  <a16:creationId xmlns:a16="http://schemas.microsoft.com/office/drawing/2014/main" id="{65A14B9A-9B7B-3F7C-DD76-D482F2994D6C}"/>
                </a:ext>
              </a:extLst>
            </p:cNvPr>
            <p:cNvSpPr txBox="1"/>
            <p:nvPr/>
          </p:nvSpPr>
          <p:spPr>
            <a:xfrm>
              <a:off x="0" y="5707632"/>
              <a:ext cx="12191998" cy="276999"/>
            </a:xfrm>
            <a:prstGeom prst="rect">
              <a:avLst/>
            </a:prstGeom>
            <a:noFill/>
          </p:spPr>
          <p:txBody>
            <a:bodyPr wrap="square">
              <a:spAutoFit/>
            </a:bodyPr>
            <a:lstStyle/>
            <a:p>
              <a:pPr algn="ct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图</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1.1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视频动作理解应用场景示例</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  a)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hlinkClick r:id="rId2"/>
                </a:rPr>
                <a:t>智能安防异常行为预警</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 b)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hlinkClick r:id="rId3"/>
                </a:rPr>
                <a:t>体育训练分析</a:t>
              </a:r>
              <a:endParaRPr lang="zh-CN" altLang="en-US" sz="1200" dirty="0"/>
            </a:p>
          </p:txBody>
        </p:sp>
        <p:grpSp>
          <p:nvGrpSpPr>
            <p:cNvPr id="19" name="组合 18">
              <a:extLst>
                <a:ext uri="{FF2B5EF4-FFF2-40B4-BE49-F238E27FC236}">
                  <a16:creationId xmlns:a16="http://schemas.microsoft.com/office/drawing/2014/main" id="{E6B50A4A-1F19-016E-56E2-C365EC1F7BFC}"/>
                </a:ext>
              </a:extLst>
            </p:cNvPr>
            <p:cNvGrpSpPr/>
            <p:nvPr/>
          </p:nvGrpSpPr>
          <p:grpSpPr>
            <a:xfrm>
              <a:off x="2231276" y="3056494"/>
              <a:ext cx="7328253" cy="2667005"/>
              <a:chOff x="2231276" y="3056494"/>
              <a:chExt cx="7328253" cy="2667005"/>
            </a:xfrm>
          </p:grpSpPr>
          <p:pic>
            <p:nvPicPr>
              <p:cNvPr id="2" name="图片 1" descr="智能安防监控系统方案介绍 - 知乎">
                <a:extLst>
                  <a:ext uri="{FF2B5EF4-FFF2-40B4-BE49-F238E27FC236}">
                    <a16:creationId xmlns:a16="http://schemas.microsoft.com/office/drawing/2014/main" id="{BB807C1D-CCCC-B261-88E2-5CBC1327350A}"/>
                  </a:ext>
                </a:extLst>
              </p:cNvPr>
              <p:cNvPicPr>
                <a:picLocks noChangeAspect="1"/>
              </p:cNvPicPr>
              <p:nvPr/>
            </p:nvPicPr>
            <p:blipFill>
              <a:blip r:embed="rId4"/>
              <a:stretch>
                <a:fillRect/>
              </a:stretch>
            </p:blipFill>
            <p:spPr>
              <a:xfrm>
                <a:off x="2231276" y="3056494"/>
                <a:ext cx="2331760" cy="2341789"/>
              </a:xfrm>
              <a:prstGeom prst="rect">
                <a:avLst/>
              </a:prstGeom>
            </p:spPr>
          </p:pic>
          <p:sp>
            <p:nvSpPr>
              <p:cNvPr id="12" name="文本框 11">
                <a:extLst>
                  <a:ext uri="{FF2B5EF4-FFF2-40B4-BE49-F238E27FC236}">
                    <a16:creationId xmlns:a16="http://schemas.microsoft.com/office/drawing/2014/main" id="{D1A56EA2-5662-798F-4E6F-FEE9064B7E24}"/>
                  </a:ext>
                </a:extLst>
              </p:cNvPr>
              <p:cNvSpPr txBox="1"/>
              <p:nvPr/>
            </p:nvSpPr>
            <p:spPr>
              <a:xfrm>
                <a:off x="2933700" y="3226404"/>
                <a:ext cx="6172200" cy="369332"/>
              </a:xfrm>
              <a:prstGeom prst="rect">
                <a:avLst/>
              </a:prstGeom>
              <a:noFill/>
            </p:spPr>
            <p:txBody>
              <a:bodyPr wrap="square">
                <a:spAutoFit/>
              </a:bodyPr>
              <a:lstStyle/>
              <a:p>
                <a:endParaRPr lang="zh-CN" altLang="en-US" dirty="0"/>
              </a:p>
            </p:txBody>
          </p:sp>
          <p:pic>
            <p:nvPicPr>
              <p:cNvPr id="13" name="图片 12" descr="一视科技 | AI人工智能赋能体育运动，打造智慧校园体测新方式- 企业动态- 新闻中心- 安徽一视科技有限公司">
                <a:extLst>
                  <a:ext uri="{FF2B5EF4-FFF2-40B4-BE49-F238E27FC236}">
                    <a16:creationId xmlns:a16="http://schemas.microsoft.com/office/drawing/2014/main" id="{F87003E5-FFC6-9BEE-0693-DCC293DDEA80}"/>
                  </a:ext>
                </a:extLst>
              </p:cNvPr>
              <p:cNvPicPr>
                <a:picLocks noChangeAspect="1"/>
              </p:cNvPicPr>
              <p:nvPr/>
            </p:nvPicPr>
            <p:blipFill>
              <a:blip r:embed="rId5"/>
              <a:stretch>
                <a:fillRect/>
              </a:stretch>
            </p:blipFill>
            <p:spPr>
              <a:xfrm>
                <a:off x="5343292" y="3056494"/>
                <a:ext cx="4216237" cy="2341789"/>
              </a:xfrm>
              <a:prstGeom prst="rect">
                <a:avLst/>
              </a:prstGeom>
            </p:spPr>
          </p:pic>
          <p:sp>
            <p:nvSpPr>
              <p:cNvPr id="17" name="文本框 16">
                <a:extLst>
                  <a:ext uri="{FF2B5EF4-FFF2-40B4-BE49-F238E27FC236}">
                    <a16:creationId xmlns:a16="http://schemas.microsoft.com/office/drawing/2014/main" id="{7D7589F7-CC2D-30A6-B5F0-4AB8AA314CC2}"/>
                  </a:ext>
                </a:extLst>
              </p:cNvPr>
              <p:cNvSpPr txBox="1"/>
              <p:nvPr/>
            </p:nvSpPr>
            <p:spPr>
              <a:xfrm>
                <a:off x="3229535" y="5415722"/>
                <a:ext cx="320489" cy="307777"/>
              </a:xfrm>
              <a:prstGeom prst="rect">
                <a:avLst/>
              </a:prstGeom>
              <a:noFill/>
            </p:spPr>
            <p:txBody>
              <a:bodyPr wrap="square">
                <a:spAutoFit/>
              </a:bodyPr>
              <a:lstStyle/>
              <a:p>
                <a:r>
                  <a:rPr lang="en-US" altLang="zh-CN" sz="1400" dirty="0">
                    <a:latin typeface="Times New Roman" panose="02020603050405020304" pitchFamily="18" charset="0"/>
                    <a:ea typeface="微软雅黑" panose="020B0503020204020204" pitchFamily="34" charset="-122"/>
                    <a:sym typeface="Times New Roman" panose="02020603050405020304" pitchFamily="18" charset="0"/>
                  </a:rPr>
                  <a:t>a)</a:t>
                </a:r>
                <a:endParaRPr lang="zh-CN" altLang="en-US" sz="1400" dirty="0"/>
              </a:p>
            </p:txBody>
          </p:sp>
          <p:sp>
            <p:nvSpPr>
              <p:cNvPr id="18" name="文本框 17">
                <a:extLst>
                  <a:ext uri="{FF2B5EF4-FFF2-40B4-BE49-F238E27FC236}">
                    <a16:creationId xmlns:a16="http://schemas.microsoft.com/office/drawing/2014/main" id="{3A096A49-6CE3-8D48-26A4-F66A12CFF427}"/>
                  </a:ext>
                </a:extLst>
              </p:cNvPr>
              <p:cNvSpPr txBox="1"/>
              <p:nvPr/>
            </p:nvSpPr>
            <p:spPr>
              <a:xfrm>
                <a:off x="7178604" y="5411028"/>
                <a:ext cx="320489" cy="307777"/>
              </a:xfrm>
              <a:prstGeom prst="rect">
                <a:avLst/>
              </a:prstGeom>
              <a:noFill/>
            </p:spPr>
            <p:txBody>
              <a:bodyPr wrap="square">
                <a:spAutoFit/>
              </a:bodyPr>
              <a:lstStyle/>
              <a:p>
                <a:r>
                  <a:rPr lang="en-US" altLang="zh-CN" sz="1400" dirty="0">
                    <a:latin typeface="Times New Roman" panose="02020603050405020304" pitchFamily="18" charset="0"/>
                    <a:ea typeface="微软雅黑" panose="020B0503020204020204" pitchFamily="34" charset="-122"/>
                    <a:sym typeface="Times New Roman" panose="02020603050405020304" pitchFamily="18" charset="0"/>
                  </a:rPr>
                  <a:t>b)</a:t>
                </a:r>
                <a:endParaRPr lang="zh-CN" altLang="en-US" sz="1400" dirty="0"/>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p:cNvSpPr txBox="1"/>
          <p:nvPr/>
        </p:nvSpPr>
        <p:spPr>
          <a:xfrm>
            <a:off x="0" y="44674"/>
            <a:ext cx="6125950" cy="583565"/>
          </a:xfrm>
          <a:prstGeom prst="rect">
            <a:avLst/>
          </a:prstGeom>
          <a:noFill/>
        </p:spPr>
        <p:txBody>
          <a:bodyPr wrap="square">
            <a:spAutoFit/>
          </a:bodyPr>
          <a:lstStyle/>
          <a:p>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1.2 视频描述与定位</a:t>
            </a:r>
          </a:p>
        </p:txBody>
      </p:sp>
      <p:sp>
        <p:nvSpPr>
          <p:cNvPr id="38" name="灯片编号占位符 37"/>
          <p:cNvSpPr>
            <a:spLocks noGrp="1"/>
          </p:cNvSpPr>
          <p:nvPr>
            <p:ph type="sldNum" sz="quarter" idx="12"/>
          </p:nvPr>
        </p:nvSpPr>
        <p:spPr/>
        <p:txBody>
          <a:bodyPr/>
          <a:lstStyle/>
          <a:p>
            <a:fld id="{9FD78845-01F8-4781-BC44-71E27FEEA8FC}" type="slidenum">
              <a:rPr lang="zh-CN" altLang="en-US" smtClean="0"/>
              <a:t>4</a:t>
            </a:fld>
            <a:endParaRPr lang="zh-CN" altLang="en-US"/>
          </a:p>
        </p:txBody>
      </p:sp>
      <p:sp>
        <p:nvSpPr>
          <p:cNvPr id="39" name="页脚占位符 38"/>
          <p:cNvSpPr>
            <a:spLocks noGrp="1"/>
          </p:cNvSpPr>
          <p:nvPr>
            <p:ph type="ftr" sz="quarter" idx="11"/>
          </p:nvPr>
        </p:nvSpPr>
        <p:spPr/>
        <p:txBody>
          <a:bodyPr/>
          <a:lstStyle/>
          <a:p>
            <a:r>
              <a:rPr lang="zh-CN" altLang="en-US" sz="1200">
                <a:latin typeface="微软雅黑" panose="020B0503020204020204" pitchFamily="34" charset="-122"/>
                <a:ea typeface="微软雅黑" panose="020B0503020204020204" pitchFamily="34" charset="-122"/>
              </a:rPr>
              <a:t>视觉模式分析及实践 —— 绪论</a:t>
            </a:r>
            <a:endParaRPr lang="zh-CN" altLang="en-US" sz="1200" dirty="0">
              <a:latin typeface="微软雅黑" panose="020B0503020204020204" pitchFamily="34" charset="-122"/>
              <a:ea typeface="微软雅黑" panose="020B0503020204020204" pitchFamily="34" charset="-122"/>
            </a:endParaRPr>
          </a:p>
        </p:txBody>
      </p:sp>
      <p:sp>
        <p:nvSpPr>
          <p:cNvPr id="277" name="文本框 276"/>
          <p:cNvSpPr txBox="1"/>
          <p:nvPr/>
        </p:nvSpPr>
        <p:spPr>
          <a:xfrm>
            <a:off x="0" y="1041281"/>
            <a:ext cx="12191999" cy="2076450"/>
          </a:xfrm>
          <a:prstGeom prst="rect">
            <a:avLst/>
          </a:prstGeom>
          <a:noFill/>
        </p:spPr>
        <p:txBody>
          <a:bodyPr wrap="square">
            <a:spAutoFit/>
          </a:bodyPr>
          <a:lstStyle/>
          <a:p>
            <a:pPr indent="457200">
              <a:lnSpc>
                <a:spcPct val="150000"/>
              </a:lnSpc>
            </a:pP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视频描述</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与</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视频定位</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分别解决"视频中发生了什么"和"什么时候发生"两个问题。</a:t>
            </a:r>
          </a:p>
          <a:p>
            <a:pPr marL="742950" lvl="1" indent="-285750" algn="just">
              <a:lnSpc>
                <a:spcPct val="150000"/>
              </a:lnSpc>
              <a:buClrTx/>
              <a:buSzTx/>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sym typeface="Times New Roman" panose="02020603050405020304" pitchFamily="18" charset="0"/>
              </a:rPr>
              <a:t>视频描述主要包括单语句描述和多语句（密集）描述，同时还包括少样本、少监督和零样本视频描述等研究方向；</a:t>
            </a:r>
          </a:p>
          <a:p>
            <a:pPr marL="742950" lvl="1" indent="-285750" algn="just">
              <a:lnSpc>
                <a:spcPct val="150000"/>
              </a:lnSpc>
              <a:buClrTx/>
              <a:buSzTx/>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sym typeface="Times New Roman" panose="02020603050405020304" pitchFamily="18" charset="0"/>
              </a:rPr>
              <a:t>视频定位则根据自然语言描述定位视频中对应的事件片段，包括全监督、弱监督和点监督等方法。</a:t>
            </a:r>
          </a:p>
          <a:p>
            <a:pPr indent="457200">
              <a:lnSpc>
                <a:spcPct val="150000"/>
              </a:lnSpc>
            </a:pP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indent="457200">
              <a:lnSpc>
                <a:spcPct val="150000"/>
              </a:lnSpc>
            </a:pPr>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典型应用：</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视频摘要生成、智能监控、自动驾驶环境理解、视频内容创作等。</a:t>
            </a:r>
          </a:p>
        </p:txBody>
      </p:sp>
      <p:pic>
        <p:nvPicPr>
          <p:cNvPr id="2" name="图片 1" descr="什么是自动驾驶？如何通俗易懂的理解自动驾驶 - 知乎">
            <a:extLst>
              <a:ext uri="{FF2B5EF4-FFF2-40B4-BE49-F238E27FC236}">
                <a16:creationId xmlns:a16="http://schemas.microsoft.com/office/drawing/2014/main" id="{FDC960E5-E02E-7F0D-EEA4-343889750B91}"/>
              </a:ext>
            </a:extLst>
          </p:cNvPr>
          <p:cNvPicPr>
            <a:picLocks noChangeAspect="1"/>
          </p:cNvPicPr>
          <p:nvPr/>
        </p:nvPicPr>
        <p:blipFill>
          <a:blip r:embed="rId2"/>
          <a:stretch>
            <a:fillRect/>
          </a:stretch>
        </p:blipFill>
        <p:spPr>
          <a:xfrm>
            <a:off x="1694328" y="3333105"/>
            <a:ext cx="3826658" cy="1913329"/>
          </a:xfrm>
          <a:prstGeom prst="rect">
            <a:avLst/>
          </a:prstGeom>
        </p:spPr>
      </p:pic>
      <p:sp>
        <p:nvSpPr>
          <p:cNvPr id="3" name="文本框 2">
            <a:extLst>
              <a:ext uri="{FF2B5EF4-FFF2-40B4-BE49-F238E27FC236}">
                <a16:creationId xmlns:a16="http://schemas.microsoft.com/office/drawing/2014/main" id="{2EAB11E0-9D88-4664-52AB-1EFA8C8703AE}"/>
              </a:ext>
            </a:extLst>
          </p:cNvPr>
          <p:cNvSpPr txBox="1"/>
          <p:nvPr/>
        </p:nvSpPr>
        <p:spPr>
          <a:xfrm>
            <a:off x="29951" y="5661831"/>
            <a:ext cx="12191998" cy="276999"/>
          </a:xfrm>
          <a:prstGeom prst="rect">
            <a:avLst/>
          </a:prstGeom>
          <a:noFill/>
        </p:spPr>
        <p:txBody>
          <a:bodyPr wrap="square">
            <a:spAutoFit/>
          </a:bodyPr>
          <a:lstStyle/>
          <a:p>
            <a:pPr algn="ct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图</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1.2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视频描述与定位应用场景示例</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  a)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hlinkClick r:id="rId3"/>
              </a:rPr>
              <a:t>自动驾驶</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 b)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hlinkClick r:id="rId4"/>
              </a:rPr>
              <a:t>智能监控</a:t>
            </a:r>
            <a:endParaRPr lang="zh-CN" altLang="en-US" sz="1200" dirty="0"/>
          </a:p>
        </p:txBody>
      </p:sp>
      <p:pic>
        <p:nvPicPr>
          <p:cNvPr id="4" name="图片 3" descr="浅析酒店智能视频监控应用解决方案搭建及应用_酒店视频ai-CSDN博客">
            <a:extLst>
              <a:ext uri="{FF2B5EF4-FFF2-40B4-BE49-F238E27FC236}">
                <a16:creationId xmlns:a16="http://schemas.microsoft.com/office/drawing/2014/main" id="{16CCAE78-AA8C-BCB0-27F8-982CF39D1C42}"/>
              </a:ext>
            </a:extLst>
          </p:cNvPr>
          <p:cNvPicPr>
            <a:picLocks noChangeAspect="1"/>
          </p:cNvPicPr>
          <p:nvPr/>
        </p:nvPicPr>
        <p:blipFill>
          <a:blip r:embed="rId5"/>
          <a:stretch>
            <a:fillRect/>
          </a:stretch>
        </p:blipFill>
        <p:spPr>
          <a:xfrm>
            <a:off x="6095999" y="3333105"/>
            <a:ext cx="3991885" cy="1913329"/>
          </a:xfrm>
          <a:prstGeom prst="rect">
            <a:avLst/>
          </a:prstGeom>
        </p:spPr>
      </p:pic>
      <p:sp>
        <p:nvSpPr>
          <p:cNvPr id="5" name="文本框 4">
            <a:extLst>
              <a:ext uri="{FF2B5EF4-FFF2-40B4-BE49-F238E27FC236}">
                <a16:creationId xmlns:a16="http://schemas.microsoft.com/office/drawing/2014/main" id="{21DB8DF1-613A-376E-58DD-178482876791}"/>
              </a:ext>
            </a:extLst>
          </p:cNvPr>
          <p:cNvSpPr txBox="1"/>
          <p:nvPr/>
        </p:nvSpPr>
        <p:spPr>
          <a:xfrm>
            <a:off x="3453653" y="5323067"/>
            <a:ext cx="320489" cy="307777"/>
          </a:xfrm>
          <a:prstGeom prst="rect">
            <a:avLst/>
          </a:prstGeom>
          <a:noFill/>
        </p:spPr>
        <p:txBody>
          <a:bodyPr wrap="square">
            <a:spAutoFit/>
          </a:bodyPr>
          <a:lstStyle/>
          <a:p>
            <a:r>
              <a:rPr lang="en-US" altLang="zh-CN" sz="1400" dirty="0">
                <a:latin typeface="Times New Roman" panose="02020603050405020304" pitchFamily="18" charset="0"/>
                <a:ea typeface="微软雅黑" panose="020B0503020204020204" pitchFamily="34" charset="-122"/>
                <a:sym typeface="Times New Roman" panose="02020603050405020304" pitchFamily="18" charset="0"/>
              </a:rPr>
              <a:t>a)</a:t>
            </a:r>
            <a:endParaRPr lang="zh-CN" altLang="en-US" sz="1400" dirty="0"/>
          </a:p>
        </p:txBody>
      </p:sp>
      <p:sp>
        <p:nvSpPr>
          <p:cNvPr id="6" name="文本框 5">
            <a:extLst>
              <a:ext uri="{FF2B5EF4-FFF2-40B4-BE49-F238E27FC236}">
                <a16:creationId xmlns:a16="http://schemas.microsoft.com/office/drawing/2014/main" id="{6AADC418-D6E8-8E1A-87CC-8E0A8A64A16C}"/>
              </a:ext>
            </a:extLst>
          </p:cNvPr>
          <p:cNvSpPr txBox="1"/>
          <p:nvPr/>
        </p:nvSpPr>
        <p:spPr>
          <a:xfrm>
            <a:off x="8003357" y="5318373"/>
            <a:ext cx="320489" cy="307777"/>
          </a:xfrm>
          <a:prstGeom prst="rect">
            <a:avLst/>
          </a:prstGeom>
          <a:noFill/>
        </p:spPr>
        <p:txBody>
          <a:bodyPr wrap="square">
            <a:spAutoFit/>
          </a:bodyPr>
          <a:lstStyle/>
          <a:p>
            <a:r>
              <a:rPr lang="en-US" altLang="zh-CN" sz="1400" dirty="0">
                <a:latin typeface="Times New Roman" panose="02020603050405020304" pitchFamily="18" charset="0"/>
                <a:ea typeface="微软雅黑" panose="020B0503020204020204" pitchFamily="34" charset="-122"/>
                <a:sym typeface="Times New Roman" panose="02020603050405020304" pitchFamily="18" charset="0"/>
              </a:rPr>
              <a:t>b)</a:t>
            </a:r>
            <a:endParaRPr lang="zh-CN" alt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p:cNvSpPr txBox="1"/>
          <p:nvPr/>
        </p:nvSpPr>
        <p:spPr>
          <a:xfrm>
            <a:off x="0" y="44674"/>
            <a:ext cx="6125950" cy="583565"/>
          </a:xfrm>
          <a:prstGeom prst="rect">
            <a:avLst/>
          </a:prstGeom>
          <a:noFill/>
        </p:spPr>
        <p:txBody>
          <a:bodyPr wrap="square">
            <a:spAutoFit/>
          </a:bodyPr>
          <a:lstStyle/>
          <a:p>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1.3 视觉语义分割</a:t>
            </a:r>
          </a:p>
        </p:txBody>
      </p:sp>
      <p:sp>
        <p:nvSpPr>
          <p:cNvPr id="38" name="灯片编号占位符 37"/>
          <p:cNvSpPr>
            <a:spLocks noGrp="1"/>
          </p:cNvSpPr>
          <p:nvPr>
            <p:ph type="sldNum" sz="quarter" idx="12"/>
          </p:nvPr>
        </p:nvSpPr>
        <p:spPr/>
        <p:txBody>
          <a:bodyPr/>
          <a:lstStyle/>
          <a:p>
            <a:fld id="{9FD78845-01F8-4781-BC44-71E27FEEA8FC}" type="slidenum">
              <a:rPr lang="zh-CN" altLang="en-US" smtClean="0"/>
              <a:t>5</a:t>
            </a:fld>
            <a:endParaRPr lang="zh-CN" altLang="en-US"/>
          </a:p>
        </p:txBody>
      </p:sp>
      <p:sp>
        <p:nvSpPr>
          <p:cNvPr id="39" name="页脚占位符 38"/>
          <p:cNvSpPr>
            <a:spLocks noGrp="1"/>
          </p:cNvSpPr>
          <p:nvPr>
            <p:ph type="ftr" sz="quarter" idx="11"/>
          </p:nvPr>
        </p:nvSpPr>
        <p:spPr/>
        <p:txBody>
          <a:bodyPr/>
          <a:lstStyle/>
          <a:p>
            <a:r>
              <a:rPr lang="zh-CN" altLang="en-US" sz="1200">
                <a:latin typeface="微软雅黑" panose="020B0503020204020204" pitchFamily="34" charset="-122"/>
                <a:ea typeface="微软雅黑" panose="020B0503020204020204" pitchFamily="34" charset="-122"/>
              </a:rPr>
              <a:t>视觉模式分析及实践 —— 绪论</a:t>
            </a:r>
            <a:endParaRPr lang="zh-CN" altLang="en-US" sz="1200" dirty="0">
              <a:latin typeface="微软雅黑" panose="020B0503020204020204" pitchFamily="34" charset="-122"/>
              <a:ea typeface="微软雅黑" panose="020B0503020204020204" pitchFamily="34" charset="-122"/>
            </a:endParaRPr>
          </a:p>
        </p:txBody>
      </p:sp>
      <p:sp>
        <p:nvSpPr>
          <p:cNvPr id="277" name="文本框 276"/>
          <p:cNvSpPr txBox="1"/>
          <p:nvPr/>
        </p:nvSpPr>
        <p:spPr>
          <a:xfrm>
            <a:off x="0" y="1041281"/>
            <a:ext cx="12191999" cy="1753235"/>
          </a:xfrm>
          <a:prstGeom prst="rect">
            <a:avLst/>
          </a:prstGeom>
          <a:noFill/>
        </p:spPr>
        <p:txBody>
          <a:bodyPr wrap="square">
            <a:spAutoFit/>
          </a:bodyPr>
          <a:lstStyle/>
          <a:p>
            <a:pPr indent="457200">
              <a:lnSpc>
                <a:spcPct val="150000"/>
              </a:lnSpc>
            </a:pP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视觉语义分割旨在为图像或视频中的每一个像素赋予对应的语义类别，实现像素级场景理解。</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indent="457200">
              <a:lnSpc>
                <a:spcPct val="150000"/>
              </a:lnSpc>
            </a:pP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本书主要介绍</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图像语义分割</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RGB-T/RGB-D</a:t>
            </a:r>
            <a:r>
              <a:rPr lang="en-US" altLang="zh-CN"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语义分割</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参考图像语义分割</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以及</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视频语义分割</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等内容。</a:t>
            </a:r>
          </a:p>
          <a:p>
            <a:pPr indent="457200">
              <a:lnSpc>
                <a:spcPct val="150000"/>
              </a:lnSpc>
            </a:pP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indent="457200">
              <a:lnSpc>
                <a:spcPct val="150000"/>
              </a:lnSpc>
            </a:pPr>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典型应用：</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智能交通、医疗影像分析、遥感与地理信息系统、增强现实与视频编辑等。</a:t>
            </a:r>
          </a:p>
        </p:txBody>
      </p:sp>
      <p:sp>
        <p:nvSpPr>
          <p:cNvPr id="3" name="文本框 2">
            <a:extLst>
              <a:ext uri="{FF2B5EF4-FFF2-40B4-BE49-F238E27FC236}">
                <a16:creationId xmlns:a16="http://schemas.microsoft.com/office/drawing/2014/main" id="{64059D16-422F-D3CD-03F4-8B98C8016111}"/>
              </a:ext>
            </a:extLst>
          </p:cNvPr>
          <p:cNvSpPr txBox="1"/>
          <p:nvPr/>
        </p:nvSpPr>
        <p:spPr>
          <a:xfrm>
            <a:off x="29951" y="5661831"/>
            <a:ext cx="12191998" cy="276999"/>
          </a:xfrm>
          <a:prstGeom prst="rect">
            <a:avLst/>
          </a:prstGeom>
          <a:noFill/>
        </p:spPr>
        <p:txBody>
          <a:bodyPr wrap="square">
            <a:spAutoFit/>
          </a:bodyPr>
          <a:lstStyle/>
          <a:p>
            <a:pPr algn="ct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图</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1.3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视频描述与定位应用场景示例</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  a)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hlinkClick r:id="rId2"/>
              </a:rPr>
              <a:t>医学影像分析</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 b)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hlinkClick r:id="rId3"/>
              </a:rPr>
              <a:t>遥感与地理信息</a:t>
            </a:r>
            <a:endParaRPr lang="zh-CN" altLang="en-US" sz="1200" dirty="0"/>
          </a:p>
        </p:txBody>
      </p:sp>
      <p:pic>
        <p:nvPicPr>
          <p:cNvPr id="4" name="图片 3" descr="成果：多模态医学影像AI勾画平台-上海交大科研合作平台">
            <a:extLst>
              <a:ext uri="{FF2B5EF4-FFF2-40B4-BE49-F238E27FC236}">
                <a16:creationId xmlns:a16="http://schemas.microsoft.com/office/drawing/2014/main" id="{02781CF5-EC1B-95D3-7ABF-2E8A12159230}"/>
              </a:ext>
            </a:extLst>
          </p:cNvPr>
          <p:cNvPicPr>
            <a:picLocks noChangeAspect="1"/>
          </p:cNvPicPr>
          <p:nvPr/>
        </p:nvPicPr>
        <p:blipFill>
          <a:blip r:embed="rId4"/>
          <a:stretch>
            <a:fillRect/>
          </a:stretch>
        </p:blipFill>
        <p:spPr>
          <a:xfrm>
            <a:off x="2445648" y="3074851"/>
            <a:ext cx="3164126" cy="1977267"/>
          </a:xfrm>
          <a:prstGeom prst="rect">
            <a:avLst/>
          </a:prstGeom>
        </p:spPr>
      </p:pic>
      <p:pic>
        <p:nvPicPr>
          <p:cNvPr id="5" name="图片 4" descr="RS遥感教程-地理遥感生态网平台-中国领先的地理生态信息服务平台">
            <a:extLst>
              <a:ext uri="{FF2B5EF4-FFF2-40B4-BE49-F238E27FC236}">
                <a16:creationId xmlns:a16="http://schemas.microsoft.com/office/drawing/2014/main" id="{498C8670-1EEA-7FBB-E85A-1095558391D2}"/>
              </a:ext>
            </a:extLst>
          </p:cNvPr>
          <p:cNvPicPr>
            <a:picLocks noChangeAspect="1"/>
          </p:cNvPicPr>
          <p:nvPr/>
        </p:nvPicPr>
        <p:blipFill>
          <a:blip r:embed="rId5"/>
          <a:stretch>
            <a:fillRect/>
          </a:stretch>
        </p:blipFill>
        <p:spPr>
          <a:xfrm>
            <a:off x="6125950" y="3074850"/>
            <a:ext cx="3106777" cy="1977267"/>
          </a:xfrm>
          <a:prstGeom prst="rect">
            <a:avLst/>
          </a:prstGeom>
        </p:spPr>
      </p:pic>
      <p:sp>
        <p:nvSpPr>
          <p:cNvPr id="6" name="文本框 5">
            <a:extLst>
              <a:ext uri="{FF2B5EF4-FFF2-40B4-BE49-F238E27FC236}">
                <a16:creationId xmlns:a16="http://schemas.microsoft.com/office/drawing/2014/main" id="{B0E8D2EB-A798-6D99-8ED7-C491216D973F}"/>
              </a:ext>
            </a:extLst>
          </p:cNvPr>
          <p:cNvSpPr txBox="1"/>
          <p:nvPr/>
        </p:nvSpPr>
        <p:spPr>
          <a:xfrm>
            <a:off x="3812242" y="5127124"/>
            <a:ext cx="320489" cy="307777"/>
          </a:xfrm>
          <a:prstGeom prst="rect">
            <a:avLst/>
          </a:prstGeom>
          <a:noFill/>
        </p:spPr>
        <p:txBody>
          <a:bodyPr wrap="square">
            <a:spAutoFit/>
          </a:bodyPr>
          <a:lstStyle/>
          <a:p>
            <a:r>
              <a:rPr lang="en-US" altLang="zh-CN" sz="1400" dirty="0">
                <a:latin typeface="Times New Roman" panose="02020603050405020304" pitchFamily="18" charset="0"/>
                <a:ea typeface="微软雅黑" panose="020B0503020204020204" pitchFamily="34" charset="-122"/>
                <a:sym typeface="Times New Roman" panose="02020603050405020304" pitchFamily="18" charset="0"/>
              </a:rPr>
              <a:t>a)</a:t>
            </a:r>
            <a:endParaRPr lang="zh-CN" altLang="en-US" sz="1400" dirty="0"/>
          </a:p>
        </p:txBody>
      </p:sp>
      <p:sp>
        <p:nvSpPr>
          <p:cNvPr id="7" name="文本框 6">
            <a:extLst>
              <a:ext uri="{FF2B5EF4-FFF2-40B4-BE49-F238E27FC236}">
                <a16:creationId xmlns:a16="http://schemas.microsoft.com/office/drawing/2014/main" id="{8BA8FFC6-4664-4690-DD89-C3378E9EAD95}"/>
              </a:ext>
            </a:extLst>
          </p:cNvPr>
          <p:cNvSpPr txBox="1"/>
          <p:nvPr/>
        </p:nvSpPr>
        <p:spPr>
          <a:xfrm>
            <a:off x="7465475" y="5121185"/>
            <a:ext cx="320489" cy="307777"/>
          </a:xfrm>
          <a:prstGeom prst="rect">
            <a:avLst/>
          </a:prstGeom>
          <a:noFill/>
        </p:spPr>
        <p:txBody>
          <a:bodyPr wrap="square">
            <a:spAutoFit/>
          </a:bodyPr>
          <a:lstStyle/>
          <a:p>
            <a:r>
              <a:rPr lang="en-US" altLang="zh-CN" sz="1400" dirty="0">
                <a:latin typeface="Times New Roman" panose="02020603050405020304" pitchFamily="18" charset="0"/>
                <a:ea typeface="微软雅黑" panose="020B0503020204020204" pitchFamily="34" charset="-122"/>
                <a:sym typeface="Times New Roman" panose="02020603050405020304" pitchFamily="18" charset="0"/>
              </a:rPr>
              <a:t>b)</a:t>
            </a:r>
            <a:endParaRPr lang="zh-CN" alt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p:cNvSpPr txBox="1"/>
          <p:nvPr/>
        </p:nvSpPr>
        <p:spPr>
          <a:xfrm>
            <a:off x="0" y="44674"/>
            <a:ext cx="6125950" cy="583565"/>
          </a:xfrm>
          <a:prstGeom prst="rect">
            <a:avLst/>
          </a:prstGeom>
          <a:noFill/>
        </p:spPr>
        <p:txBody>
          <a:bodyPr wrap="square">
            <a:spAutoFit/>
          </a:bodyPr>
          <a:lstStyle/>
          <a:p>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1.4 视觉模型轻量化</a:t>
            </a:r>
          </a:p>
        </p:txBody>
      </p:sp>
      <p:sp>
        <p:nvSpPr>
          <p:cNvPr id="38" name="灯片编号占位符 37"/>
          <p:cNvSpPr>
            <a:spLocks noGrp="1"/>
          </p:cNvSpPr>
          <p:nvPr>
            <p:ph type="sldNum" sz="quarter" idx="12"/>
          </p:nvPr>
        </p:nvSpPr>
        <p:spPr/>
        <p:txBody>
          <a:bodyPr/>
          <a:lstStyle/>
          <a:p>
            <a:fld id="{9FD78845-01F8-4781-BC44-71E27FEEA8FC}" type="slidenum">
              <a:rPr lang="zh-CN" altLang="en-US" smtClean="0"/>
              <a:t>6</a:t>
            </a:fld>
            <a:endParaRPr lang="zh-CN" altLang="en-US"/>
          </a:p>
        </p:txBody>
      </p:sp>
      <p:sp>
        <p:nvSpPr>
          <p:cNvPr id="39" name="页脚占位符 38"/>
          <p:cNvSpPr>
            <a:spLocks noGrp="1"/>
          </p:cNvSpPr>
          <p:nvPr>
            <p:ph type="ftr" sz="quarter" idx="11"/>
          </p:nvPr>
        </p:nvSpPr>
        <p:spPr/>
        <p:txBody>
          <a:bodyPr/>
          <a:lstStyle/>
          <a:p>
            <a:r>
              <a:rPr lang="zh-CN" altLang="en-US" sz="1200">
                <a:latin typeface="微软雅黑" panose="020B0503020204020204" pitchFamily="34" charset="-122"/>
                <a:ea typeface="微软雅黑" panose="020B0503020204020204" pitchFamily="34" charset="-122"/>
              </a:rPr>
              <a:t>视觉模式分析及实践 —— 绪论</a:t>
            </a:r>
            <a:endParaRPr lang="zh-CN" altLang="en-US" sz="1200" dirty="0">
              <a:latin typeface="微软雅黑" panose="020B0503020204020204" pitchFamily="34" charset="-122"/>
              <a:ea typeface="微软雅黑" panose="020B0503020204020204" pitchFamily="34" charset="-122"/>
            </a:endParaRPr>
          </a:p>
        </p:txBody>
      </p:sp>
      <p:sp>
        <p:nvSpPr>
          <p:cNvPr id="277" name="文本框 276"/>
          <p:cNvSpPr txBox="1"/>
          <p:nvPr/>
        </p:nvSpPr>
        <p:spPr>
          <a:xfrm>
            <a:off x="0" y="1041281"/>
            <a:ext cx="12191999" cy="3184525"/>
          </a:xfrm>
          <a:prstGeom prst="rect">
            <a:avLst/>
          </a:prstGeom>
          <a:noFill/>
        </p:spPr>
        <p:txBody>
          <a:bodyPr wrap="square">
            <a:spAutoFit/>
          </a:bodyPr>
          <a:lstStyle/>
          <a:p>
            <a:pPr indent="457200">
              <a:lnSpc>
                <a:spcPct val="150000"/>
              </a:lnSpc>
            </a:pP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随着视觉模型规模不断增大，模型压缩成为视觉模型部署的重要技术。</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indent="457200">
              <a:lnSpc>
                <a:spcPct val="150000"/>
              </a:lnSpc>
            </a:pP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本书主要介绍</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知识蒸馏</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网络剪枝</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网络量化</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以及</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数据集蒸馏</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四类方法。</a:t>
            </a:r>
          </a:p>
          <a:p>
            <a:pPr marL="742950" lvl="1" indent="-285750" algn="just">
              <a:lnSpc>
                <a:spcPct val="150000"/>
              </a:lnSpc>
              <a:buClrTx/>
              <a:buSzTx/>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sym typeface="Times New Roman" panose="02020603050405020304" pitchFamily="18" charset="0"/>
              </a:rPr>
              <a:t>知识蒸馏利用教师模型指导学生模型学习；</a:t>
            </a:r>
          </a:p>
          <a:p>
            <a:pPr marL="742950" lvl="1" indent="-285750" algn="just">
              <a:lnSpc>
                <a:spcPct val="150000"/>
              </a:lnSpc>
              <a:buClrTx/>
              <a:buSzTx/>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sym typeface="Times New Roman" panose="02020603050405020304" pitchFamily="18" charset="0"/>
              </a:rPr>
              <a:t>网络剪枝通过删除冗余参数降低模型规模；</a:t>
            </a:r>
          </a:p>
          <a:p>
            <a:pPr marL="742950" lvl="1" indent="-285750" algn="just">
              <a:lnSpc>
                <a:spcPct val="150000"/>
              </a:lnSpc>
              <a:buClrTx/>
              <a:buSzTx/>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sym typeface="Times New Roman" panose="02020603050405020304" pitchFamily="18" charset="0"/>
              </a:rPr>
              <a:t>网络量化采用低比特表示模型参数；</a:t>
            </a:r>
          </a:p>
          <a:p>
            <a:pPr marL="742950" lvl="1" indent="-285750" algn="just">
              <a:lnSpc>
                <a:spcPct val="150000"/>
              </a:lnSpc>
              <a:buClrTx/>
              <a:buSzTx/>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sym typeface="Times New Roman" panose="02020603050405020304" pitchFamily="18" charset="0"/>
              </a:rPr>
              <a:t>数据集蒸馏利用少量合成数据近似原始数据集的训练效果。</a:t>
            </a:r>
          </a:p>
          <a:p>
            <a:pPr marL="742950" lvl="1" indent="-285750" algn="just">
              <a:lnSpc>
                <a:spcPct val="150000"/>
              </a:lnSpc>
              <a:buClrTx/>
              <a:buSzTx/>
              <a:buFont typeface="Arial" panose="020B0604020202020204" pitchFamily="34" charset="0"/>
              <a:buChar char="•"/>
            </a:pPr>
            <a:endParaRPr lang="zh-CN" altLang="zh-CN" sz="1600" dirty="0">
              <a:latin typeface="Times New Roman" panose="02020603050405020304" pitchFamily="18" charset="0"/>
              <a:ea typeface="微软雅黑" panose="020B0503020204020204" pitchFamily="34" charset="-122"/>
              <a:sym typeface="Times New Roman" panose="02020603050405020304" pitchFamily="18" charset="0"/>
            </a:endParaRPr>
          </a:p>
          <a:p>
            <a:pPr indent="457200">
              <a:lnSpc>
                <a:spcPct val="150000"/>
              </a:lnSpc>
            </a:pPr>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典型应用：</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移动终端、智能物联网、自动驾驶、工业边缘计算等。</a:t>
            </a:r>
          </a:p>
        </p:txBody>
      </p:sp>
      <p:pic>
        <p:nvPicPr>
          <p:cNvPr id="3" name="图片 2" descr="Jetson Orin Nano 人工智能(AI)SUPER开发者套件 适用于嵌入式系统和边缘系统 内置8GB显存核心板 套餐A (含摄像头模块)">
            <a:extLst>
              <a:ext uri="{FF2B5EF4-FFF2-40B4-BE49-F238E27FC236}">
                <a16:creationId xmlns:a16="http://schemas.microsoft.com/office/drawing/2014/main" id="{EFFF25E6-F01C-054A-6F47-E41BA41841E9}"/>
              </a:ext>
            </a:extLst>
          </p:cNvPr>
          <p:cNvPicPr>
            <a:picLocks noChangeAspect="1"/>
          </p:cNvPicPr>
          <p:nvPr/>
        </p:nvPicPr>
        <p:blipFill>
          <a:blip r:embed="rId2"/>
          <a:srcRect l="10527" t="9919" r="9868" b="8501"/>
          <a:stretch>
            <a:fillRect/>
          </a:stretch>
        </p:blipFill>
        <p:spPr>
          <a:xfrm>
            <a:off x="2958353" y="4225806"/>
            <a:ext cx="2169460" cy="1667435"/>
          </a:xfrm>
          <a:prstGeom prst="rect">
            <a:avLst/>
          </a:prstGeom>
        </p:spPr>
      </p:pic>
      <p:pic>
        <p:nvPicPr>
          <p:cNvPr id="4" name="图片 3" descr="边缘计算服务器_边缘计算盒子-北京金品高端科技有限公司">
            <a:extLst>
              <a:ext uri="{FF2B5EF4-FFF2-40B4-BE49-F238E27FC236}">
                <a16:creationId xmlns:a16="http://schemas.microsoft.com/office/drawing/2014/main" id="{57C75812-8AA3-B8BF-0270-E47FE991D33E}"/>
              </a:ext>
            </a:extLst>
          </p:cNvPr>
          <p:cNvPicPr>
            <a:picLocks noChangeAspect="1"/>
          </p:cNvPicPr>
          <p:nvPr/>
        </p:nvPicPr>
        <p:blipFill>
          <a:blip r:embed="rId3"/>
          <a:stretch>
            <a:fillRect/>
          </a:stretch>
        </p:blipFill>
        <p:spPr>
          <a:xfrm>
            <a:off x="5759062" y="4225806"/>
            <a:ext cx="2479504" cy="1759503"/>
          </a:xfrm>
          <a:prstGeom prst="rect">
            <a:avLst/>
          </a:prstGeom>
        </p:spPr>
      </p:pic>
      <p:sp>
        <p:nvSpPr>
          <p:cNvPr id="5" name="文本框 4">
            <a:extLst>
              <a:ext uri="{FF2B5EF4-FFF2-40B4-BE49-F238E27FC236}">
                <a16:creationId xmlns:a16="http://schemas.microsoft.com/office/drawing/2014/main" id="{26A20F38-F2CA-C91E-C1D7-8689C5ACE324}"/>
              </a:ext>
            </a:extLst>
          </p:cNvPr>
          <p:cNvSpPr txBox="1"/>
          <p:nvPr/>
        </p:nvSpPr>
        <p:spPr>
          <a:xfrm>
            <a:off x="3740524" y="5985309"/>
            <a:ext cx="320489" cy="307777"/>
          </a:xfrm>
          <a:prstGeom prst="rect">
            <a:avLst/>
          </a:prstGeom>
          <a:noFill/>
        </p:spPr>
        <p:txBody>
          <a:bodyPr wrap="square">
            <a:spAutoFit/>
          </a:bodyPr>
          <a:lstStyle/>
          <a:p>
            <a:r>
              <a:rPr lang="en-US" altLang="zh-CN" sz="1400" dirty="0">
                <a:latin typeface="Times New Roman" panose="02020603050405020304" pitchFamily="18" charset="0"/>
                <a:ea typeface="微软雅黑" panose="020B0503020204020204" pitchFamily="34" charset="-122"/>
                <a:sym typeface="Times New Roman" panose="02020603050405020304" pitchFamily="18" charset="0"/>
              </a:rPr>
              <a:t>a)</a:t>
            </a:r>
            <a:endParaRPr lang="zh-CN" altLang="en-US" sz="1400" dirty="0"/>
          </a:p>
        </p:txBody>
      </p:sp>
      <p:sp>
        <p:nvSpPr>
          <p:cNvPr id="6" name="文本框 5">
            <a:extLst>
              <a:ext uri="{FF2B5EF4-FFF2-40B4-BE49-F238E27FC236}">
                <a16:creationId xmlns:a16="http://schemas.microsoft.com/office/drawing/2014/main" id="{DF97E116-580A-5850-4CC2-344BBA76621E}"/>
              </a:ext>
            </a:extLst>
          </p:cNvPr>
          <p:cNvSpPr txBox="1"/>
          <p:nvPr/>
        </p:nvSpPr>
        <p:spPr>
          <a:xfrm>
            <a:off x="6793122" y="5985309"/>
            <a:ext cx="320489" cy="307777"/>
          </a:xfrm>
          <a:prstGeom prst="rect">
            <a:avLst/>
          </a:prstGeom>
          <a:noFill/>
        </p:spPr>
        <p:txBody>
          <a:bodyPr wrap="square">
            <a:spAutoFit/>
          </a:bodyPr>
          <a:lstStyle/>
          <a:p>
            <a:r>
              <a:rPr lang="en-US" altLang="zh-CN" sz="1400" dirty="0">
                <a:latin typeface="Times New Roman" panose="02020603050405020304" pitchFamily="18" charset="0"/>
                <a:ea typeface="微软雅黑" panose="020B0503020204020204" pitchFamily="34" charset="-122"/>
                <a:sym typeface="Times New Roman" panose="02020603050405020304" pitchFamily="18" charset="0"/>
              </a:rPr>
              <a:t>b)</a:t>
            </a:r>
            <a:endParaRPr lang="zh-CN" altLang="en-US" sz="1400" dirty="0"/>
          </a:p>
        </p:txBody>
      </p:sp>
      <p:sp>
        <p:nvSpPr>
          <p:cNvPr id="7" name="文本框 6">
            <a:extLst>
              <a:ext uri="{FF2B5EF4-FFF2-40B4-BE49-F238E27FC236}">
                <a16:creationId xmlns:a16="http://schemas.microsoft.com/office/drawing/2014/main" id="{D030E59D-83FE-224B-2288-4CFCBFD8337C}"/>
              </a:ext>
            </a:extLst>
          </p:cNvPr>
          <p:cNvSpPr txBox="1"/>
          <p:nvPr/>
        </p:nvSpPr>
        <p:spPr>
          <a:xfrm>
            <a:off x="29951" y="6246654"/>
            <a:ext cx="12191998" cy="276999"/>
          </a:xfrm>
          <a:prstGeom prst="rect">
            <a:avLst/>
          </a:prstGeom>
          <a:noFill/>
        </p:spPr>
        <p:txBody>
          <a:bodyPr wrap="square">
            <a:spAutoFit/>
          </a:bodyPr>
          <a:lstStyle/>
          <a:p>
            <a:pPr algn="ct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图</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1.4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rPr>
              <a:t>视觉模型轻量化应用场景示例</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  a)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hlinkClick r:id="rId4"/>
              </a:rPr>
              <a:t>移动终端</a:t>
            </a:r>
            <a:r>
              <a:rPr lang="en-US" altLang="zh-CN" sz="1200" dirty="0">
                <a:latin typeface="Times New Roman" panose="02020603050405020304" pitchFamily="18" charset="0"/>
                <a:ea typeface="微软雅黑" panose="020B0503020204020204" pitchFamily="34" charset="-122"/>
                <a:sym typeface="Times New Roman" panose="02020603050405020304" pitchFamily="18" charset="0"/>
              </a:rPr>
              <a:t> b) </a:t>
            </a:r>
            <a:r>
              <a:rPr lang="zh-CN" altLang="en-US" sz="1200" dirty="0">
                <a:latin typeface="Times New Roman" panose="02020603050405020304" pitchFamily="18" charset="0"/>
                <a:ea typeface="微软雅黑" panose="020B0503020204020204" pitchFamily="34" charset="-122"/>
                <a:sym typeface="Times New Roman" panose="02020603050405020304" pitchFamily="18" charset="0"/>
                <a:hlinkClick r:id="rId5"/>
              </a:rPr>
              <a:t>工业边缘计算</a:t>
            </a:r>
            <a:endParaRPr lang="zh-CN" alt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p:cNvSpPr txBox="1"/>
          <p:nvPr/>
        </p:nvSpPr>
        <p:spPr>
          <a:xfrm>
            <a:off x="0" y="44674"/>
            <a:ext cx="6125950" cy="583565"/>
          </a:xfrm>
          <a:prstGeom prst="rect">
            <a:avLst/>
          </a:prstGeom>
          <a:noFill/>
        </p:spPr>
        <p:txBody>
          <a:bodyPr wrap="square">
            <a:spAutoFit/>
          </a:bodyPr>
          <a:lstStyle/>
          <a:p>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1.5 视觉模型安全性</a:t>
            </a:r>
          </a:p>
        </p:txBody>
      </p:sp>
      <p:sp>
        <p:nvSpPr>
          <p:cNvPr id="38" name="灯片编号占位符 37"/>
          <p:cNvSpPr>
            <a:spLocks noGrp="1"/>
          </p:cNvSpPr>
          <p:nvPr>
            <p:ph type="sldNum" sz="quarter" idx="12"/>
          </p:nvPr>
        </p:nvSpPr>
        <p:spPr/>
        <p:txBody>
          <a:bodyPr/>
          <a:lstStyle/>
          <a:p>
            <a:fld id="{9FD78845-01F8-4781-BC44-71E27FEEA8FC}" type="slidenum">
              <a:rPr lang="zh-CN" altLang="en-US" smtClean="0"/>
              <a:t>7</a:t>
            </a:fld>
            <a:endParaRPr lang="zh-CN" altLang="en-US"/>
          </a:p>
        </p:txBody>
      </p:sp>
      <p:sp>
        <p:nvSpPr>
          <p:cNvPr id="39" name="页脚占位符 38"/>
          <p:cNvSpPr>
            <a:spLocks noGrp="1"/>
          </p:cNvSpPr>
          <p:nvPr>
            <p:ph type="ftr" sz="quarter" idx="11"/>
          </p:nvPr>
        </p:nvSpPr>
        <p:spPr/>
        <p:txBody>
          <a:bodyPr/>
          <a:lstStyle/>
          <a:p>
            <a:r>
              <a:rPr lang="zh-CN" altLang="en-US" sz="1200">
                <a:latin typeface="微软雅黑" panose="020B0503020204020204" pitchFamily="34" charset="-122"/>
                <a:ea typeface="微软雅黑" panose="020B0503020204020204" pitchFamily="34" charset="-122"/>
              </a:rPr>
              <a:t>视觉模式分析及实践 —— 绪论</a:t>
            </a:r>
            <a:endParaRPr lang="zh-CN" altLang="en-US" sz="1200" dirty="0">
              <a:latin typeface="微软雅黑" panose="020B0503020204020204" pitchFamily="34" charset="-122"/>
              <a:ea typeface="微软雅黑" panose="020B0503020204020204" pitchFamily="34" charset="-122"/>
            </a:endParaRPr>
          </a:p>
        </p:txBody>
      </p:sp>
      <p:sp>
        <p:nvSpPr>
          <p:cNvPr id="277" name="文本框 276"/>
          <p:cNvSpPr txBox="1"/>
          <p:nvPr/>
        </p:nvSpPr>
        <p:spPr>
          <a:xfrm>
            <a:off x="0" y="1041281"/>
            <a:ext cx="12191999" cy="2861310"/>
          </a:xfrm>
          <a:prstGeom prst="rect">
            <a:avLst/>
          </a:prstGeom>
          <a:noFill/>
        </p:spPr>
        <p:txBody>
          <a:bodyPr wrap="square">
            <a:spAutoFit/>
          </a:bodyPr>
          <a:lstStyle/>
          <a:p>
            <a:pPr indent="457200">
              <a:lnSpc>
                <a:spcPct val="150000"/>
              </a:lnSpc>
            </a:pP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视觉模型安全性主要研究模型在受到恶意攻击时的可靠性和鲁棒性，包括</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白盒攻击</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黑盒攻击</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对抗防御</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以及</a:t>
            </a:r>
            <a:r>
              <a:rPr lang="zh-CN" altLang="en-US"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大模型安全</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等内容。</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marL="742950" lvl="1" indent="-285750" algn="just">
              <a:lnSpc>
                <a:spcPct val="150000"/>
              </a:lnSpc>
              <a:buClrTx/>
              <a:buSzTx/>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sym typeface="Times New Roman" panose="02020603050405020304" pitchFamily="18" charset="0"/>
              </a:rPr>
              <a:t>对抗攻击通过生成对抗扰动使模型产生错误预测；</a:t>
            </a:r>
          </a:p>
          <a:p>
            <a:pPr marL="742950" lvl="1" indent="-285750" algn="just">
              <a:lnSpc>
                <a:spcPct val="150000"/>
              </a:lnSpc>
              <a:buClrTx/>
              <a:buSzTx/>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sym typeface="Times New Roman" panose="02020603050405020304" pitchFamily="18" charset="0"/>
              </a:rPr>
              <a:t>对抗防御则通过训练式防御和净化式防御提升模型鲁棒性；</a:t>
            </a:r>
          </a:p>
          <a:p>
            <a:pPr marL="742950" lvl="1" indent="-285750" algn="just">
              <a:lnSpc>
                <a:spcPct val="150000"/>
              </a:lnSpc>
              <a:buClrTx/>
              <a:buSzTx/>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sym typeface="Times New Roman" panose="02020603050405020304" pitchFamily="18" charset="0"/>
              </a:rPr>
              <a:t>随着多模态大模型的发展，大模型安全也逐渐成为视觉模式分析的重要研究方向。</a:t>
            </a:r>
          </a:p>
          <a:p>
            <a:pPr indent="457200">
              <a:lnSpc>
                <a:spcPct val="150000"/>
              </a:lnSpc>
            </a:pP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indent="457200">
              <a:lnSpc>
                <a:spcPct val="150000"/>
              </a:lnSpc>
            </a:pPr>
            <a:r>
              <a:rPr lang="zh-CN" altLang="zh-CN" b="1" dirty="0">
                <a:latin typeface="Times New Roman" panose="02020603050405020304" pitchFamily="18" charset="0"/>
                <a:ea typeface="微软雅黑" panose="020B0503020204020204" pitchFamily="34" charset="-122"/>
                <a:sym typeface="Times New Roman" panose="02020603050405020304" pitchFamily="18" charset="0"/>
              </a:rPr>
              <a:t>典型应用：</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自动驾驶安全、身份认证、生物识别、军事国防以及社交媒体内容安全等。</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 name="文本框 541"/>
          <p:cNvSpPr txBox="1"/>
          <p:nvPr/>
        </p:nvSpPr>
        <p:spPr>
          <a:xfrm flipH="1">
            <a:off x="-37752" y="849075"/>
            <a:ext cx="11043181" cy="400110"/>
          </a:xfrm>
          <a:prstGeom prst="rect">
            <a:avLst/>
          </a:prstGeom>
          <a:noFill/>
        </p:spPr>
        <p:txBody>
          <a:bodyPr wrap="square" rtlCol="0">
            <a:spAutoFit/>
          </a:bodyPr>
          <a:lstStyle/>
          <a:p>
            <a:pPr>
              <a:spcAft>
                <a:spcPts val="600"/>
              </a:spcAft>
            </a:pPr>
            <a:r>
              <a:rPr lang="en-US" altLang="zh-CN" sz="2000"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zh-CN" sz="2000" dirty="0">
                <a:latin typeface="Times New Roman" panose="02020603050405020304" pitchFamily="18" charset="0"/>
                <a:ea typeface="微软雅黑" panose="020B0503020204020204" pitchFamily="34" charset="-122"/>
                <a:sym typeface="Times New Roman" panose="02020603050405020304" pitchFamily="18" charset="0"/>
              </a:rPr>
              <a:t>简答题</a:t>
            </a:r>
            <a:endParaRPr lang="zh-CN" altLang="en-US" sz="20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46" name="文本框 545"/>
          <p:cNvSpPr txBox="1"/>
          <p:nvPr/>
        </p:nvSpPr>
        <p:spPr>
          <a:xfrm>
            <a:off x="380326" y="1288382"/>
            <a:ext cx="9963150" cy="3784600"/>
          </a:xfrm>
          <a:prstGeom prst="rect">
            <a:avLst/>
          </a:prstGeom>
          <a:noFill/>
        </p:spPr>
        <p:txBody>
          <a:bodyPr wrap="square">
            <a:spAutoFit/>
          </a:bodyPr>
          <a:lstStyle/>
          <a:p>
            <a:pPr>
              <a:lnSpc>
                <a:spcPct val="150000"/>
              </a:lnSpc>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1）视觉模式分析的主要应用场景有哪些？</a:t>
            </a:r>
          </a:p>
          <a:p>
            <a:pPr>
              <a:lnSpc>
                <a:spcPct val="150000"/>
              </a:lnSpc>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2）请简要说明视频动作识别与动作检测的区别，分别面临的挑战有哪些？</a:t>
            </a:r>
          </a:p>
          <a:p>
            <a:pPr>
              <a:lnSpc>
                <a:spcPct val="150000"/>
              </a:lnSpc>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3）视频定位模型对于提升视频内容检索功能有何重要意义？</a:t>
            </a:r>
          </a:p>
          <a:p>
            <a:pPr>
              <a:lnSpc>
                <a:spcPct val="150000"/>
              </a:lnSpc>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4）请简述图像语义分割与视频语义分割的区别。</a:t>
            </a:r>
          </a:p>
          <a:p>
            <a:pPr>
              <a:lnSpc>
                <a:spcPct val="150000"/>
              </a:lnSpc>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5）参考图像分割与传统的语义分割有何区别？像素级的精度对视觉感知系统有什么影响？</a:t>
            </a:r>
          </a:p>
          <a:p>
            <a:pPr>
              <a:lnSpc>
                <a:spcPct val="150000"/>
              </a:lnSpc>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6）模型压缩有哪些类型？请以其中之一为例列出应用场景。</a:t>
            </a:r>
          </a:p>
          <a:p>
            <a:pPr>
              <a:lnSpc>
                <a:spcPct val="150000"/>
              </a:lnSpc>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7）知识蒸馏与数据集蒸馏有何区别与联系？</a:t>
            </a:r>
          </a:p>
          <a:p>
            <a:pPr>
              <a:lnSpc>
                <a:spcPct val="150000"/>
              </a:lnSpc>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8）什么是对抗样本？它在视觉感知系统中有什么作用？</a:t>
            </a:r>
          </a:p>
          <a:p>
            <a:pPr>
              <a:lnSpc>
                <a:spcPct val="150000"/>
              </a:lnSpc>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9）白盒攻击与黑盒攻击有何区别？</a:t>
            </a:r>
          </a:p>
          <a:p>
            <a:pPr>
              <a:lnSpc>
                <a:spcPct val="150000"/>
              </a:lnSpc>
            </a:pPr>
            <a:r>
              <a:rPr lang="zh-CN" altLang="en-US" sz="1600" dirty="0">
                <a:latin typeface="Times New Roman" panose="02020603050405020304" pitchFamily="18" charset="0"/>
                <a:ea typeface="微软雅黑" panose="020B0503020204020204" pitchFamily="34" charset="-122"/>
                <a:sym typeface="Times New Roman" panose="02020603050405020304" pitchFamily="18" charset="0"/>
              </a:rPr>
              <a:t>10）请举例说明在自动驾驶、身份认证领域视觉模型鲁棒的重要性。</a:t>
            </a:r>
          </a:p>
        </p:txBody>
      </p:sp>
      <p:sp>
        <p:nvSpPr>
          <p:cNvPr id="5" name="文本框 4"/>
          <p:cNvSpPr txBox="1"/>
          <p:nvPr/>
        </p:nvSpPr>
        <p:spPr>
          <a:xfrm>
            <a:off x="0" y="42259"/>
            <a:ext cx="12191999" cy="584775"/>
          </a:xfrm>
          <a:prstGeom prst="rect">
            <a:avLst/>
          </a:prstGeom>
          <a:noFill/>
        </p:spPr>
        <p:txBody>
          <a:bodyPr wrap="square">
            <a:spAutoFit/>
          </a:bodyPr>
          <a:lstStyle/>
          <a:p>
            <a:pPr>
              <a:spcAft>
                <a:spcPts val="600"/>
              </a:spcAft>
            </a:pP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本章习题</a:t>
            </a:r>
          </a:p>
        </p:txBody>
      </p:sp>
      <p:sp>
        <p:nvSpPr>
          <p:cNvPr id="7" name="灯片编号占位符 6"/>
          <p:cNvSpPr>
            <a:spLocks noGrp="1"/>
          </p:cNvSpPr>
          <p:nvPr>
            <p:ph type="sldNum" sz="quarter" idx="12"/>
          </p:nvPr>
        </p:nvSpPr>
        <p:spPr/>
        <p:txBody>
          <a:bodyPr/>
          <a:lstStyle/>
          <a:p>
            <a:fld id="{9FD78845-01F8-4781-BC44-71E27FEEA8FC}" type="slidenum">
              <a:rPr lang="zh-CN" altLang="en-US" smtClean="0"/>
              <a:t>8</a:t>
            </a:fld>
            <a:endParaRPr lang="zh-CN" altLang="en-US"/>
          </a:p>
        </p:txBody>
      </p:sp>
      <p:sp>
        <p:nvSpPr>
          <p:cNvPr id="8" name="页脚占位符 7"/>
          <p:cNvSpPr>
            <a:spLocks noGrp="1"/>
          </p:cNvSpPr>
          <p:nvPr>
            <p:ph type="ftr" sz="quarter" idx="11"/>
          </p:nvPr>
        </p:nvSpPr>
        <p:spPr/>
        <p:txBody>
          <a:bodyPr/>
          <a:lstStyle/>
          <a:p>
            <a:r>
              <a:rPr lang="zh-CN" altLang="en-US" sz="1200">
                <a:latin typeface="微软雅黑" panose="020B0503020204020204" pitchFamily="34" charset="-122"/>
                <a:ea typeface="微软雅黑" panose="020B0503020204020204" pitchFamily="34" charset="-122"/>
              </a:rPr>
              <a:t>视觉模式分析及实践 —— 绪论</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42259"/>
            <a:ext cx="12191999" cy="584775"/>
          </a:xfrm>
          <a:prstGeom prst="rect">
            <a:avLst/>
          </a:prstGeom>
          <a:noFill/>
        </p:spPr>
        <p:txBody>
          <a:bodyPr wrap="square">
            <a:spAutoFit/>
          </a:bodyPr>
          <a:lstStyle/>
          <a:p>
            <a:pPr>
              <a:spcAft>
                <a:spcPts val="600"/>
              </a:spcAft>
            </a:pP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参考文献</a:t>
            </a:r>
          </a:p>
        </p:txBody>
      </p:sp>
      <p:sp>
        <p:nvSpPr>
          <p:cNvPr id="4" name="灯片编号占位符 3"/>
          <p:cNvSpPr>
            <a:spLocks noGrp="1"/>
          </p:cNvSpPr>
          <p:nvPr>
            <p:ph type="sldNum" sz="quarter" idx="12"/>
          </p:nvPr>
        </p:nvSpPr>
        <p:spPr/>
        <p:txBody>
          <a:bodyPr/>
          <a:lstStyle/>
          <a:p>
            <a:fld id="{9FD78845-01F8-4781-BC44-71E27FEEA8FC}" type="slidenum">
              <a:rPr lang="zh-CN" altLang="en-US" smtClean="0"/>
              <a:t>9</a:t>
            </a:fld>
            <a:endParaRPr lang="zh-CN" altLang="en-US" dirty="0"/>
          </a:p>
        </p:txBody>
      </p:sp>
      <p:sp>
        <p:nvSpPr>
          <p:cNvPr id="6" name="页脚占位符 5"/>
          <p:cNvSpPr>
            <a:spLocks noGrp="1"/>
          </p:cNvSpPr>
          <p:nvPr>
            <p:ph type="ftr" sz="quarter" idx="11"/>
          </p:nvPr>
        </p:nvSpPr>
        <p:spPr/>
        <p:txBody>
          <a:bodyPr/>
          <a:lstStyle/>
          <a:p>
            <a:r>
              <a:rPr lang="zh-CN" altLang="en-US" sz="1200">
                <a:latin typeface="微软雅黑" panose="020B0503020204020204" pitchFamily="34" charset="-122"/>
                <a:ea typeface="微软雅黑" panose="020B0503020204020204" pitchFamily="34" charset="-122"/>
              </a:rPr>
              <a:t>视觉模式分析及实践 —— 绪论</a:t>
            </a:r>
            <a:endParaRPr lang="zh-CN" altLang="en-US" sz="12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6162291" y="1383722"/>
            <a:ext cx="5523742" cy="4690964"/>
          </a:xfrm>
          <a:prstGeom prst="rect">
            <a:avLst/>
          </a:prstGeom>
          <a:noFill/>
        </p:spPr>
        <p:txBody>
          <a:bodyPr wrap="square">
            <a:spAutoFit/>
          </a:bodyPr>
          <a:lstStyle/>
          <a:p>
            <a:pPr marL="288290" indent="-457200" algn="just">
              <a:lnSpc>
                <a:spcPct val="114000"/>
              </a:lnSpc>
              <a:spcAft>
                <a:spcPts val="1200"/>
              </a:spcAft>
            </a:pPr>
            <a:r>
              <a:rPr lang="zh-CN" altLang="en-US" sz="1200"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dirty="0">
                <a:latin typeface="Times New Roman" panose="02020603050405020304" pitchFamily="18" charset="0"/>
                <a:ea typeface="仿宋" panose="02010609060101010101" pitchFamily="49" charset="-122"/>
                <a:cs typeface="Times New Roman" panose="02020603050405020304" pitchFamily="18" charset="0"/>
              </a:rPr>
              <a:t>6</a:t>
            </a:r>
            <a:r>
              <a:rPr lang="zh-CN" altLang="en-US" sz="1200" dirty="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dirty="0">
                <a:latin typeface="Times New Roman" panose="02020603050405020304" pitchFamily="18" charset="0"/>
                <a:cs typeface="Times New Roman" panose="02020603050405020304" pitchFamily="18" charset="0"/>
              </a:rPr>
              <a:t>Nayyer Aafaq, Ajmal Saeed Mian, Naveed Akhtar, Wei Liu, and Mubarak Shah. Dense video captioning with early linguistic information fusion. IEEE Transactions on Multimedia (TMM), 202</a:t>
            </a:r>
            <a:r>
              <a:rPr lang="en-US" altLang="zh-CN" sz="1200" dirty="0">
                <a:latin typeface="Times New Roman" panose="02020603050405020304" pitchFamily="18" charset="0"/>
                <a:cs typeface="Times New Roman" panose="02020603050405020304" pitchFamily="18" charset="0"/>
              </a:rPr>
              <a:t>3, 25:</a:t>
            </a:r>
            <a:r>
              <a:rPr lang="zh-CN" altLang="zh-CN"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2309-2322</a:t>
            </a:r>
            <a:r>
              <a:rPr lang="en-US" altLang="zh-CN" sz="1200" dirty="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dirty="0">
              <a:latin typeface="Times New Roman" panose="02020603050405020304" pitchFamily="18" charset="0"/>
              <a:cs typeface="Times New Roman" panose="02020603050405020304" pitchFamily="18" charset="0"/>
            </a:endParaRPr>
          </a:p>
          <a:p>
            <a:pPr marL="288290" indent="-457200" algn="just">
              <a:lnSpc>
                <a:spcPct val="114000"/>
              </a:lnSpc>
              <a:spcAft>
                <a:spcPts val="1200"/>
              </a:spcAft>
            </a:pPr>
            <a:r>
              <a:rPr lang="en-US" altLang="zh-CN" sz="1200" dirty="0">
                <a:latin typeface="Times New Roman" panose="02020603050405020304" pitchFamily="18" charset="0"/>
                <a:cs typeface="Times New Roman" panose="02020603050405020304" pitchFamily="18" charset="0"/>
              </a:rPr>
              <a:t>[7] </a:t>
            </a:r>
            <a:r>
              <a:rPr lang="zh-CN" altLang="zh-CN" sz="1200" dirty="0">
                <a:latin typeface="Times New Roman" panose="02020603050405020304" pitchFamily="18" charset="0"/>
                <a:cs typeface="Times New Roman" panose="02020603050405020304" pitchFamily="18" charset="0"/>
              </a:rPr>
              <a:t>Teng Wang, Ruimao Zhang, Zhichao Lu, Feng Zheng, Ran Cheng, and Ping Luo. End-to-end dense video captioning with parallel decoding. In Proceedings of the IEEE International Conference on Computer Vision (ICCV), 2021</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 6827</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6837</a:t>
            </a:r>
            <a:r>
              <a:rPr lang="en-US" altLang="zh-CN" sz="1200" dirty="0">
                <a:latin typeface="Times New Roman" panose="02020603050405020304" pitchFamily="18" charset="0"/>
                <a:cs typeface="Times New Roman" panose="02020603050405020304" pitchFamily="18" charset="0"/>
              </a:rPr>
              <a:t>. </a:t>
            </a:r>
          </a:p>
          <a:p>
            <a:pPr marL="288290" indent="-457200" algn="just">
              <a:lnSpc>
                <a:spcPct val="114000"/>
              </a:lnSpc>
              <a:spcAft>
                <a:spcPts val="1200"/>
              </a:spcAft>
            </a:pPr>
            <a:r>
              <a:rPr lang="en-US" altLang="zh-CN" sz="1200" dirty="0">
                <a:latin typeface="Times New Roman" panose="02020603050405020304" pitchFamily="18" charset="0"/>
                <a:cs typeface="Times New Roman" panose="02020603050405020304" pitchFamily="18" charset="0"/>
              </a:rPr>
              <a:t>[8]  </a:t>
            </a:r>
            <a:r>
              <a:rPr lang="zh-CN" altLang="zh-CN" sz="1200" dirty="0">
                <a:latin typeface="Times New Roman" panose="02020603050405020304" pitchFamily="18" charset="0"/>
                <a:cs typeface="Times New Roman" panose="02020603050405020304" pitchFamily="18" charset="0"/>
              </a:rPr>
              <a:t>AlecRadford,</a:t>
            </a:r>
            <a:r>
              <a:rPr lang="en-US" altLang="zh-CN" sz="1200" dirty="0">
                <a:latin typeface="Times New Roman" panose="02020603050405020304" pitchFamily="18" charset="0"/>
                <a:cs typeface="Times New Roman" panose="02020603050405020304" pitchFamily="18" charset="0"/>
              </a:rPr>
              <a:t> </a:t>
            </a:r>
            <a:r>
              <a:rPr lang="zh-CN" altLang="zh-CN" sz="1200" dirty="0">
                <a:latin typeface="Times New Roman" panose="02020603050405020304" pitchFamily="18" charset="0"/>
                <a:cs typeface="Times New Roman" panose="02020603050405020304" pitchFamily="18" charset="0"/>
              </a:rPr>
              <a:t>JongWookKim,</a:t>
            </a:r>
            <a:r>
              <a:rPr lang="en-US" altLang="zh-CN" sz="1200" dirty="0">
                <a:latin typeface="Times New Roman" panose="02020603050405020304" pitchFamily="18" charset="0"/>
                <a:cs typeface="Times New Roman" panose="02020603050405020304" pitchFamily="18" charset="0"/>
              </a:rPr>
              <a:t> </a:t>
            </a:r>
            <a:r>
              <a:rPr lang="zh-CN" altLang="zh-CN" sz="1200" dirty="0">
                <a:latin typeface="Times New Roman" panose="02020603050405020304" pitchFamily="18" charset="0"/>
                <a:cs typeface="Times New Roman" panose="02020603050405020304" pitchFamily="18" charset="0"/>
              </a:rPr>
              <a:t>ChrisHallacy,</a:t>
            </a:r>
            <a:r>
              <a:rPr lang="en-US" altLang="zh-CN" sz="1200" dirty="0">
                <a:latin typeface="Times New Roman" panose="02020603050405020304" pitchFamily="18" charset="0"/>
                <a:cs typeface="Times New Roman" panose="02020603050405020304" pitchFamily="18" charset="0"/>
              </a:rPr>
              <a:t> </a:t>
            </a:r>
            <a:r>
              <a:rPr lang="zh-CN" altLang="zh-CN" sz="1200" dirty="0">
                <a:latin typeface="Times New Roman" panose="02020603050405020304" pitchFamily="18" charset="0"/>
                <a:cs typeface="Times New Roman" panose="02020603050405020304" pitchFamily="18" charset="0"/>
              </a:rPr>
              <a:t>AdityaRamesh,</a:t>
            </a:r>
            <a:r>
              <a:rPr lang="en-US" altLang="zh-CN" sz="1200" dirty="0">
                <a:latin typeface="Times New Roman" panose="02020603050405020304" pitchFamily="18" charset="0"/>
                <a:cs typeface="Times New Roman" panose="02020603050405020304" pitchFamily="18" charset="0"/>
              </a:rPr>
              <a:t> </a:t>
            </a:r>
            <a:r>
              <a:rPr lang="zh-CN" altLang="zh-CN" sz="1200" dirty="0">
                <a:latin typeface="Times New Roman" panose="02020603050405020304" pitchFamily="18" charset="0"/>
                <a:cs typeface="Times New Roman" panose="02020603050405020304" pitchFamily="18" charset="0"/>
              </a:rPr>
              <a:t>GabrielGoh,</a:t>
            </a:r>
            <a:r>
              <a:rPr lang="en-US" altLang="zh-CN" sz="1200" dirty="0">
                <a:latin typeface="Times New Roman" panose="02020603050405020304" pitchFamily="18" charset="0"/>
                <a:cs typeface="Times New Roman" panose="02020603050405020304" pitchFamily="18" charset="0"/>
              </a:rPr>
              <a:t> </a:t>
            </a:r>
            <a:r>
              <a:rPr lang="zh-CN" altLang="zh-CN" sz="1200" dirty="0">
                <a:latin typeface="Times New Roman" panose="02020603050405020304" pitchFamily="18" charset="0"/>
                <a:cs typeface="Times New Roman" panose="02020603050405020304" pitchFamily="18" charset="0"/>
              </a:rPr>
              <a:t>Sandhini</a:t>
            </a:r>
            <a:r>
              <a:rPr lang="en-US" altLang="zh-CN" sz="1200" dirty="0">
                <a:latin typeface="Times New Roman" panose="02020603050405020304" pitchFamily="18" charset="0"/>
                <a:cs typeface="Times New Roman" panose="02020603050405020304" pitchFamily="18" charset="0"/>
              </a:rPr>
              <a:t> </a:t>
            </a:r>
            <a:r>
              <a:rPr lang="zh-CN" altLang="zh-CN" sz="1200" dirty="0">
                <a:latin typeface="Times New Roman" panose="02020603050405020304" pitchFamily="18" charset="0"/>
                <a:cs typeface="Times New Roman" panose="02020603050405020304" pitchFamily="18" charset="0"/>
              </a:rPr>
              <a:t>Agarwal,</a:t>
            </a:r>
            <a:r>
              <a:rPr lang="en-US" altLang="zh-CN" sz="1200" dirty="0">
                <a:latin typeface="Times New Roman" panose="02020603050405020304" pitchFamily="18" charset="0"/>
                <a:cs typeface="Times New Roman" panose="02020603050405020304" pitchFamily="18" charset="0"/>
              </a:rPr>
              <a:t> </a:t>
            </a:r>
            <a:r>
              <a:rPr lang="zh-CN" altLang="zh-CN" sz="1200" dirty="0">
                <a:latin typeface="Times New Roman" panose="02020603050405020304" pitchFamily="18" charset="0"/>
                <a:cs typeface="Times New Roman" panose="02020603050405020304" pitchFamily="18" charset="0"/>
              </a:rPr>
              <a:t>GirishSastry, Amanda Askell, Pamela Mishkin, Jack Clark, Gretchen Krueger, and Ilya Sutskever. Learning transferable visual models from natural language supervision. In Proceedings of the International Conference on Machine Learning (ICML), 2021</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 8748</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8763</a:t>
            </a:r>
            <a:r>
              <a:rPr lang="en-US" altLang="zh-CN" sz="1200" dirty="0">
                <a:latin typeface="Times New Roman" panose="02020603050405020304" pitchFamily="18" charset="0"/>
                <a:cs typeface="Times New Roman" panose="02020603050405020304" pitchFamily="18" charset="0"/>
              </a:rPr>
              <a:t>.</a:t>
            </a:r>
          </a:p>
          <a:p>
            <a:pPr marL="288290" indent="-457200" algn="just">
              <a:lnSpc>
                <a:spcPct val="114000"/>
              </a:lnSpc>
              <a:spcAft>
                <a:spcPts val="1200"/>
              </a:spcAft>
            </a:pPr>
            <a:r>
              <a:rPr lang="en-US" altLang="zh-CN" sz="1200" dirty="0">
                <a:latin typeface="Times New Roman" panose="02020603050405020304" pitchFamily="18" charset="0"/>
                <a:cs typeface="Times New Roman" panose="02020603050405020304" pitchFamily="18" charset="0"/>
              </a:rPr>
              <a:t>[9] </a:t>
            </a:r>
            <a:r>
              <a:rPr lang="zh-CN" altLang="zh-CN" sz="1200" dirty="0">
                <a:latin typeface="Times New Roman" panose="02020603050405020304" pitchFamily="18" charset="0"/>
                <a:cs typeface="Times New Roman" panose="02020603050405020304" pitchFamily="18" charset="0"/>
              </a:rPr>
              <a:t>Zequn Zeng, Hao Zhang, Ruiying Lu, Dongsheng Wang, Bo Chen, and Zhengjue Wang. Conzic: Control lable zero-shot image captioning by sampling-based polishing. In Proceedings of the IEEE Conference on Computer Vision and Pattern Recognition (CVPR), 2023</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 23465</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23476</a:t>
            </a:r>
            <a:r>
              <a:rPr lang="en-US" altLang="zh-CN" sz="1200" dirty="0">
                <a:latin typeface="Times New Roman" panose="02020603050405020304" pitchFamily="18" charset="0"/>
                <a:cs typeface="Times New Roman" panose="02020603050405020304" pitchFamily="18" charset="0"/>
              </a:rPr>
              <a:t>. </a:t>
            </a:r>
          </a:p>
          <a:p>
            <a:pPr marL="288290" indent="-457200" algn="just">
              <a:lnSpc>
                <a:spcPct val="114000"/>
              </a:lnSpc>
              <a:spcAft>
                <a:spcPts val="1200"/>
              </a:spcAft>
            </a:pPr>
            <a:r>
              <a:rPr lang="en-US" altLang="zh-CN" sz="1200" dirty="0">
                <a:latin typeface="Times New Roman" panose="02020603050405020304" pitchFamily="18" charset="0"/>
                <a:cs typeface="Times New Roman" panose="02020603050405020304" pitchFamily="18" charset="0"/>
              </a:rPr>
              <a:t>[10] </a:t>
            </a:r>
            <a:r>
              <a:rPr lang="zh-CN" altLang="zh-CN" sz="1200" dirty="0">
                <a:latin typeface="Times New Roman" panose="02020603050405020304" pitchFamily="18" charset="0"/>
                <a:cs typeface="Times New Roman" panose="02020603050405020304" pitchFamily="18" charset="0"/>
              </a:rPr>
              <a:t>Zhilin Yang, Zihang Dai, Yiming Yang, Jaime G. Carbonell, Ruslan Salakhutdinov, and Quoc V. Le. Xl net: Generalized autoregressive pretraining for language understanding.</a:t>
            </a:r>
            <a:r>
              <a:rPr lang="en-US" altLang="zh-CN" sz="1200" dirty="0">
                <a:latin typeface="Times New Roman" panose="02020603050405020304" pitchFamily="18" charset="0"/>
                <a:cs typeface="Times New Roman" panose="02020603050405020304" pitchFamily="18" charset="0"/>
              </a:rPr>
              <a:t> </a:t>
            </a:r>
            <a:r>
              <a:rPr lang="zh-CN" altLang="zh-CN" sz="1200" dirty="0">
                <a:latin typeface="Times New Roman" panose="02020603050405020304" pitchFamily="18" charset="0"/>
                <a:cs typeface="Times New Roman" panose="02020603050405020304" pitchFamily="18" charset="0"/>
              </a:rPr>
              <a:t>Advances in Neural Information Processing Systems (NeurIPS), 2019</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 5754</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5764</a:t>
            </a:r>
            <a:r>
              <a:rPr lang="en-US" altLang="zh-CN" sz="1200" dirty="0">
                <a:latin typeface="Times New Roman" panose="02020603050405020304" pitchFamily="18" charset="0"/>
                <a:cs typeface="Times New Roman" panose="02020603050405020304" pitchFamily="18" charset="0"/>
              </a:rPr>
              <a:t>.</a:t>
            </a:r>
          </a:p>
        </p:txBody>
      </p:sp>
      <p:sp>
        <p:nvSpPr>
          <p:cNvPr id="15" name="文本框 14"/>
          <p:cNvSpPr txBox="1"/>
          <p:nvPr/>
        </p:nvSpPr>
        <p:spPr>
          <a:xfrm>
            <a:off x="384242" y="1386805"/>
            <a:ext cx="5711757" cy="4269951"/>
          </a:xfrm>
          <a:prstGeom prst="rect">
            <a:avLst/>
          </a:prstGeom>
          <a:noFill/>
        </p:spPr>
        <p:txBody>
          <a:bodyPr wrap="square">
            <a:spAutoFit/>
          </a:bodyPr>
          <a:lstStyle/>
          <a:p>
            <a:pPr marL="252095" lvl="0" indent="-457200" algn="just">
              <a:lnSpc>
                <a:spcPct val="114000"/>
              </a:lnSpc>
              <a:spcAft>
                <a:spcPts val="1200"/>
              </a:spcAft>
              <a:buClrTx/>
              <a:buSzPts val="900"/>
              <a:buFontTx/>
            </a:pPr>
            <a:r>
              <a:rPr lang="en-US" altLang="zh-CN" sz="1200" dirty="0">
                <a:effectLst/>
                <a:latin typeface="Times New Roman" panose="02020603050405020304" pitchFamily="18" charset="0"/>
                <a:ea typeface="仿宋" panose="02010609060101010101" pitchFamily="49" charset="-122"/>
                <a:cs typeface="Times New Roman" panose="02020603050405020304" pitchFamily="18" charset="0"/>
                <a:sym typeface="+mn-ea"/>
              </a:rPr>
              <a:t>[1] </a:t>
            </a:r>
            <a:r>
              <a:rPr lang="zh-CN" altLang="zh-CN" sz="1200" dirty="0">
                <a:latin typeface="Times New Roman" panose="02020603050405020304" pitchFamily="18" charset="0"/>
                <a:cs typeface="Times New Roman" panose="02020603050405020304" pitchFamily="18" charset="0"/>
              </a:rPr>
              <a:t>Yehao Li, Ting Yao, Yingwei Pan, Hongyang Chao, and Tao Mei. Jointly localizing and describing events for dense video captioning. In Proceedings of the IEEE Conference on Computer Vision and Pattern Recognition (CVPR), 2018</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 7492</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7500</a:t>
            </a:r>
            <a:r>
              <a:rPr lang="en-US" altLang="zh-CN" sz="1200" dirty="0">
                <a:effectLst/>
                <a:latin typeface="Times New Roman" panose="02020603050405020304" pitchFamily="18" charset="0"/>
                <a:ea typeface="仿宋" panose="02010609060101010101" pitchFamily="49" charset="-122"/>
                <a:cs typeface="Times New Roman" panose="02020603050405020304" pitchFamily="18" charset="0"/>
              </a:rPr>
              <a:t>.</a:t>
            </a:r>
          </a:p>
          <a:p>
            <a:pPr marL="252095" lvl="0" indent="-457200" algn="just">
              <a:lnSpc>
                <a:spcPct val="114000"/>
              </a:lnSpc>
              <a:spcAft>
                <a:spcPts val="1200"/>
              </a:spcAft>
              <a:buClrTx/>
              <a:buSzPts val="900"/>
              <a:buFontTx/>
            </a:pPr>
            <a:r>
              <a:rPr lang="en-US" altLang="zh-CN" sz="1200" dirty="0">
                <a:effectLst/>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dirty="0">
                <a:latin typeface="Times New Roman" panose="02020603050405020304" pitchFamily="18" charset="0"/>
                <a:cs typeface="Times New Roman" panose="02020603050405020304" pitchFamily="18" charset="0"/>
              </a:rPr>
              <a:t>Wei Li, Linchao Zhu, Longyin Wen, and Yi Yang. Decap: Decoding clip latents for zero-shot captioning via text-only training. In Proceedings of the International Conference on Learning Representations (ICLR), 2023</a:t>
            </a:r>
            <a:r>
              <a:rPr lang="en-US" altLang="zh-CN" sz="1200" dirty="0">
                <a:effectLst/>
                <a:latin typeface="Times New Roman" panose="02020603050405020304" pitchFamily="18" charset="0"/>
                <a:ea typeface="仿宋" panose="02010609060101010101" pitchFamily="49" charset="-122"/>
                <a:cs typeface="Times New Roman" panose="02020603050405020304" pitchFamily="18" charset="0"/>
              </a:rPr>
              <a:t>.</a:t>
            </a:r>
          </a:p>
          <a:p>
            <a:pPr marL="252095" lvl="0" indent="-457200" algn="just">
              <a:lnSpc>
                <a:spcPct val="114000"/>
              </a:lnSpc>
              <a:spcAft>
                <a:spcPts val="1200"/>
              </a:spcAft>
              <a:buClrTx/>
              <a:buSzPts val="900"/>
              <a:buFontTx/>
            </a:pPr>
            <a:r>
              <a:rPr lang="en-US" altLang="zh-CN" sz="1200" dirty="0">
                <a:effectLst/>
                <a:latin typeface="Times New Roman" panose="02020603050405020304" pitchFamily="18" charset="0"/>
                <a:ea typeface="仿宋" panose="02010609060101010101" pitchFamily="49" charset="-122"/>
                <a:cs typeface="Times New Roman" panose="02020603050405020304" pitchFamily="18" charset="0"/>
              </a:rPr>
              <a:t>[3] </a:t>
            </a:r>
            <a:r>
              <a:rPr lang="zh-CN" altLang="zh-CN" sz="1200" dirty="0">
                <a:latin typeface="Times New Roman" panose="02020603050405020304" pitchFamily="18" charset="0"/>
                <a:cs typeface="Times New Roman" panose="02020603050405020304" pitchFamily="18" charset="0"/>
              </a:rPr>
              <a:t>Wenhao Wu, Haipeng Luo, Bo Fang, Jingdong Wang, and Wanli Ouyang. Cap4video: What can auxiliary captions do for text-video retrieval? In Proceedings of the IEEE Conference on Computer Vision and Pattern Recognition (CVPR), 2023</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 10704</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10713</a:t>
            </a:r>
            <a:r>
              <a:rPr lang="en-US" altLang="zh-CN" sz="1200" dirty="0">
                <a:effectLst/>
                <a:latin typeface="Times New Roman" panose="02020603050405020304" pitchFamily="18" charset="0"/>
                <a:ea typeface="仿宋" panose="02010609060101010101" pitchFamily="49" charset="-122"/>
                <a:cs typeface="Times New Roman" panose="02020603050405020304" pitchFamily="18" charset="0"/>
              </a:rPr>
              <a:t>. </a:t>
            </a:r>
          </a:p>
          <a:p>
            <a:pPr marL="252095" lvl="0" indent="-457200" algn="just">
              <a:lnSpc>
                <a:spcPct val="114000"/>
              </a:lnSpc>
              <a:spcAft>
                <a:spcPts val="1200"/>
              </a:spcAft>
              <a:buClrTx/>
              <a:buSzPts val="900"/>
              <a:buFontTx/>
            </a:pPr>
            <a:r>
              <a:rPr lang="en-US" altLang="zh-CN" sz="1200" dirty="0">
                <a:effectLst/>
                <a:latin typeface="Times New Roman" panose="02020603050405020304" pitchFamily="18" charset="0"/>
                <a:ea typeface="仿宋" panose="02010609060101010101" pitchFamily="49" charset="-122"/>
                <a:cs typeface="Times New Roman" panose="02020603050405020304" pitchFamily="18" charset="0"/>
              </a:rPr>
              <a:t>[4] </a:t>
            </a:r>
            <a:r>
              <a:rPr lang="zh-CN" altLang="zh-CN" sz="1200" dirty="0">
                <a:latin typeface="Times New Roman" panose="02020603050405020304" pitchFamily="18" charset="0"/>
                <a:cs typeface="Times New Roman" panose="02020603050405020304" pitchFamily="18" charset="0"/>
              </a:rPr>
              <a:t>Ashish Vaswani, Noam Shazeer, Niki Parmar, Jakob Uszkoreit, Llion Jones, Aidan N. Gomez, Lukasz Kaiser, and Illia Polosukhin. Attention is all you need. Advances in Neural Information Processing Systems (NeurIPS), 2017</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 5998</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6008</a:t>
            </a:r>
            <a:r>
              <a:rPr lang="en-US" altLang="zh-CN" sz="1200" dirty="0">
                <a:effectLst/>
                <a:latin typeface="Times New Roman" panose="02020603050405020304" pitchFamily="18" charset="0"/>
                <a:ea typeface="仿宋" panose="02010609060101010101" pitchFamily="49" charset="-122"/>
                <a:cs typeface="Times New Roman" panose="02020603050405020304" pitchFamily="18" charset="0"/>
              </a:rPr>
              <a:t>.</a:t>
            </a:r>
          </a:p>
          <a:p>
            <a:pPr marL="252095" lvl="0" indent="-457200" algn="just">
              <a:lnSpc>
                <a:spcPct val="114000"/>
              </a:lnSpc>
              <a:spcAft>
                <a:spcPts val="1200"/>
              </a:spcAft>
              <a:buClrTx/>
              <a:buSzPts val="900"/>
              <a:buFontTx/>
            </a:pPr>
            <a:r>
              <a:rPr lang="en-US" altLang="zh-CN" sz="1200" dirty="0">
                <a:effectLst/>
                <a:latin typeface="Times New Roman" panose="02020603050405020304" pitchFamily="18" charset="0"/>
                <a:ea typeface="仿宋" panose="02010609060101010101" pitchFamily="49" charset="-122"/>
                <a:cs typeface="Times New Roman" panose="02020603050405020304" pitchFamily="18" charset="0"/>
              </a:rPr>
              <a:t>[5] </a:t>
            </a:r>
            <a:r>
              <a:rPr lang="zh-CN" altLang="zh-CN" sz="1200" dirty="0">
                <a:latin typeface="Times New Roman" panose="02020603050405020304" pitchFamily="18" charset="0"/>
                <a:cs typeface="Times New Roman" panose="02020603050405020304" pitchFamily="18" charset="0"/>
              </a:rPr>
              <a:t>Kevin Lin, Linjie Li, Chung-Ching Lin, Faisal Ahmed, Zhe Gan, Zicheng Liu, Yumao Lu, and Lijuan Wang. Swinbert: End-to-end transformers with sparse attention for video captioning. In Proceedings of the IEEE Conference on Computer Vision and Pattern Recognition (CVPR), 2022</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 17928</a:t>
            </a:r>
            <a:r>
              <a:rPr lang="en-US" altLang="zh-CN" sz="1200">
                <a:latin typeface="Times New Roman" panose="02020603050405020304" pitchFamily="18" charset="0"/>
                <a:cs typeface="Times New Roman" panose="02020603050405020304" pitchFamily="18" charset="0"/>
              </a:rPr>
              <a:t>-</a:t>
            </a:r>
            <a:r>
              <a:rPr lang="zh-CN" altLang="zh-CN" sz="1200">
                <a:latin typeface="Times New Roman" panose="02020603050405020304" pitchFamily="18" charset="0"/>
                <a:cs typeface="Times New Roman" panose="02020603050405020304" pitchFamily="18" charset="0"/>
              </a:rPr>
              <a:t>17937</a:t>
            </a:r>
            <a:r>
              <a:rPr lang="en-US" altLang="zh-CN" sz="1200" dirty="0">
                <a:effectLst/>
                <a:latin typeface="Times New Roman" panose="02020603050405020304" pitchFamily="18" charset="0"/>
                <a:ea typeface="仿宋" panose="02010609060101010101" pitchFamily="49" charset="-122"/>
                <a:cs typeface="Times New Roman" panose="02020603050405020304" pitchFamily="18" charset="0"/>
              </a:rPr>
              <a:t>.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189.08645669291337,&quot;top&quot;:137.9,&quot;width&quot;:652.645118110236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1360</TotalTime>
  <Words>1386</Words>
  <Application>Microsoft Office PowerPoint</Application>
  <PresentationFormat>宽屏</PresentationFormat>
  <Paragraphs>104</Paragraphs>
  <Slides>9</Slides>
  <Notes>1</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9</vt:i4>
      </vt:variant>
    </vt:vector>
  </HeadingPairs>
  <TitlesOfParts>
    <vt:vector size="17" baseType="lpstr">
      <vt:lpstr>等线</vt:lpstr>
      <vt:lpstr>等线 Light</vt:lpstr>
      <vt:lpstr>微软雅黑</vt:lpstr>
      <vt:lpstr>Arial</vt:lpstr>
      <vt:lpstr>Times New Roman</vt:lpstr>
      <vt:lpstr>Wingdings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绍启 田</dc:creator>
  <cp:lastModifiedBy>绍启 田</cp:lastModifiedBy>
  <cp:revision>101</cp:revision>
  <dcterms:created xsi:type="dcterms:W3CDTF">2026-06-30T07:17:00Z</dcterms:created>
  <dcterms:modified xsi:type="dcterms:W3CDTF">2026-07-08T01:52:48Z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2052-12.1.0.26381</vt:lpwstr>
  </property>
  <property fmtid="{D5CDD505-2E9C-101B-9397-08002B2CF9AE}" pid="3" name="ICV">
    <vt:lpwstr>AAA6DABAFC68410AA7ED1576A6551C93_12</vt:lpwstr>
  </property>
</Properties>
</file>