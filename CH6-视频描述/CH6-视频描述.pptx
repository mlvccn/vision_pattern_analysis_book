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96" r:id="rId2"/>
    <p:sldId id="291" r:id="rId3"/>
    <p:sldId id="258" r:id="rId4"/>
    <p:sldId id="259" r:id="rId5"/>
    <p:sldId id="260" r:id="rId6"/>
    <p:sldId id="295" r:id="rId7"/>
    <p:sldId id="262" r:id="rId8"/>
    <p:sldId id="261" r:id="rId9"/>
    <p:sldId id="263" r:id="rId10"/>
    <p:sldId id="264" r:id="rId11"/>
    <p:sldId id="265" r:id="rId12"/>
    <p:sldId id="266" r:id="rId13"/>
    <p:sldId id="267" r:id="rId14"/>
    <p:sldId id="268" r:id="rId15"/>
    <p:sldId id="282" r:id="rId16"/>
    <p:sldId id="293"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F87"/>
    <a:srgbClr val="0066CC"/>
    <a:srgbClr val="192E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5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FE52-C6E7-4B1A-9A72-EDC7F2CC29C4}"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1401E-ED6B-48B2-A950-5A30F0C2C18A}" type="slidenum">
              <a:rPr lang="zh-CN" altLang="en-US" smtClean="0"/>
              <a:t>‹#›</a:t>
            </a:fld>
            <a:endParaRPr lang="zh-CN" altLang="en-US"/>
          </a:p>
        </p:txBody>
      </p:sp>
    </p:spTree>
    <p:extLst>
      <p:ext uri="{BB962C8B-B14F-4D97-AF65-F5344CB8AC3E}">
        <p14:creationId xmlns:p14="http://schemas.microsoft.com/office/powerpoint/2010/main" val="3327810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B1401E-ED6B-48B2-A950-5A30F0C2C18A}" type="slidenum">
              <a:rPr lang="zh-CN" altLang="en-US" smtClean="0"/>
              <a:t>1</a:t>
            </a:fld>
            <a:endParaRPr lang="zh-CN" altLang="en-US"/>
          </a:p>
        </p:txBody>
      </p:sp>
    </p:spTree>
    <p:extLst>
      <p:ext uri="{BB962C8B-B14F-4D97-AF65-F5344CB8AC3E}">
        <p14:creationId xmlns:p14="http://schemas.microsoft.com/office/powerpoint/2010/main" val="1428297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E84747-1C49-D6AB-46A1-19A23155636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13D8F18-AEF4-9E8E-924B-CF73DE974B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70C5D38-03AC-EB27-FE1C-DE501F5B26E2}"/>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A94FCC54-03B9-5011-B187-B0476B2F7A5D}"/>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E0B67882-B289-855C-1710-FA58EA54EB41}"/>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78616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04FE8D-86CB-3534-C6F2-062EE8E2B30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A28D29-47A1-5532-1937-49098FDB366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254200-1B09-69B9-39EE-2AE07C4BF144}"/>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1C94E525-1B37-B9A7-E080-FE20B08687D8}"/>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6B6F8E7D-275F-7C2F-68BD-AD477D462EB7}"/>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928328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65CE0-EF9A-A267-4A9F-DD93074A660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9B937B4-49C7-6544-A765-C2D9F2C17C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BB680EE-AEFB-3CA0-9B46-99A4A274DBFF}"/>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B1CE92B8-5EC7-795F-84C0-0FBAF1A18962}"/>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851AA31D-1987-30F0-2FD0-E4E692EA17BA}"/>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66955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7FB4A-3DF6-B52D-9EE7-C72728E376F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2C17C8E-2CF6-A0B4-123F-9883EFB8A39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308FBBA-C685-7362-368C-F1974DE5EEE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BE4A3E8-7C9E-6444-F555-DE846CC989F9}"/>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C1BDF25F-06D3-7503-E14B-DD118D0FC6F8}"/>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7" name="灯片编号占位符 6">
            <a:extLst>
              <a:ext uri="{FF2B5EF4-FFF2-40B4-BE49-F238E27FC236}">
                <a16:creationId xmlns:a16="http://schemas.microsoft.com/office/drawing/2014/main" id="{D169A870-2A97-CC07-713D-7D8EB5DD2791}"/>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28135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93E9E5-191E-0DCB-A7A7-1125873316E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92A3025-30E2-CC4A-C02F-BE49BE6CDD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8EB5F3-7D52-0074-8601-18CEB4FE7B2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B877E73-14C5-4B7B-59A0-D95F757698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3A76B99-0AFC-4011-1127-12371586F9F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55F8AC7-2CA6-D936-0E5D-B36922ECA7BB}"/>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10DA63A5-B4B3-1F98-9011-1ABD044DA2BD}"/>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9" name="灯片编号占位符 8">
            <a:extLst>
              <a:ext uri="{FF2B5EF4-FFF2-40B4-BE49-F238E27FC236}">
                <a16:creationId xmlns:a16="http://schemas.microsoft.com/office/drawing/2014/main" id="{780F9919-6AA8-A2C1-C5A3-31E69A3D987F}"/>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160208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114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A0D4FC17-49DC-0FE5-14EC-72D5AE81FC42}"/>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动作识别</a:t>
            </a:r>
          </a:p>
        </p:txBody>
      </p:sp>
      <p:sp>
        <p:nvSpPr>
          <p:cNvPr id="4" name="灯片编号占位符 3">
            <a:extLst>
              <a:ext uri="{FF2B5EF4-FFF2-40B4-BE49-F238E27FC236}">
                <a16:creationId xmlns:a16="http://schemas.microsoft.com/office/drawing/2014/main" id="{A2A675A0-F7C1-42CE-C25A-161AC73D1E1E}"/>
              </a:ext>
            </a:extLst>
          </p:cNvPr>
          <p:cNvSpPr>
            <a:spLocks noGrp="1"/>
          </p:cNvSpPr>
          <p:nvPr>
            <p:ph type="sldNum" sz="quarter" idx="12"/>
          </p:nvPr>
        </p:nvSpPr>
        <p:spPr>
          <a:xfrm>
            <a:off x="9294263" y="6473536"/>
            <a:ext cx="2743200" cy="365125"/>
          </a:xfrm>
        </p:spPr>
        <p:txBody>
          <a:bodyPr/>
          <a:lstStyle/>
          <a:p>
            <a:fld id="{9FD78845-01F8-4781-BC44-71E27FEEA8FC}" type="slidenum">
              <a:rPr lang="zh-CN" altLang="en-US" smtClean="0"/>
              <a:t>‹#›</a:t>
            </a:fld>
            <a:endParaRPr lang="zh-CN" altLang="en-US" dirty="0"/>
          </a:p>
        </p:txBody>
      </p:sp>
      <p:sp>
        <p:nvSpPr>
          <p:cNvPr id="5" name="矩形 4">
            <a:extLst>
              <a:ext uri="{FF2B5EF4-FFF2-40B4-BE49-F238E27FC236}">
                <a16:creationId xmlns:a16="http://schemas.microsoft.com/office/drawing/2014/main" id="{E3C13B8C-828A-D377-E284-782210DF7790}"/>
              </a:ext>
            </a:extLst>
          </p:cNvPr>
          <p:cNvSpPr/>
          <p:nvPr userDrawn="1"/>
        </p:nvSpPr>
        <p:spPr>
          <a:xfrm>
            <a:off x="0" y="0"/>
            <a:ext cx="12192000" cy="675118"/>
          </a:xfrm>
          <a:prstGeom prst="rect">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7657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9430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960279-D810-DE67-1D47-FF44C1FC3C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3F51DE6-986A-7ADA-286E-1D8CC5908A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EEF086-C898-9193-8E2F-DAFC96E5F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21517C-8B76-8BBB-1434-4C28FCD768B8}"/>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64F53C8A-C824-320A-9005-007DD9434EA5}"/>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7" name="灯片编号占位符 6">
            <a:extLst>
              <a:ext uri="{FF2B5EF4-FFF2-40B4-BE49-F238E27FC236}">
                <a16:creationId xmlns:a16="http://schemas.microsoft.com/office/drawing/2014/main" id="{95080528-30F0-5AAD-FEE4-5CFEBE6FA009}"/>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978776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19CA79-E00D-4F72-1F6E-087D5BF0455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63BEDA3-9A1D-EB5E-3BB6-B1E09877C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59E9B71-1E19-C1DB-ED10-F43A64085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CB0E77B-2103-590E-A9F1-2AD64AA1EED5}"/>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2D6B278C-83E9-5DED-9B25-A77721342801}"/>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7" name="灯片编号占位符 6">
            <a:extLst>
              <a:ext uri="{FF2B5EF4-FFF2-40B4-BE49-F238E27FC236}">
                <a16:creationId xmlns:a16="http://schemas.microsoft.com/office/drawing/2014/main" id="{43A75E7B-7F9F-65F1-962A-DD26E9CA0425}"/>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3802606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E7ABF4-EDC7-800E-2808-84558FFC2BC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FC59CCF-058E-4AAC-6166-B8F908966D7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7ABC29-A20B-7138-9F70-72EFB0E7870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AC0EAA22-911C-FB27-966E-7F8B809A4CE2}"/>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2B95254B-18E4-C7CC-FF06-981CA1D7F948}"/>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777477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F3650BF-3EF0-3775-16A5-99544FAB755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C9B7817-2735-1D67-85DF-B232EC677E8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AE93F3-05AD-7A3A-9C65-C79AE1FCCB6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33EA83B6-8D41-A3D9-D3FC-8E359B5A34F7}"/>
              </a:ext>
            </a:extLst>
          </p:cNvPr>
          <p:cNvSpPr>
            <a:spLocks noGrp="1"/>
          </p:cNvSpPr>
          <p:nvPr>
            <p:ph type="ftr" sz="quarter" idx="11"/>
          </p:nvPr>
        </p:nvSpPr>
        <p:spPr/>
        <p:txBody>
          <a:body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8D1BA522-0EF7-DE91-449B-734A934A3E18}"/>
              </a:ext>
            </a:extLst>
          </p:cNvPr>
          <p:cNvSpPr>
            <a:spLocks noGrp="1"/>
          </p:cNvSpPr>
          <p:nvPr>
            <p:ph type="sldNum" sz="quarter" idx="12"/>
          </p:nvPr>
        </p:nvSpPr>
        <p:spPr/>
        <p:txBody>
          <a:body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1356513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5C439E-29C6-6951-FF0F-4ED7E33209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729F0AF-7897-C6A1-01F0-AA2F24DC5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B1470C-73F8-451A-E687-F91AADD1C7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CN" altLang="en-US"/>
          </a:p>
        </p:txBody>
      </p:sp>
      <p:sp>
        <p:nvSpPr>
          <p:cNvPr id="5" name="页脚占位符 4">
            <a:extLst>
              <a:ext uri="{FF2B5EF4-FFF2-40B4-BE49-F238E27FC236}">
                <a16:creationId xmlns:a16="http://schemas.microsoft.com/office/drawing/2014/main" id="{6DA50941-8201-A070-1471-7D51AD646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zh-CN" altLang="en-US"/>
              <a:t>视觉模式分析及实践 </a:t>
            </a:r>
            <a:r>
              <a:rPr lang="en-US" altLang="zh-CN"/>
              <a:t>—— </a:t>
            </a:r>
            <a:r>
              <a:rPr lang="zh-CN" altLang="en-US"/>
              <a:t>动作识别</a:t>
            </a:r>
          </a:p>
        </p:txBody>
      </p:sp>
      <p:sp>
        <p:nvSpPr>
          <p:cNvPr id="6" name="灯片编号占位符 5">
            <a:extLst>
              <a:ext uri="{FF2B5EF4-FFF2-40B4-BE49-F238E27FC236}">
                <a16:creationId xmlns:a16="http://schemas.microsoft.com/office/drawing/2014/main" id="{EC4811DD-121C-B478-99E4-729B269DD8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78845-01F8-4781-BC44-71E27FEEA8FC}" type="slidenum">
              <a:rPr lang="zh-CN" altLang="en-US" smtClean="0"/>
              <a:t>‹#›</a:t>
            </a:fld>
            <a:endParaRPr lang="zh-CN" altLang="en-US"/>
          </a:p>
        </p:txBody>
      </p:sp>
    </p:spTree>
    <p:extLst>
      <p:ext uri="{BB962C8B-B14F-4D97-AF65-F5344CB8AC3E}">
        <p14:creationId xmlns:p14="http://schemas.microsoft.com/office/powerpoint/2010/main" val="2455478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FCACC26-3CBC-3BC0-35EC-0FB4FFC9EB3C}"/>
              </a:ext>
            </a:extLst>
          </p:cNvPr>
          <p:cNvSpPr txBox="1"/>
          <p:nvPr/>
        </p:nvSpPr>
        <p:spPr>
          <a:xfrm>
            <a:off x="0" y="2875002"/>
            <a:ext cx="12192000"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a:t>
            </a:r>
            <a:r>
              <a:rPr kumimoji="0" lang="en-US" altLang="zh-CN"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3</a:t>
            </a:r>
            <a:r>
              <a:rPr kumimoji="0" lang="zh-CN" altLang="en-US"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章 动作识别</a:t>
            </a:r>
            <a:endParaRPr kumimoji="0" lang="zh-CN" altLang="en-US" sz="6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5" name="页脚占位符 3">
            <a:extLst>
              <a:ext uri="{FF2B5EF4-FFF2-40B4-BE49-F238E27FC236}">
                <a16:creationId xmlns:a16="http://schemas.microsoft.com/office/drawing/2014/main" id="{BCCC7118-C2BC-FC07-D4A9-51C28C294231}"/>
              </a:ext>
            </a:extLst>
          </p:cNvPr>
          <p:cNvSpPr txBox="1">
            <a:spLocks/>
          </p:cNvSpPr>
          <p:nvPr/>
        </p:nvSpPr>
        <p:spPr>
          <a:xfrm>
            <a:off x="137160" y="0"/>
            <a:ext cx="4281016" cy="365125"/>
          </a:xfrm>
          <a:prstGeom prst="homePlate">
            <a:avLst/>
          </a:prstGeom>
          <a:solidFill>
            <a:srgbClr val="111F87"/>
          </a:solidFill>
        </p:spPr>
        <p:txBody>
          <a:bodyPr vert="horz" lIns="91440" tIns="45720" rIns="91440" bIns="45720" rtlCol="0" anchor="ctr"/>
          <a:lstStyle>
            <a:defPPr>
              <a:defRPr lang="zh-CN"/>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视觉模式分析及实践 </a:t>
            </a:r>
            <a:r>
              <a:rPr lang="en-US" altLang="zh-CN"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教材 </a:t>
            </a:r>
            <a:r>
              <a:rPr lang="en-US" altLang="zh-CN"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2026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版 </a:t>
            </a:r>
            <a:r>
              <a:rPr lang="en-US" altLang="zh-CN"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杭州电子科技大学</a:t>
            </a:r>
          </a:p>
        </p:txBody>
      </p:sp>
      <p:sp>
        <p:nvSpPr>
          <p:cNvPr id="6" name="矩形 5">
            <a:extLst>
              <a:ext uri="{FF2B5EF4-FFF2-40B4-BE49-F238E27FC236}">
                <a16:creationId xmlns:a16="http://schemas.microsoft.com/office/drawing/2014/main" id="{FF6AAFA9-ABCC-678C-CE57-0B5533D76466}"/>
              </a:ext>
            </a:extLst>
          </p:cNvPr>
          <p:cNvSpPr/>
          <p:nvPr/>
        </p:nvSpPr>
        <p:spPr>
          <a:xfrm>
            <a:off x="0" y="2565000"/>
            <a:ext cx="12191999" cy="1728000"/>
          </a:xfrm>
          <a:prstGeom prst="rect">
            <a:avLst/>
          </a:prstGeom>
          <a:solidFill>
            <a:srgbClr val="111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600" dirty="0">
                <a:latin typeface="Times New Roman" panose="02020603050405020304" pitchFamily="18" charset="0"/>
                <a:ea typeface="微软雅黑" panose="020B0503020204020204" pitchFamily="34" charset="-122"/>
              </a:rPr>
              <a:t>第</a:t>
            </a:r>
            <a:r>
              <a:rPr lang="en-US" altLang="zh-CN" sz="6600" dirty="0">
                <a:latin typeface="Times New Roman" panose="02020603050405020304" pitchFamily="18" charset="0"/>
                <a:ea typeface="微软雅黑" panose="020B0503020204020204" pitchFamily="34" charset="-122"/>
              </a:rPr>
              <a:t>6</a:t>
            </a:r>
            <a:r>
              <a:rPr lang="zh-CN" altLang="en-US" sz="6600" dirty="0">
                <a:latin typeface="Times New Roman" panose="02020603050405020304" pitchFamily="18" charset="0"/>
                <a:ea typeface="微软雅黑" panose="020B0503020204020204" pitchFamily="34" charset="-122"/>
              </a:rPr>
              <a:t>章 视频描述</a:t>
            </a:r>
          </a:p>
        </p:txBody>
      </p:sp>
      <p:sp>
        <p:nvSpPr>
          <p:cNvPr id="10" name="箭头: V 形 9">
            <a:extLst>
              <a:ext uri="{FF2B5EF4-FFF2-40B4-BE49-F238E27FC236}">
                <a16:creationId xmlns:a16="http://schemas.microsoft.com/office/drawing/2014/main" id="{7AF1BAC2-A2D5-D8A9-74A2-95B0FA5B286B}"/>
              </a:ext>
            </a:extLst>
          </p:cNvPr>
          <p:cNvSpPr/>
          <p:nvPr/>
        </p:nvSpPr>
        <p:spPr>
          <a:xfrm>
            <a:off x="4272814" y="-1"/>
            <a:ext cx="365760" cy="365125"/>
          </a:xfrm>
          <a:prstGeom prst="chevron">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矩形 10">
            <a:extLst>
              <a:ext uri="{FF2B5EF4-FFF2-40B4-BE49-F238E27FC236}">
                <a16:creationId xmlns:a16="http://schemas.microsoft.com/office/drawing/2014/main" id="{3417FAEE-013D-FD5B-E77C-2AE41D330D8B}"/>
              </a:ext>
            </a:extLst>
          </p:cNvPr>
          <p:cNvSpPr/>
          <p:nvPr/>
        </p:nvSpPr>
        <p:spPr>
          <a:xfrm>
            <a:off x="0" y="-1"/>
            <a:ext cx="109728" cy="365124"/>
          </a:xfrm>
          <a:prstGeom prst="rect">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635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a:extLst>
              <a:ext uri="{FF2B5EF4-FFF2-40B4-BE49-F238E27FC236}">
                <a16:creationId xmlns:a16="http://schemas.microsoft.com/office/drawing/2014/main" id="{D68F3AAF-EB30-0DE9-5027-CB027341D765}"/>
              </a:ext>
            </a:extLst>
          </p:cNvPr>
          <p:cNvGrpSpPr/>
          <p:nvPr/>
        </p:nvGrpSpPr>
        <p:grpSpPr>
          <a:xfrm>
            <a:off x="2401398" y="2299915"/>
            <a:ext cx="8288593" cy="2612465"/>
            <a:chOff x="2401398" y="2574235"/>
            <a:chExt cx="8288593" cy="2612465"/>
          </a:xfrm>
        </p:grpSpPr>
        <p:grpSp>
          <p:nvGrpSpPr>
            <p:cNvPr id="11" name="组合 10">
              <a:extLst>
                <a:ext uri="{FF2B5EF4-FFF2-40B4-BE49-F238E27FC236}">
                  <a16:creationId xmlns:a16="http://schemas.microsoft.com/office/drawing/2014/main" id="{9101A968-AF48-3ACA-2E3C-ABF9A5E8F146}"/>
                </a:ext>
              </a:extLst>
            </p:cNvPr>
            <p:cNvGrpSpPr/>
            <p:nvPr/>
          </p:nvGrpSpPr>
          <p:grpSpPr>
            <a:xfrm>
              <a:off x="2401398" y="2574235"/>
              <a:ext cx="4194402" cy="625474"/>
              <a:chOff x="2290870" y="2040671"/>
              <a:chExt cx="4194402" cy="625474"/>
            </a:xfrm>
          </p:grpSpPr>
          <p:sp>
            <p:nvSpPr>
              <p:cNvPr id="12" name="AutoShape 51">
                <a:extLst>
                  <a:ext uri="{FF2B5EF4-FFF2-40B4-BE49-F238E27FC236}">
                    <a16:creationId xmlns:a16="http://schemas.microsoft.com/office/drawing/2014/main" id="{38EF597D-ADEB-602A-AD27-8581E978C813}"/>
                  </a:ext>
                </a:extLst>
              </p:cNvPr>
              <p:cNvSpPr>
                <a:spLocks noChangeArrowheads="1"/>
              </p:cNvSpPr>
              <p:nvPr/>
            </p:nvSpPr>
            <p:spPr bwMode="gray">
              <a:xfrm flipH="1">
                <a:off x="2740856" y="2040671"/>
                <a:ext cx="3744416" cy="625474"/>
              </a:xfrm>
              <a:prstGeom prst="rect">
                <a:avLst/>
              </a:prstGeom>
              <a:noFill/>
              <a:ln w="28575" algn="ctr">
                <a:noFill/>
                <a:round/>
              </a:ln>
              <a:effectLst/>
            </p:spPr>
            <p:txBody>
              <a:bodyPr wrap="none" lIns="288000" anchor="ctr"/>
              <a:lstStyle/>
              <a:p>
                <a:pPr>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任务介绍</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3" name="椭圆 12">
                <a:extLst>
                  <a:ext uri="{FF2B5EF4-FFF2-40B4-BE49-F238E27FC236}">
                    <a16:creationId xmlns:a16="http://schemas.microsoft.com/office/drawing/2014/main" id="{D4D0CF59-EBA9-B467-8600-083C11C0CA80}"/>
                  </a:ext>
                </a:extLst>
              </p:cNvPr>
              <p:cNvSpPr/>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14" name="组合 13">
              <a:extLst>
                <a:ext uri="{FF2B5EF4-FFF2-40B4-BE49-F238E27FC236}">
                  <a16:creationId xmlns:a16="http://schemas.microsoft.com/office/drawing/2014/main" id="{B9A40665-B3D2-89B8-045E-6AEAD23530A5}"/>
                </a:ext>
              </a:extLst>
            </p:cNvPr>
            <p:cNvGrpSpPr/>
            <p:nvPr/>
          </p:nvGrpSpPr>
          <p:grpSpPr>
            <a:xfrm>
              <a:off x="2401398" y="3567731"/>
              <a:ext cx="4194402" cy="625474"/>
              <a:chOff x="2290870" y="2040671"/>
              <a:chExt cx="4194402" cy="625474"/>
            </a:xfrm>
          </p:grpSpPr>
          <p:sp>
            <p:nvSpPr>
              <p:cNvPr id="15" name="AutoShape 51">
                <a:extLst>
                  <a:ext uri="{FF2B5EF4-FFF2-40B4-BE49-F238E27FC236}">
                    <a16:creationId xmlns:a16="http://schemas.microsoft.com/office/drawing/2014/main" id="{5C6BA5A2-966C-0082-D827-874745C39AA4}"/>
                  </a:ext>
                </a:extLst>
              </p:cNvPr>
              <p:cNvSpPr>
                <a:spLocks noChangeArrowheads="1"/>
              </p:cNvSpPr>
              <p:nvPr/>
            </p:nvSpPr>
            <p:spPr bwMode="gray">
              <a:xfrm flipH="1">
                <a:off x="2740856" y="2040671"/>
                <a:ext cx="3744416" cy="625474"/>
              </a:xfrm>
              <a:prstGeom prst="rect">
                <a:avLst/>
              </a:prstGeom>
              <a:noFill/>
              <a:ln w="28575" algn="ctr">
                <a:noFill/>
                <a:round/>
              </a:ln>
              <a:effectLst/>
            </p:spPr>
            <p:txBody>
              <a:bodyPr wrap="none" lIns="288000" anchor="ctr"/>
              <a:lstStyle/>
              <a:p>
                <a:pPr>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方法总览</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6" name="椭圆 15">
                <a:extLst>
                  <a:ext uri="{FF2B5EF4-FFF2-40B4-BE49-F238E27FC236}">
                    <a16:creationId xmlns:a16="http://schemas.microsoft.com/office/drawing/2014/main" id="{0B7AB187-E66D-F550-8937-8DC611B830A4}"/>
                  </a:ext>
                </a:extLst>
              </p:cNvPr>
              <p:cNvSpPr/>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17" name="组合 16">
              <a:extLst>
                <a:ext uri="{FF2B5EF4-FFF2-40B4-BE49-F238E27FC236}">
                  <a16:creationId xmlns:a16="http://schemas.microsoft.com/office/drawing/2014/main" id="{A9BFF575-BA77-F45C-D528-5A3A7ECEB964}"/>
                </a:ext>
              </a:extLst>
            </p:cNvPr>
            <p:cNvGrpSpPr/>
            <p:nvPr/>
          </p:nvGrpSpPr>
          <p:grpSpPr>
            <a:xfrm>
              <a:off x="2401398" y="4561226"/>
              <a:ext cx="4194402" cy="625474"/>
              <a:chOff x="2290870" y="2040671"/>
              <a:chExt cx="4194402" cy="625474"/>
            </a:xfrm>
          </p:grpSpPr>
          <p:sp>
            <p:nvSpPr>
              <p:cNvPr id="18" name="AutoShape 51">
                <a:extLst>
                  <a:ext uri="{FF2B5EF4-FFF2-40B4-BE49-F238E27FC236}">
                    <a16:creationId xmlns:a16="http://schemas.microsoft.com/office/drawing/2014/main" id="{1AF606EF-77C0-8FF2-3E3F-B683C10C1B51}"/>
                  </a:ext>
                </a:extLst>
              </p:cNvPr>
              <p:cNvSpPr>
                <a:spLocks noChangeArrowheads="1"/>
              </p:cNvSpPr>
              <p:nvPr/>
            </p:nvSpPr>
            <p:spPr bwMode="gray">
              <a:xfrm flipH="1">
                <a:off x="2740856" y="2040671"/>
                <a:ext cx="3744416" cy="625474"/>
              </a:xfrm>
              <a:prstGeom prst="rect">
                <a:avLst/>
              </a:prstGeom>
              <a:noFill/>
              <a:ln w="28575" algn="ctr">
                <a:noFill/>
                <a:round/>
              </a:ln>
              <a:effectLst/>
            </p:spPr>
            <p:txBody>
              <a:bodyPr wrap="none" lIns="288000" anchor="ctr"/>
              <a:lstStyle/>
              <a:p>
                <a:pPr>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典型方法</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9" name="椭圆 18">
                <a:extLst>
                  <a:ext uri="{FF2B5EF4-FFF2-40B4-BE49-F238E27FC236}">
                    <a16:creationId xmlns:a16="http://schemas.microsoft.com/office/drawing/2014/main" id="{7BF5576F-75A9-F1BA-0520-BD558865B1D7}"/>
                  </a:ext>
                </a:extLst>
              </p:cNvPr>
              <p:cNvSpPr/>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20" name="组合 19">
              <a:extLst>
                <a:ext uri="{FF2B5EF4-FFF2-40B4-BE49-F238E27FC236}">
                  <a16:creationId xmlns:a16="http://schemas.microsoft.com/office/drawing/2014/main" id="{DCA72BBA-8A10-445A-24FF-A05ECFACD84A}"/>
                </a:ext>
              </a:extLst>
            </p:cNvPr>
            <p:cNvGrpSpPr/>
            <p:nvPr/>
          </p:nvGrpSpPr>
          <p:grpSpPr>
            <a:xfrm>
              <a:off x="6495589" y="2574235"/>
              <a:ext cx="4194402" cy="625474"/>
              <a:chOff x="2290870" y="2040671"/>
              <a:chExt cx="4194402" cy="625474"/>
            </a:xfrm>
          </p:grpSpPr>
          <p:sp>
            <p:nvSpPr>
              <p:cNvPr id="21" name="AutoShape 51">
                <a:extLst>
                  <a:ext uri="{FF2B5EF4-FFF2-40B4-BE49-F238E27FC236}">
                    <a16:creationId xmlns:a16="http://schemas.microsoft.com/office/drawing/2014/main" id="{7AFB504A-484C-AFD9-B5A5-B1C181DE0384}"/>
                  </a:ext>
                </a:extLst>
              </p:cNvPr>
              <p:cNvSpPr>
                <a:spLocks noChangeArrowheads="1"/>
              </p:cNvSpPr>
              <p:nvPr/>
            </p:nvSpPr>
            <p:spPr bwMode="gray">
              <a:xfrm flipH="1">
                <a:off x="2740856" y="2040671"/>
                <a:ext cx="3744416" cy="625474"/>
              </a:xfrm>
              <a:prstGeom prst="rect">
                <a:avLst/>
              </a:prstGeom>
              <a:noFill/>
              <a:ln w="28575" algn="ctr">
                <a:noFill/>
                <a:round/>
              </a:ln>
              <a:effectLst/>
            </p:spPr>
            <p:txBody>
              <a:bodyPr wrap="none" lIns="288000" anchor="ctr"/>
              <a:lstStyle/>
              <a:p>
                <a:pPr>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本章习题</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椭圆 21">
                <a:extLst>
                  <a:ext uri="{FF2B5EF4-FFF2-40B4-BE49-F238E27FC236}">
                    <a16:creationId xmlns:a16="http://schemas.microsoft.com/office/drawing/2014/main" id="{6777FAA0-B04A-EEA0-B498-AE495E2598C3}"/>
                  </a:ext>
                </a:extLst>
              </p:cNvPr>
              <p:cNvSpPr/>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23" name="组合 22">
              <a:extLst>
                <a:ext uri="{FF2B5EF4-FFF2-40B4-BE49-F238E27FC236}">
                  <a16:creationId xmlns:a16="http://schemas.microsoft.com/office/drawing/2014/main" id="{4EDEE634-1CBC-8427-6683-FEA3130D642D}"/>
                </a:ext>
              </a:extLst>
            </p:cNvPr>
            <p:cNvGrpSpPr/>
            <p:nvPr/>
          </p:nvGrpSpPr>
          <p:grpSpPr>
            <a:xfrm>
              <a:off x="6495589" y="3567731"/>
              <a:ext cx="4194402" cy="625474"/>
              <a:chOff x="2290870" y="2040671"/>
              <a:chExt cx="4194402" cy="625474"/>
            </a:xfrm>
          </p:grpSpPr>
          <p:sp>
            <p:nvSpPr>
              <p:cNvPr id="24" name="AutoShape 51">
                <a:extLst>
                  <a:ext uri="{FF2B5EF4-FFF2-40B4-BE49-F238E27FC236}">
                    <a16:creationId xmlns:a16="http://schemas.microsoft.com/office/drawing/2014/main" id="{73A587CF-AE59-7E0B-5421-2FD79D115FFE}"/>
                  </a:ext>
                </a:extLst>
              </p:cNvPr>
              <p:cNvSpPr>
                <a:spLocks noChangeArrowheads="1"/>
              </p:cNvSpPr>
              <p:nvPr/>
            </p:nvSpPr>
            <p:spPr bwMode="gray">
              <a:xfrm flipH="1">
                <a:off x="2740856" y="2040671"/>
                <a:ext cx="3744416" cy="625474"/>
              </a:xfrm>
              <a:prstGeom prst="rect">
                <a:avLst/>
              </a:prstGeom>
              <a:noFill/>
              <a:ln w="28575" algn="ctr">
                <a:noFill/>
                <a:round/>
              </a:ln>
              <a:effectLst/>
            </p:spPr>
            <p:txBody>
              <a:bodyPr wrap="none" lIns="288000" anchor="ctr"/>
              <a:lstStyle/>
              <a:p>
                <a:pPr>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参考文献</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椭圆 24">
                <a:extLst>
                  <a:ext uri="{FF2B5EF4-FFF2-40B4-BE49-F238E27FC236}">
                    <a16:creationId xmlns:a16="http://schemas.microsoft.com/office/drawing/2014/main" id="{1881C3F8-B9AB-3AD1-7B86-342DA450FAE4}"/>
                  </a:ext>
                </a:extLst>
              </p:cNvPr>
              <p:cNvSpPr/>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sp>
        <p:nvSpPr>
          <p:cNvPr id="29" name="矩形 28">
            <a:extLst>
              <a:ext uri="{FF2B5EF4-FFF2-40B4-BE49-F238E27FC236}">
                <a16:creationId xmlns:a16="http://schemas.microsoft.com/office/drawing/2014/main" id="{D795735E-076D-2D53-A982-812FD180B3B4}"/>
              </a:ext>
            </a:extLst>
          </p:cNvPr>
          <p:cNvSpPr/>
          <p:nvPr/>
        </p:nvSpPr>
        <p:spPr>
          <a:xfrm>
            <a:off x="402431" y="1088136"/>
            <a:ext cx="11387138" cy="5001768"/>
          </a:xfrm>
          <a:prstGeom prst="rect">
            <a:avLst/>
          </a:prstGeom>
          <a:noFill/>
          <a:ln>
            <a:solidFill>
              <a:srgbClr val="111F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矩形 29">
            <a:extLst>
              <a:ext uri="{FF2B5EF4-FFF2-40B4-BE49-F238E27FC236}">
                <a16:creationId xmlns:a16="http://schemas.microsoft.com/office/drawing/2014/main" id="{70398B5D-D6FC-55C4-0C76-C57914AE6264}"/>
              </a:ext>
            </a:extLst>
          </p:cNvPr>
          <p:cNvSpPr/>
          <p:nvPr/>
        </p:nvSpPr>
        <p:spPr>
          <a:xfrm>
            <a:off x="4260000" y="5979904"/>
            <a:ext cx="3672000" cy="216000"/>
          </a:xfrm>
          <a:prstGeom prst="rect">
            <a:avLst/>
          </a:prstGeom>
          <a:solidFill>
            <a:srgbClr val="111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文本框 36">
            <a:extLst>
              <a:ext uri="{FF2B5EF4-FFF2-40B4-BE49-F238E27FC236}">
                <a16:creationId xmlns:a16="http://schemas.microsoft.com/office/drawing/2014/main" id="{4DDDF307-C711-EB3D-854F-44F9B87892CF}"/>
              </a:ext>
            </a:extLst>
          </p:cNvPr>
          <p:cNvSpPr txBox="1"/>
          <p:nvPr/>
        </p:nvSpPr>
        <p:spPr>
          <a:xfrm rot="16200000">
            <a:off x="565050" y="-471714"/>
            <a:ext cx="492443" cy="1622544"/>
          </a:xfrm>
          <a:prstGeom prst="rect">
            <a:avLst/>
          </a:prstGeom>
          <a:noFill/>
          <a:ln>
            <a:noFill/>
          </a:ln>
        </p:spPr>
        <p:txBody>
          <a:bodyPr vert="eaVert" wrap="square" lIns="0" tIns="0" rIns="0" bIns="0" rtlCol="0">
            <a:spAutoFit/>
          </a:bodyPr>
          <a:lstStyle/>
          <a:p>
            <a:r>
              <a:rPr lang="zh-CN" altLang="en-US" sz="3200" b="1" dirty="0">
                <a:solidFill>
                  <a:schemeClr val="bg1"/>
                </a:solidFill>
                <a:effectLst>
                  <a:outerShdw blurRad="50800" dist="38100" dir="2700000" algn="tl" rotWithShape="0">
                    <a:prstClr val="black">
                      <a:alpha val="9000"/>
                    </a:prstClr>
                  </a:outerShdw>
                </a:effectLst>
                <a:latin typeface="Times New Roman" panose="02020603050405020304" pitchFamily="18" charset="0"/>
                <a:ea typeface="微软雅黑" panose="020B0503020204020204" pitchFamily="34" charset="-122"/>
                <a:cs typeface="+mn-ea"/>
                <a:sym typeface="Times New Roman" panose="02020603050405020304" pitchFamily="18" charset="0"/>
              </a:rPr>
              <a:t> 目录</a:t>
            </a:r>
          </a:p>
        </p:txBody>
      </p:sp>
      <p:sp>
        <p:nvSpPr>
          <p:cNvPr id="40" name="灯片编号占位符 39">
            <a:extLst>
              <a:ext uri="{FF2B5EF4-FFF2-40B4-BE49-F238E27FC236}">
                <a16:creationId xmlns:a16="http://schemas.microsoft.com/office/drawing/2014/main" id="{374D9BDA-4F62-EAF2-F7B8-CBF7A9F9729C}"/>
              </a:ext>
            </a:extLst>
          </p:cNvPr>
          <p:cNvSpPr>
            <a:spLocks noGrp="1"/>
          </p:cNvSpPr>
          <p:nvPr>
            <p:ph type="sldNum" sz="quarter" idx="12"/>
          </p:nvPr>
        </p:nvSpPr>
        <p:spPr/>
        <p:txBody>
          <a:bodyPr/>
          <a:lstStyle/>
          <a:p>
            <a:fld id="{9FD78845-01F8-4781-BC44-71E27FEEA8FC}" type="slidenum">
              <a:rPr lang="zh-CN" altLang="en-US" smtClean="0"/>
              <a:t>2</a:t>
            </a:fld>
            <a:endParaRPr lang="zh-CN" altLang="en-US"/>
          </a:p>
        </p:txBody>
      </p:sp>
      <p:sp>
        <p:nvSpPr>
          <p:cNvPr id="41" name="页脚占位符 40">
            <a:extLst>
              <a:ext uri="{FF2B5EF4-FFF2-40B4-BE49-F238E27FC236}">
                <a16:creationId xmlns:a16="http://schemas.microsoft.com/office/drawing/2014/main" id="{795AAA35-5213-4A85-81C7-E6BB2757F417}"/>
              </a:ext>
            </a:extLst>
          </p:cNvPr>
          <p:cNvSpPr>
            <a:spLocks noGrp="1"/>
          </p:cNvSpPr>
          <p:nvPr>
            <p:ph type="ftr" sz="quarter" idx="11"/>
          </p:nvPr>
        </p:nvSpPr>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3844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8FF32217-A4EC-D083-5496-6EA8030194C9}"/>
              </a:ext>
            </a:extLst>
          </p:cNvPr>
          <p:cNvSpPr txBox="1"/>
          <p:nvPr/>
        </p:nvSpPr>
        <p:spPr>
          <a:xfrm>
            <a:off x="644107" y="895931"/>
            <a:ext cx="11252058" cy="87421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图像描述：</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为给定的静态图片自动生成一句自然语言描述的任务。</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nSpc>
                <a:spcPct val="150000"/>
              </a:lnSpc>
              <a:buFont typeface="Wingdings" panose="05000000000000000000" pitchFamily="2" charset="2"/>
              <a:buChar char="l"/>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视频描述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为给定的视频自动生成自然语言描述的任务，需要建模视频中多样复杂的时空特征与语义信息。</a:t>
            </a:r>
          </a:p>
        </p:txBody>
      </p:sp>
      <p:sp>
        <p:nvSpPr>
          <p:cNvPr id="36" name="文本框 35">
            <a:extLst>
              <a:ext uri="{FF2B5EF4-FFF2-40B4-BE49-F238E27FC236}">
                <a16:creationId xmlns:a16="http://schemas.microsoft.com/office/drawing/2014/main" id="{7A41DAD0-2EE8-2969-0782-50EBD80A7F5D}"/>
              </a:ext>
            </a:extLst>
          </p:cNvPr>
          <p:cNvSpPr txBox="1"/>
          <p:nvPr/>
        </p:nvSpPr>
        <p:spPr>
          <a:xfrm>
            <a:off x="2672083" y="4666954"/>
            <a:ext cx="6847833"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6.1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实际应用场景</a:t>
            </a:r>
          </a:p>
        </p:txBody>
      </p:sp>
      <p:sp>
        <p:nvSpPr>
          <p:cNvPr id="34" name="文本框 33">
            <a:extLst>
              <a:ext uri="{FF2B5EF4-FFF2-40B4-BE49-F238E27FC236}">
                <a16:creationId xmlns:a16="http://schemas.microsoft.com/office/drawing/2014/main" id="{F4CD8B9D-FEE0-0C56-D9BF-D9097EB5EBAE}"/>
              </a:ext>
            </a:extLst>
          </p:cNvPr>
          <p:cNvSpPr txBox="1"/>
          <p:nvPr/>
        </p:nvSpPr>
        <p:spPr>
          <a:xfrm>
            <a:off x="0" y="44674"/>
            <a:ext cx="6125950" cy="584775"/>
          </a:xfrm>
          <a:prstGeom prst="rect">
            <a:avLst/>
          </a:prstGeom>
          <a:noFill/>
        </p:spPr>
        <p:txBody>
          <a:bodyPr wrap="square">
            <a:spAutoFit/>
          </a:bodyPr>
          <a:lstStyle/>
          <a:p>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6.1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任务介绍</a:t>
            </a:r>
          </a:p>
        </p:txBody>
      </p:sp>
      <p:sp>
        <p:nvSpPr>
          <p:cNvPr id="38" name="灯片编号占位符 37">
            <a:extLst>
              <a:ext uri="{FF2B5EF4-FFF2-40B4-BE49-F238E27FC236}">
                <a16:creationId xmlns:a16="http://schemas.microsoft.com/office/drawing/2014/main" id="{42C5172A-EFFF-28D8-26D6-0D726B068A99}"/>
              </a:ext>
            </a:extLst>
          </p:cNvPr>
          <p:cNvSpPr>
            <a:spLocks noGrp="1"/>
          </p:cNvSpPr>
          <p:nvPr>
            <p:ph type="sldNum" sz="quarter" idx="12"/>
          </p:nvPr>
        </p:nvSpPr>
        <p:spPr/>
        <p:txBody>
          <a:bodyPr/>
          <a:lstStyle/>
          <a:p>
            <a:fld id="{9FD78845-01F8-4781-BC44-71E27FEEA8FC}" type="slidenum">
              <a:rPr lang="zh-CN" altLang="en-US" smtClean="0"/>
              <a:t>3</a:t>
            </a:fld>
            <a:endParaRPr lang="zh-CN" altLang="en-US"/>
          </a:p>
        </p:txBody>
      </p:sp>
      <p:sp>
        <p:nvSpPr>
          <p:cNvPr id="39" name="页脚占位符 38">
            <a:extLst>
              <a:ext uri="{FF2B5EF4-FFF2-40B4-BE49-F238E27FC236}">
                <a16:creationId xmlns:a16="http://schemas.microsoft.com/office/drawing/2014/main" id="{2293EEF3-1B6B-C7FC-14E7-3BBF647C2476}"/>
              </a:ext>
            </a:extLst>
          </p:cNvPr>
          <p:cNvSpPr>
            <a:spLocks noGrp="1"/>
          </p:cNvSpPr>
          <p:nvPr>
            <p:ph type="ftr" sz="quarter" idx="11"/>
          </p:nvPr>
        </p:nvSpPr>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zh-CN" altLang="en-US" sz="12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3BAC411C-0BD3-50D0-4CBE-6BED92C6895E}"/>
              </a:ext>
            </a:extLst>
          </p:cNvPr>
          <p:cNvPicPr>
            <a:picLocks noChangeAspect="1"/>
          </p:cNvPicPr>
          <p:nvPr/>
        </p:nvPicPr>
        <p:blipFill>
          <a:blip r:embed="rId2"/>
          <a:stretch>
            <a:fillRect/>
          </a:stretch>
        </p:blipFill>
        <p:spPr>
          <a:xfrm>
            <a:off x="1380846" y="2935867"/>
            <a:ext cx="8982356" cy="1646106"/>
          </a:xfrm>
          <a:prstGeom prst="rect">
            <a:avLst/>
          </a:prstGeom>
        </p:spPr>
      </p:pic>
    </p:spTree>
    <p:extLst>
      <p:ext uri="{BB962C8B-B14F-4D97-AF65-F5344CB8AC3E}">
        <p14:creationId xmlns:p14="http://schemas.microsoft.com/office/powerpoint/2010/main" val="1889826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文本框 276">
            <a:extLst>
              <a:ext uri="{FF2B5EF4-FFF2-40B4-BE49-F238E27FC236}">
                <a16:creationId xmlns:a16="http://schemas.microsoft.com/office/drawing/2014/main" id="{D971D876-3467-8491-EE92-1F1FE2EDCD6F}"/>
              </a:ext>
            </a:extLst>
          </p:cNvPr>
          <p:cNvSpPr txBox="1"/>
          <p:nvPr/>
        </p:nvSpPr>
        <p:spPr>
          <a:xfrm>
            <a:off x="0" y="1041281"/>
            <a:ext cx="12191999" cy="874214"/>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视频描述包含视频理解和描述生成两个部分，因此常使用</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编码器</a:t>
            </a:r>
            <a:r>
              <a:rPr lang="en-US" altLang="zh-CN"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解码器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Encoder-Decoder</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）架构，使用编码器部分对视觉内容进行编码后，通过解码器生成对应描述文本。</a:t>
            </a:r>
          </a:p>
        </p:txBody>
      </p:sp>
      <p:sp>
        <p:nvSpPr>
          <p:cNvPr id="281" name="文本框 280">
            <a:extLst>
              <a:ext uri="{FF2B5EF4-FFF2-40B4-BE49-F238E27FC236}">
                <a16:creationId xmlns:a16="http://schemas.microsoft.com/office/drawing/2014/main" id="{8A7580EA-A9A0-DA75-1501-DE28B77BBAD0}"/>
              </a:ext>
            </a:extLst>
          </p:cNvPr>
          <p:cNvSpPr txBox="1"/>
          <p:nvPr/>
        </p:nvSpPr>
        <p:spPr>
          <a:xfrm>
            <a:off x="1434082" y="5694511"/>
            <a:ext cx="9323836" cy="276999"/>
          </a:xfrm>
          <a:prstGeom prst="rect">
            <a:avLst/>
          </a:prstGeom>
          <a:noFill/>
        </p:spPr>
        <p:txBody>
          <a:bodyPr wrap="square">
            <a:spAutoFit/>
          </a:bodyPr>
          <a:lstStyle/>
          <a:p>
            <a:pPr algn="ctr"/>
            <a:r>
              <a:rPr lang="zh-CN" altLang="zh-CN"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a:t>
            </a:r>
            <a:r>
              <a:rPr lang="zh-CN" altLang="zh-CN" sz="12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单语句和密集视频描述对比</a:t>
            </a:r>
          </a:p>
        </p:txBody>
      </p:sp>
      <p:sp>
        <p:nvSpPr>
          <p:cNvPr id="4" name="文本框 3">
            <a:extLst>
              <a:ext uri="{FF2B5EF4-FFF2-40B4-BE49-F238E27FC236}">
                <a16:creationId xmlns:a16="http://schemas.microsoft.com/office/drawing/2014/main" id="{B6093637-F40E-6AF7-7BF8-2BE0A132ED60}"/>
              </a:ext>
            </a:extLst>
          </p:cNvPr>
          <p:cNvSpPr txBox="1"/>
          <p:nvPr/>
        </p:nvSpPr>
        <p:spPr>
          <a:xfrm>
            <a:off x="0" y="44674"/>
            <a:ext cx="6125950" cy="584775"/>
          </a:xfrm>
          <a:prstGeom prst="rect">
            <a:avLst/>
          </a:prstGeom>
          <a:noFill/>
        </p:spPr>
        <p:txBody>
          <a:bodyPr wrap="square">
            <a:spAutoFit/>
          </a:bodyPr>
          <a:lstStyle/>
          <a:p>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方法总览</a:t>
            </a:r>
          </a:p>
        </p:txBody>
      </p:sp>
      <p:sp>
        <p:nvSpPr>
          <p:cNvPr id="6" name="灯片编号占位符 5">
            <a:extLst>
              <a:ext uri="{FF2B5EF4-FFF2-40B4-BE49-F238E27FC236}">
                <a16:creationId xmlns:a16="http://schemas.microsoft.com/office/drawing/2014/main" id="{3F9F6C6A-E84F-464E-A6CE-0C1721F973FE}"/>
              </a:ext>
            </a:extLst>
          </p:cNvPr>
          <p:cNvSpPr>
            <a:spLocks noGrp="1"/>
          </p:cNvSpPr>
          <p:nvPr>
            <p:ph type="sldNum" sz="quarter" idx="12"/>
          </p:nvPr>
        </p:nvSpPr>
        <p:spPr/>
        <p:txBody>
          <a:bodyPr/>
          <a:lstStyle/>
          <a:p>
            <a:fld id="{9FD78845-01F8-4781-BC44-71E27FEEA8FC}" type="slidenum">
              <a:rPr lang="zh-CN" altLang="en-US" smtClean="0"/>
              <a:t>4</a:t>
            </a:fld>
            <a:endParaRPr lang="zh-CN" altLang="en-US"/>
          </a:p>
        </p:txBody>
      </p:sp>
      <p:sp>
        <p:nvSpPr>
          <p:cNvPr id="7" name="页脚占位符 6">
            <a:extLst>
              <a:ext uri="{FF2B5EF4-FFF2-40B4-BE49-F238E27FC236}">
                <a16:creationId xmlns:a16="http://schemas.microsoft.com/office/drawing/2014/main" id="{3CC8FE61-F6D6-56F6-ECDF-A0E8782FE690}"/>
              </a:ext>
            </a:extLst>
          </p:cNvPr>
          <p:cNvSpPr>
            <a:spLocks noGrp="1"/>
          </p:cNvSpPr>
          <p:nvPr>
            <p:ph type="ftr" sz="quarter" idx="11"/>
          </p:nvPr>
        </p:nvSpPr>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zh-CN" altLang="en-US" sz="12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6D9E4A25-9B8E-5037-26C1-2402E7A8209E}"/>
              </a:ext>
            </a:extLst>
          </p:cNvPr>
          <p:cNvPicPr>
            <a:picLocks noChangeAspect="1"/>
          </p:cNvPicPr>
          <p:nvPr/>
        </p:nvPicPr>
        <p:blipFill>
          <a:blip r:embed="rId2"/>
          <a:stretch>
            <a:fillRect/>
          </a:stretch>
        </p:blipFill>
        <p:spPr>
          <a:xfrm>
            <a:off x="2163874" y="2291944"/>
            <a:ext cx="7864249" cy="3246843"/>
          </a:xfrm>
          <a:prstGeom prst="rect">
            <a:avLst/>
          </a:prstGeom>
        </p:spPr>
      </p:pic>
    </p:spTree>
    <p:extLst>
      <p:ext uri="{BB962C8B-B14F-4D97-AF65-F5344CB8AC3E}">
        <p14:creationId xmlns:p14="http://schemas.microsoft.com/office/powerpoint/2010/main" val="2957996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34B78-5369-0C49-F3F2-5F0C1066F90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03D5BBF-E8BB-0491-A92A-ABF50A5F77DC}"/>
              </a:ext>
            </a:extLst>
          </p:cNvPr>
          <p:cNvSpPr txBox="1"/>
          <p:nvPr/>
        </p:nvSpPr>
        <p:spPr>
          <a:xfrm flipH="1">
            <a:off x="-1" y="43602"/>
            <a:ext cx="12191999" cy="584775"/>
          </a:xfrm>
          <a:prstGeom prst="rect">
            <a:avLst/>
          </a:prstGeom>
          <a:noFill/>
        </p:spPr>
        <p:txBody>
          <a:bodyPr wrap="square" rtlCol="0">
            <a:spAutoFit/>
          </a:bodyPr>
          <a:lstStyle/>
          <a:p>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方法总览</a:t>
            </a:r>
          </a:p>
        </p:txBody>
      </p:sp>
      <p:sp>
        <p:nvSpPr>
          <p:cNvPr id="58" name="文本框 57">
            <a:extLst>
              <a:ext uri="{FF2B5EF4-FFF2-40B4-BE49-F238E27FC236}">
                <a16:creationId xmlns:a16="http://schemas.microsoft.com/office/drawing/2014/main" id="{3E71FE86-D1C2-7F33-855E-509C7922193B}"/>
              </a:ext>
            </a:extLst>
          </p:cNvPr>
          <p:cNvSpPr txBox="1"/>
          <p:nvPr/>
        </p:nvSpPr>
        <p:spPr>
          <a:xfrm>
            <a:off x="0" y="1054475"/>
            <a:ext cx="12191997" cy="458715"/>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视频描述任务主要分为：</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全监督</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少监督</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少样本</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视频描述和</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零样本</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视频描述。</a:t>
            </a:r>
          </a:p>
        </p:txBody>
      </p:sp>
      <p:sp>
        <p:nvSpPr>
          <p:cNvPr id="60" name="文本框 59">
            <a:extLst>
              <a:ext uri="{FF2B5EF4-FFF2-40B4-BE49-F238E27FC236}">
                <a16:creationId xmlns:a16="http://schemas.microsoft.com/office/drawing/2014/main" id="{0370249C-DC47-F907-9F77-87AAB26E3B72}"/>
              </a:ext>
            </a:extLst>
          </p:cNvPr>
          <p:cNvSpPr txBox="1"/>
          <p:nvPr/>
        </p:nvSpPr>
        <p:spPr>
          <a:xfrm>
            <a:off x="1342027" y="4781864"/>
            <a:ext cx="9323836" cy="276999"/>
          </a:xfrm>
          <a:prstGeom prst="rect">
            <a:avLst/>
          </a:prstGeom>
          <a:noFill/>
        </p:spPr>
        <p:txBody>
          <a:bodyPr wrap="square">
            <a:spAutoFit/>
          </a:bodyPr>
          <a:lstStyle/>
          <a:p>
            <a:pPr algn="ctr"/>
            <a:r>
              <a:rPr lang="zh-CN" altLang="zh-CN"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6.3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全监督和少监督视频描述对比</a:t>
            </a:r>
          </a:p>
        </p:txBody>
      </p:sp>
      <p:sp>
        <p:nvSpPr>
          <p:cNvPr id="6" name="灯片编号占位符 5">
            <a:extLst>
              <a:ext uri="{FF2B5EF4-FFF2-40B4-BE49-F238E27FC236}">
                <a16:creationId xmlns:a16="http://schemas.microsoft.com/office/drawing/2014/main" id="{22B60183-457A-5A1E-B33C-AECB24A493CD}"/>
              </a:ext>
            </a:extLst>
          </p:cNvPr>
          <p:cNvSpPr>
            <a:spLocks noGrp="1"/>
          </p:cNvSpPr>
          <p:nvPr>
            <p:ph type="sldNum" sz="quarter" idx="12"/>
          </p:nvPr>
        </p:nvSpPr>
        <p:spPr/>
        <p:txBody>
          <a:bodyPr/>
          <a:lstStyle/>
          <a:p>
            <a:fld id="{9FD78845-01F8-4781-BC44-71E27FEEA8FC}" type="slidenum">
              <a:rPr lang="zh-CN" altLang="en-US" smtClean="0"/>
              <a:t>5</a:t>
            </a:fld>
            <a:endParaRPr lang="zh-CN" altLang="en-US"/>
          </a:p>
        </p:txBody>
      </p:sp>
      <p:pic>
        <p:nvPicPr>
          <p:cNvPr id="4" name="图片 3">
            <a:extLst>
              <a:ext uri="{FF2B5EF4-FFF2-40B4-BE49-F238E27FC236}">
                <a16:creationId xmlns:a16="http://schemas.microsoft.com/office/drawing/2014/main" id="{BF22204B-A76A-AAA6-4C1C-478C26076AEA}"/>
              </a:ext>
            </a:extLst>
          </p:cNvPr>
          <p:cNvPicPr>
            <a:picLocks noChangeAspect="1"/>
          </p:cNvPicPr>
          <p:nvPr/>
        </p:nvPicPr>
        <p:blipFill>
          <a:blip r:embed="rId2"/>
          <a:stretch>
            <a:fillRect/>
          </a:stretch>
        </p:blipFill>
        <p:spPr>
          <a:xfrm>
            <a:off x="1342027" y="1939288"/>
            <a:ext cx="9063718" cy="2793171"/>
          </a:xfrm>
          <a:prstGeom prst="rect">
            <a:avLst/>
          </a:prstGeom>
        </p:spPr>
      </p:pic>
      <p:sp>
        <p:nvSpPr>
          <p:cNvPr id="5" name="页脚占位符 40">
            <a:extLst>
              <a:ext uri="{FF2B5EF4-FFF2-40B4-BE49-F238E27FC236}">
                <a16:creationId xmlns:a16="http://schemas.microsoft.com/office/drawing/2014/main" id="{70BAD11B-767B-8505-1EF8-AB17A3D9EE82}"/>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8346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F88A-6B1F-C818-2720-AEB61BA3C87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2531E4D-09F3-BE49-AE30-4631505B3004}"/>
              </a:ext>
            </a:extLst>
          </p:cNvPr>
          <p:cNvSpPr txBox="1"/>
          <p:nvPr/>
        </p:nvSpPr>
        <p:spPr>
          <a:xfrm flipH="1">
            <a:off x="-1" y="43602"/>
            <a:ext cx="12191999" cy="584775"/>
          </a:xfrm>
          <a:prstGeom prst="rect">
            <a:avLst/>
          </a:prstGeom>
          <a:noFill/>
        </p:spPr>
        <p:txBody>
          <a:bodyPr wrap="square" rtlCol="0">
            <a:spAutoFit/>
          </a:bodyPr>
          <a:lstStyle/>
          <a:p>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典型方法</a:t>
            </a:r>
          </a:p>
        </p:txBody>
      </p:sp>
      <p:grpSp>
        <p:nvGrpSpPr>
          <p:cNvPr id="15" name="组合 14">
            <a:extLst>
              <a:ext uri="{FF2B5EF4-FFF2-40B4-BE49-F238E27FC236}">
                <a16:creationId xmlns:a16="http://schemas.microsoft.com/office/drawing/2014/main" id="{50A2D4BC-14AD-2315-5F6E-2AE7FA2C50CD}"/>
              </a:ext>
            </a:extLst>
          </p:cNvPr>
          <p:cNvGrpSpPr/>
          <p:nvPr/>
        </p:nvGrpSpPr>
        <p:grpSpPr>
          <a:xfrm>
            <a:off x="1132008" y="1546752"/>
            <a:ext cx="4824000" cy="558001"/>
            <a:chOff x="1836096" y="1546752"/>
            <a:chExt cx="4824000" cy="558001"/>
          </a:xfrm>
        </p:grpSpPr>
        <p:sp>
          <p:nvSpPr>
            <p:cNvPr id="5" name="Rectangle 57"/>
            <p:cNvSpPr/>
            <p:nvPr/>
          </p:nvSpPr>
          <p:spPr>
            <a:xfrm>
              <a:off x="1836096" y="1546753"/>
              <a:ext cx="4824000" cy="558000"/>
            </a:xfrm>
            <a:prstGeom prst="rect">
              <a:avLst/>
            </a:prstGeom>
            <a:ln>
              <a:noFill/>
              <a:prstDash val="solid"/>
            </a:ln>
          </p:spPr>
          <p:txBody>
            <a:bodyPr wrap="square" lIns="1152000" anchor="ctr">
              <a:noAutofit/>
            </a:bodyPr>
            <a:lstStyle/>
            <a:p>
              <a:pPr defTabSz="360000">
                <a:lnSpc>
                  <a:spcPts val="2200"/>
                </a:lnSpc>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单语句视频描述</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3" name="菱形 42"/>
            <p:cNvSpPr/>
            <p:nvPr/>
          </p:nvSpPr>
          <p:spPr>
            <a:xfrm>
              <a:off x="1908104" y="1546752"/>
              <a:ext cx="540000" cy="540000"/>
            </a:xfrm>
            <a:prstGeom prst="diamond">
              <a:avLst/>
            </a:prstGeom>
            <a:solidFill>
              <a:srgbClr val="111F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rPr>
                <a:t>01</a:t>
              </a:r>
              <a:endParaRPr lang="zh-CN" altLang="en-US"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41" name="组合 40">
            <a:extLst>
              <a:ext uri="{FF2B5EF4-FFF2-40B4-BE49-F238E27FC236}">
                <a16:creationId xmlns:a16="http://schemas.microsoft.com/office/drawing/2014/main" id="{BAC49ECF-6BF2-8FA0-9E33-8DB885A9675F}"/>
              </a:ext>
            </a:extLst>
          </p:cNvPr>
          <p:cNvGrpSpPr/>
          <p:nvPr/>
        </p:nvGrpSpPr>
        <p:grpSpPr>
          <a:xfrm>
            <a:off x="1132008" y="2748224"/>
            <a:ext cx="4824000" cy="540000"/>
            <a:chOff x="1836096" y="2364367"/>
            <a:chExt cx="4824000" cy="540000"/>
          </a:xfrm>
        </p:grpSpPr>
        <p:sp>
          <p:nvSpPr>
            <p:cNvPr id="46" name="Rectangle 57"/>
            <p:cNvSpPr/>
            <p:nvPr/>
          </p:nvSpPr>
          <p:spPr>
            <a:xfrm>
              <a:off x="1836096" y="2364367"/>
              <a:ext cx="4824000" cy="539997"/>
            </a:xfrm>
            <a:prstGeom prst="rect">
              <a:avLst/>
            </a:prstGeom>
            <a:ln>
              <a:noFill/>
              <a:prstDash val="solid"/>
            </a:ln>
          </p:spPr>
          <p:txBody>
            <a:bodyPr wrap="square" lIns="1152000" anchor="ctr">
              <a:noAutofit/>
            </a:bodyPr>
            <a:lstStyle/>
            <a:p>
              <a:pPr>
                <a:lnSpc>
                  <a:spcPts val="2200"/>
                </a:lnSpc>
              </a:pPr>
              <a:r>
                <a:rPr lang="zh-CN" altLang="en-US"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密集视频描述</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9" name="菱形 48"/>
            <p:cNvSpPr/>
            <p:nvPr/>
          </p:nvSpPr>
          <p:spPr>
            <a:xfrm>
              <a:off x="1908104" y="2364367"/>
              <a:ext cx="540000" cy="540000"/>
            </a:xfrm>
            <a:prstGeom prst="diamond">
              <a:avLst/>
            </a:prstGeom>
            <a:solidFill>
              <a:srgbClr val="111F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rPr>
                <a:t>02</a:t>
              </a:r>
              <a:endParaRPr lang="zh-CN" altLang="en-US"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42" name="组合 41">
            <a:extLst>
              <a:ext uri="{FF2B5EF4-FFF2-40B4-BE49-F238E27FC236}">
                <a16:creationId xmlns:a16="http://schemas.microsoft.com/office/drawing/2014/main" id="{63B6A28C-7034-A47D-188D-0DFF466DCC27}"/>
              </a:ext>
            </a:extLst>
          </p:cNvPr>
          <p:cNvGrpSpPr/>
          <p:nvPr/>
        </p:nvGrpSpPr>
        <p:grpSpPr>
          <a:xfrm>
            <a:off x="1132008" y="3931695"/>
            <a:ext cx="4824000" cy="540000"/>
            <a:chOff x="1836096" y="3181982"/>
            <a:chExt cx="4824000" cy="540000"/>
          </a:xfrm>
        </p:grpSpPr>
        <p:sp>
          <p:nvSpPr>
            <p:cNvPr id="52" name="Rectangle 57"/>
            <p:cNvSpPr/>
            <p:nvPr/>
          </p:nvSpPr>
          <p:spPr>
            <a:xfrm>
              <a:off x="1836096" y="3181983"/>
              <a:ext cx="4824000" cy="539996"/>
            </a:xfrm>
            <a:prstGeom prst="rect">
              <a:avLst/>
            </a:prstGeom>
            <a:ln>
              <a:noFill/>
              <a:prstDash val="solid"/>
            </a:ln>
          </p:spPr>
          <p:txBody>
            <a:bodyPr wrap="square" lIns="1152000" anchor="ctr">
              <a:noAutofit/>
            </a:bodyPr>
            <a:lstStyle/>
            <a:p>
              <a:pPr>
                <a:lnSpc>
                  <a:spcPts val="22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少监督视频描述</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5" name="菱形 54"/>
            <p:cNvSpPr/>
            <p:nvPr/>
          </p:nvSpPr>
          <p:spPr>
            <a:xfrm>
              <a:off x="1908104" y="3181982"/>
              <a:ext cx="540000" cy="540000"/>
            </a:xfrm>
            <a:prstGeom prst="diamond">
              <a:avLst/>
            </a:prstGeom>
            <a:solidFill>
              <a:srgbClr val="111F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rPr>
                <a:t>03</a:t>
              </a:r>
              <a:endParaRPr lang="zh-CN" altLang="en-US"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44" name="组合 43">
            <a:extLst>
              <a:ext uri="{FF2B5EF4-FFF2-40B4-BE49-F238E27FC236}">
                <a16:creationId xmlns:a16="http://schemas.microsoft.com/office/drawing/2014/main" id="{0433102F-B257-5CDC-2E1B-3C45C158E55A}"/>
              </a:ext>
            </a:extLst>
          </p:cNvPr>
          <p:cNvGrpSpPr/>
          <p:nvPr/>
        </p:nvGrpSpPr>
        <p:grpSpPr>
          <a:xfrm>
            <a:off x="1132008" y="5115165"/>
            <a:ext cx="4824000" cy="540000"/>
            <a:chOff x="1836096" y="3999597"/>
            <a:chExt cx="4824000" cy="540000"/>
          </a:xfrm>
        </p:grpSpPr>
        <p:sp>
          <p:nvSpPr>
            <p:cNvPr id="64" name="Rectangle 57"/>
            <p:cNvSpPr/>
            <p:nvPr/>
          </p:nvSpPr>
          <p:spPr>
            <a:xfrm>
              <a:off x="1836096" y="3999597"/>
              <a:ext cx="4824000" cy="539995"/>
            </a:xfrm>
            <a:prstGeom prst="rect">
              <a:avLst/>
            </a:prstGeom>
            <a:ln>
              <a:noFill/>
              <a:prstDash val="solid"/>
            </a:ln>
          </p:spPr>
          <p:txBody>
            <a:bodyPr wrap="square" lIns="1152000" anchor="ctr">
              <a:noAutofit/>
            </a:bodyPr>
            <a:lstStyle/>
            <a:p>
              <a:pPr>
                <a:lnSpc>
                  <a:spcPts val="22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基于纯文本训练的零样本方法</a:t>
              </a:r>
              <a:endParaRPr lang="en-US" altLang="zh-CN" sz="1600" dirty="0">
                <a:solidFill>
                  <a:schemeClr val="bg2">
                    <a:lumMod val="2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7" name="菱形 66"/>
            <p:cNvSpPr/>
            <p:nvPr/>
          </p:nvSpPr>
          <p:spPr>
            <a:xfrm>
              <a:off x="1908104" y="3999597"/>
              <a:ext cx="540000" cy="540000"/>
            </a:xfrm>
            <a:prstGeom prst="diamond">
              <a:avLst/>
            </a:prstGeom>
            <a:solidFill>
              <a:srgbClr val="111F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rPr>
                <a:t>04</a:t>
              </a:r>
              <a:endParaRPr lang="zh-CN" altLang="en-US" sz="1700" dirty="0">
                <a:solidFill>
                  <a:schemeClr val="bg1"/>
                </a:solidFill>
                <a:effectLst/>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47" name="灯片编号占位符 46">
            <a:extLst>
              <a:ext uri="{FF2B5EF4-FFF2-40B4-BE49-F238E27FC236}">
                <a16:creationId xmlns:a16="http://schemas.microsoft.com/office/drawing/2014/main" id="{C0EA51A0-AC4E-E1CE-05B4-10009706A3FD}"/>
              </a:ext>
            </a:extLst>
          </p:cNvPr>
          <p:cNvSpPr>
            <a:spLocks noGrp="1"/>
          </p:cNvSpPr>
          <p:nvPr>
            <p:ph type="sldNum" sz="quarter" idx="12"/>
          </p:nvPr>
        </p:nvSpPr>
        <p:spPr/>
        <p:txBody>
          <a:bodyPr/>
          <a:lstStyle/>
          <a:p>
            <a:fld id="{9FD78845-01F8-4781-BC44-71E27FEEA8FC}" type="slidenum">
              <a:rPr lang="zh-CN" altLang="en-US" smtClean="0"/>
              <a:t>6</a:t>
            </a:fld>
            <a:endParaRPr lang="zh-CN" altLang="en-US"/>
          </a:p>
        </p:txBody>
      </p:sp>
      <p:sp>
        <p:nvSpPr>
          <p:cNvPr id="3" name="页脚占位符 40">
            <a:extLst>
              <a:ext uri="{FF2B5EF4-FFF2-40B4-BE49-F238E27FC236}">
                <a16:creationId xmlns:a16="http://schemas.microsoft.com/office/drawing/2014/main" id="{2B038C51-1CC3-75C8-1296-CDDCABDFEA8D}"/>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47367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78F2-25DC-D61E-CE4F-779510F1B0D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0507CFA-1DF4-64B4-B4BD-815A155A2C25}"/>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）基于层次模块化网络的视频描述方法</a:t>
            </a:r>
          </a:p>
        </p:txBody>
      </p:sp>
      <p:sp>
        <p:nvSpPr>
          <p:cNvPr id="4" name="文本框 3">
            <a:extLst>
              <a:ext uri="{FF2B5EF4-FFF2-40B4-BE49-F238E27FC236}">
                <a16:creationId xmlns:a16="http://schemas.microsoft.com/office/drawing/2014/main" id="{DA7ECA27-A1BD-F4AF-31F4-D490B862D7C2}"/>
              </a:ext>
            </a:extLst>
          </p:cNvPr>
          <p:cNvSpPr txBox="1"/>
          <p:nvPr/>
        </p:nvSpPr>
        <p:spPr>
          <a:xfrm>
            <a:off x="639839" y="1571959"/>
            <a:ext cx="11031052" cy="3234219"/>
          </a:xfrm>
          <a:prstGeom prst="rect">
            <a:avLst/>
          </a:prstGeom>
          <a:noFill/>
        </p:spPr>
        <p:txBody>
          <a:bodyPr wrap="square">
            <a:spAutoFit/>
          </a:bodyPr>
          <a:lstStyle/>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问题描述</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单语句视频描述任务致力于为给定视频生成自然语言描述。一个完整的视频描述通常包括主体（如“男子”）、动作（如“在做饭”）和场景或环境修饰（如“在厨房”）等基本语义成分。</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方法动机</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已有方法仅关注视频与整句描述的全局对齐，忽略细节；或聚焦于视觉与单个词汇的对齐，难以捕捉语言结构和语义层级。</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方法特点</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该方法提出一种</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层次化模块化</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网络，分别在实体、谓词和句子三个层面建立视频与语言语义之间的对齐关系。</a:t>
            </a:r>
          </a:p>
        </p:txBody>
      </p:sp>
      <p:sp>
        <p:nvSpPr>
          <p:cNvPr id="6" name="文本框 5">
            <a:extLst>
              <a:ext uri="{FF2B5EF4-FFF2-40B4-BE49-F238E27FC236}">
                <a16:creationId xmlns:a16="http://schemas.microsoft.com/office/drawing/2014/main" id="{80EC4BB6-31BC-7203-72B1-551FF094C8F4}"/>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单语句视频描述</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灯片编号占位符 7">
            <a:extLst>
              <a:ext uri="{FF2B5EF4-FFF2-40B4-BE49-F238E27FC236}">
                <a16:creationId xmlns:a16="http://schemas.microsoft.com/office/drawing/2014/main" id="{175A3E49-B63F-0A4F-D391-39775EC1CCE5}"/>
              </a:ext>
            </a:extLst>
          </p:cNvPr>
          <p:cNvSpPr>
            <a:spLocks noGrp="1"/>
          </p:cNvSpPr>
          <p:nvPr>
            <p:ph type="sldNum" sz="quarter" idx="12"/>
          </p:nvPr>
        </p:nvSpPr>
        <p:spPr/>
        <p:txBody>
          <a:bodyPr/>
          <a:lstStyle/>
          <a:p>
            <a:fld id="{9FD78845-01F8-4781-BC44-71E27FEEA8FC}" type="slidenum">
              <a:rPr lang="zh-CN" altLang="en-US" smtClean="0"/>
              <a:t>7</a:t>
            </a:fld>
            <a:endParaRPr lang="zh-CN" altLang="en-US"/>
          </a:p>
        </p:txBody>
      </p:sp>
      <p:sp>
        <p:nvSpPr>
          <p:cNvPr id="3" name="页脚占位符 40">
            <a:extLst>
              <a:ext uri="{FF2B5EF4-FFF2-40B4-BE49-F238E27FC236}">
                <a16:creationId xmlns:a16="http://schemas.microsoft.com/office/drawing/2014/main" id="{B2959AB2-BDBE-18EE-AF1B-95DA1EECDB9C}"/>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001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41922-3908-CC09-A19F-DF53467E6659}"/>
            </a:ext>
          </a:extLst>
        </p:cNvPr>
        <p:cNvGrpSpPr/>
        <p:nvPr/>
      </p:nvGrpSpPr>
      <p:grpSpPr>
        <a:xfrm>
          <a:off x="0" y="0"/>
          <a:ext cx="0" cy="0"/>
          <a:chOff x="0" y="0"/>
          <a:chExt cx="0" cy="0"/>
        </a:xfrm>
      </p:grpSpPr>
      <p:sp>
        <p:nvSpPr>
          <p:cNvPr id="145" name="文本框 144">
            <a:extLst>
              <a:ext uri="{FF2B5EF4-FFF2-40B4-BE49-F238E27FC236}">
                <a16:creationId xmlns:a16="http://schemas.microsoft.com/office/drawing/2014/main" id="{DD73F2CE-2F46-E6C6-FE4E-8D0EC3F39B5E}"/>
              </a:ext>
            </a:extLst>
          </p:cNvPr>
          <p:cNvSpPr txBox="1"/>
          <p:nvPr/>
        </p:nvSpPr>
        <p:spPr>
          <a:xfrm>
            <a:off x="651046" y="1685240"/>
            <a:ext cx="6195526" cy="369332"/>
          </a:xfrm>
          <a:prstGeom prst="rect">
            <a:avLst/>
          </a:prstGeom>
          <a:noFill/>
        </p:spPr>
        <p:txBody>
          <a:bodyPr wrap="square">
            <a:spAutoFit/>
          </a:bodyPr>
          <a:lstStyle/>
          <a:p>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具体方法</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7" name="文本框 146">
            <a:extLst>
              <a:ext uri="{FF2B5EF4-FFF2-40B4-BE49-F238E27FC236}">
                <a16:creationId xmlns:a16="http://schemas.microsoft.com/office/drawing/2014/main" id="{BE704A86-AE2B-3244-4599-C8DB0027724F}"/>
              </a:ext>
            </a:extLst>
          </p:cNvPr>
          <p:cNvSpPr txBox="1"/>
          <p:nvPr/>
        </p:nvSpPr>
        <p:spPr>
          <a:xfrm>
            <a:off x="0" y="5981058"/>
            <a:ext cx="12191999"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6.4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分层模块化网络结构示意图</a:t>
            </a:r>
          </a:p>
        </p:txBody>
      </p:sp>
      <p:sp>
        <p:nvSpPr>
          <p:cNvPr id="3" name="文本框 2">
            <a:extLst>
              <a:ext uri="{FF2B5EF4-FFF2-40B4-BE49-F238E27FC236}">
                <a16:creationId xmlns:a16="http://schemas.microsoft.com/office/drawing/2014/main" id="{EB1B2D5D-F9EC-CD3C-B2BA-BB6EEC1511D1}"/>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单语句视频描述</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灯片编号占位符 5">
            <a:extLst>
              <a:ext uri="{FF2B5EF4-FFF2-40B4-BE49-F238E27FC236}">
                <a16:creationId xmlns:a16="http://schemas.microsoft.com/office/drawing/2014/main" id="{026689C7-A23A-B80C-9B4F-E23D46A4B848}"/>
              </a:ext>
            </a:extLst>
          </p:cNvPr>
          <p:cNvSpPr>
            <a:spLocks noGrp="1"/>
          </p:cNvSpPr>
          <p:nvPr>
            <p:ph type="sldNum" sz="quarter" idx="12"/>
          </p:nvPr>
        </p:nvSpPr>
        <p:spPr/>
        <p:txBody>
          <a:bodyPr/>
          <a:lstStyle/>
          <a:p>
            <a:fld id="{9FD78845-01F8-4781-BC44-71E27FEEA8FC}" type="slidenum">
              <a:rPr lang="zh-CN" altLang="en-US" smtClean="0"/>
              <a:t>8</a:t>
            </a:fld>
            <a:endParaRPr lang="zh-CN" altLang="en-US"/>
          </a:p>
        </p:txBody>
      </p:sp>
      <p:sp>
        <p:nvSpPr>
          <p:cNvPr id="4" name="文本框 3">
            <a:extLst>
              <a:ext uri="{FF2B5EF4-FFF2-40B4-BE49-F238E27FC236}">
                <a16:creationId xmlns:a16="http://schemas.microsoft.com/office/drawing/2014/main" id="{C909873E-31B8-0502-C36C-1690B8FFB1F7}"/>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）基于层次模块化网络的视频描述方法</a:t>
            </a:r>
          </a:p>
        </p:txBody>
      </p:sp>
      <p:pic>
        <p:nvPicPr>
          <p:cNvPr id="5" name="图片 4">
            <a:extLst>
              <a:ext uri="{FF2B5EF4-FFF2-40B4-BE49-F238E27FC236}">
                <a16:creationId xmlns:a16="http://schemas.microsoft.com/office/drawing/2014/main" id="{B668BE62-47E2-52F8-9408-842D53CA43C0}"/>
              </a:ext>
            </a:extLst>
          </p:cNvPr>
          <p:cNvPicPr>
            <a:picLocks noChangeAspect="1"/>
          </p:cNvPicPr>
          <p:nvPr/>
        </p:nvPicPr>
        <p:blipFill>
          <a:blip r:embed="rId2"/>
          <a:stretch>
            <a:fillRect/>
          </a:stretch>
        </p:blipFill>
        <p:spPr>
          <a:xfrm>
            <a:off x="2495814" y="2270051"/>
            <a:ext cx="7200369" cy="3616549"/>
          </a:xfrm>
          <a:prstGeom prst="rect">
            <a:avLst/>
          </a:prstGeom>
        </p:spPr>
      </p:pic>
      <p:sp>
        <p:nvSpPr>
          <p:cNvPr id="17" name="页脚占位符 40">
            <a:extLst>
              <a:ext uri="{FF2B5EF4-FFF2-40B4-BE49-F238E27FC236}">
                <a16:creationId xmlns:a16="http://schemas.microsoft.com/office/drawing/2014/main" id="{F8767EDD-425C-6E5D-96BC-A0D758A621ED}"/>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515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4E8F-351A-5826-5373-CF2BE2CDCAB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572FCED6-5472-D36F-4AA8-8A1DCEE71D1F}"/>
              </a:ext>
            </a:extLst>
          </p:cNvPr>
          <p:cNvSpPr txBox="1"/>
          <p:nvPr/>
        </p:nvSpPr>
        <p:spPr>
          <a:xfrm>
            <a:off x="646043" y="1576346"/>
            <a:ext cx="10828201" cy="3818994"/>
          </a:xfrm>
          <a:prstGeom prst="rect">
            <a:avLst/>
          </a:prstGeom>
          <a:noFill/>
        </p:spPr>
        <p:txBody>
          <a:bodyPr wrap="square">
            <a:spAutoFit/>
          </a:bodyPr>
          <a:lstStyle/>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问题描述</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密集视频描述旨在从一个长视频中自动检测出多个事件片段，并为每个事件生成自然语言描述。</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方法动机</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人类在理解长视频并进行描述时，通常遵循一个</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概述</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定位</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细化</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的过程。</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方法特点</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自顶向下</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三阶段框架：概述、定位、细化（</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SGR</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段落级事件结构规划</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机制；</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设计上下文感知的视频句子定位器；</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引入</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双路径交叉注意力机制</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进行语句细化。</a:t>
            </a:r>
          </a:p>
        </p:txBody>
      </p:sp>
      <p:sp>
        <p:nvSpPr>
          <p:cNvPr id="5" name="文本框 4">
            <a:extLst>
              <a:ext uri="{FF2B5EF4-FFF2-40B4-BE49-F238E27FC236}">
                <a16:creationId xmlns:a16="http://schemas.microsoft.com/office/drawing/2014/main" id="{A10B6799-F762-809F-AA2E-DAB771B56335}"/>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6.3.2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密集视频描述</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灯片编号占位符 6">
            <a:extLst>
              <a:ext uri="{FF2B5EF4-FFF2-40B4-BE49-F238E27FC236}">
                <a16:creationId xmlns:a16="http://schemas.microsoft.com/office/drawing/2014/main" id="{D7F52CA3-6C5A-659B-B302-74F5E5F46C48}"/>
              </a:ext>
            </a:extLst>
          </p:cNvPr>
          <p:cNvSpPr>
            <a:spLocks noGrp="1"/>
          </p:cNvSpPr>
          <p:nvPr>
            <p:ph type="sldNum" sz="quarter" idx="12"/>
          </p:nvPr>
        </p:nvSpPr>
        <p:spPr/>
        <p:txBody>
          <a:bodyPr/>
          <a:lstStyle/>
          <a:p>
            <a:fld id="{9FD78845-01F8-4781-BC44-71E27FEEA8FC}" type="slidenum">
              <a:rPr lang="zh-CN" altLang="en-US" smtClean="0"/>
              <a:t>9</a:t>
            </a:fld>
            <a:endParaRPr lang="zh-CN" altLang="en-US"/>
          </a:p>
        </p:txBody>
      </p:sp>
      <p:sp>
        <p:nvSpPr>
          <p:cNvPr id="3" name="文本框 2">
            <a:extLst>
              <a:ext uri="{FF2B5EF4-FFF2-40B4-BE49-F238E27FC236}">
                <a16:creationId xmlns:a16="http://schemas.microsoft.com/office/drawing/2014/main" id="{B515459B-419E-DFE0-1646-ECE8CB7B4CF8}"/>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）基于概述</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定位</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细化的自顶向下密集视频描述方法</a:t>
            </a:r>
          </a:p>
        </p:txBody>
      </p:sp>
      <p:sp>
        <p:nvSpPr>
          <p:cNvPr id="9" name="页脚占位符 40">
            <a:extLst>
              <a:ext uri="{FF2B5EF4-FFF2-40B4-BE49-F238E27FC236}">
                <a16:creationId xmlns:a16="http://schemas.microsoft.com/office/drawing/2014/main" id="{5A2361AB-7BF0-DEDA-5512-9AEA862A4483}"/>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52401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8B90-1A5C-6B29-932A-E7FA95A7F8FB}"/>
            </a:ext>
          </a:extLst>
        </p:cNvPr>
        <p:cNvGrpSpPr/>
        <p:nvPr/>
      </p:nvGrpSpPr>
      <p:grpSpPr>
        <a:xfrm>
          <a:off x="0" y="0"/>
          <a:ext cx="0" cy="0"/>
          <a:chOff x="0" y="0"/>
          <a:chExt cx="0" cy="0"/>
        </a:xfrm>
      </p:grpSpPr>
      <p:sp>
        <p:nvSpPr>
          <p:cNvPr id="147" name="文本框 146">
            <a:extLst>
              <a:ext uri="{FF2B5EF4-FFF2-40B4-BE49-F238E27FC236}">
                <a16:creationId xmlns:a16="http://schemas.microsoft.com/office/drawing/2014/main" id="{E3D906D9-C081-8C4C-8ADB-0E103D982F57}"/>
              </a:ext>
            </a:extLst>
          </p:cNvPr>
          <p:cNvSpPr txBox="1"/>
          <p:nvPr/>
        </p:nvSpPr>
        <p:spPr>
          <a:xfrm>
            <a:off x="0" y="5961410"/>
            <a:ext cx="12191999"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6.5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概述</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定位</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细化描述网络结构示意图</a:t>
            </a:r>
          </a:p>
        </p:txBody>
      </p:sp>
      <p:sp>
        <p:nvSpPr>
          <p:cNvPr id="4" name="文本框 3">
            <a:extLst>
              <a:ext uri="{FF2B5EF4-FFF2-40B4-BE49-F238E27FC236}">
                <a16:creationId xmlns:a16="http://schemas.microsoft.com/office/drawing/2014/main" id="{85E5712C-8EC6-F6AD-60B8-FDA0571B5393}"/>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6.3.2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密集视频描述</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灯片编号占位符 5">
            <a:extLst>
              <a:ext uri="{FF2B5EF4-FFF2-40B4-BE49-F238E27FC236}">
                <a16:creationId xmlns:a16="http://schemas.microsoft.com/office/drawing/2014/main" id="{37C0B52D-0AFB-8F1E-E671-D981E3FD997F}"/>
              </a:ext>
            </a:extLst>
          </p:cNvPr>
          <p:cNvSpPr>
            <a:spLocks noGrp="1"/>
          </p:cNvSpPr>
          <p:nvPr>
            <p:ph type="sldNum" sz="quarter" idx="12"/>
          </p:nvPr>
        </p:nvSpPr>
        <p:spPr/>
        <p:txBody>
          <a:bodyPr/>
          <a:lstStyle/>
          <a:p>
            <a:fld id="{9FD78845-01F8-4781-BC44-71E27FEEA8FC}" type="slidenum">
              <a:rPr lang="zh-CN" altLang="en-US" smtClean="0"/>
              <a:t>10</a:t>
            </a:fld>
            <a:endParaRPr lang="zh-CN" altLang="en-US"/>
          </a:p>
        </p:txBody>
      </p:sp>
      <p:sp>
        <p:nvSpPr>
          <p:cNvPr id="5" name="文本框 4">
            <a:extLst>
              <a:ext uri="{FF2B5EF4-FFF2-40B4-BE49-F238E27FC236}">
                <a16:creationId xmlns:a16="http://schemas.microsoft.com/office/drawing/2014/main" id="{FFE52294-B2E3-90D0-BCCA-000A2A5765B6}"/>
              </a:ext>
            </a:extLst>
          </p:cNvPr>
          <p:cNvSpPr txBox="1"/>
          <p:nvPr/>
        </p:nvSpPr>
        <p:spPr>
          <a:xfrm>
            <a:off x="651046" y="1685240"/>
            <a:ext cx="6195526" cy="369332"/>
          </a:xfrm>
          <a:prstGeom prst="rect">
            <a:avLst/>
          </a:prstGeom>
          <a:noFill/>
        </p:spPr>
        <p:txBody>
          <a:bodyPr wrap="square">
            <a:spAutoFit/>
          </a:bodyPr>
          <a:lstStyle/>
          <a:p>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具体方法</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文本框 7">
            <a:extLst>
              <a:ext uri="{FF2B5EF4-FFF2-40B4-BE49-F238E27FC236}">
                <a16:creationId xmlns:a16="http://schemas.microsoft.com/office/drawing/2014/main" id="{C45178F3-A34B-95E2-55FF-4A1DD68BCE45}"/>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）基于概述</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定位</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细化的自顶向下密集视频描述方法</a:t>
            </a:r>
          </a:p>
        </p:txBody>
      </p:sp>
      <p:pic>
        <p:nvPicPr>
          <p:cNvPr id="10" name="图片 9">
            <a:extLst>
              <a:ext uri="{FF2B5EF4-FFF2-40B4-BE49-F238E27FC236}">
                <a16:creationId xmlns:a16="http://schemas.microsoft.com/office/drawing/2014/main" id="{1D629459-249B-BCA9-3B1B-E34D5EC686F5}"/>
              </a:ext>
            </a:extLst>
          </p:cNvPr>
          <p:cNvPicPr>
            <a:picLocks noChangeAspect="1"/>
          </p:cNvPicPr>
          <p:nvPr/>
        </p:nvPicPr>
        <p:blipFill>
          <a:blip r:embed="rId2"/>
          <a:stretch>
            <a:fillRect/>
          </a:stretch>
        </p:blipFill>
        <p:spPr>
          <a:xfrm>
            <a:off x="1337417" y="2590030"/>
            <a:ext cx="9300858" cy="3136252"/>
          </a:xfrm>
          <a:prstGeom prst="rect">
            <a:avLst/>
          </a:prstGeom>
        </p:spPr>
      </p:pic>
      <p:sp>
        <p:nvSpPr>
          <p:cNvPr id="11" name="页脚占位符 40">
            <a:extLst>
              <a:ext uri="{FF2B5EF4-FFF2-40B4-BE49-F238E27FC236}">
                <a16:creationId xmlns:a16="http://schemas.microsoft.com/office/drawing/2014/main" id="{7C32EDD2-42E3-BB8D-ACE7-15F2FCAAB3A5}"/>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2595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2ECD0-5D02-E42D-5AB6-279D30B0DD0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4872B06-DF3D-3A45-9D72-C926707BA4B5}"/>
              </a:ext>
            </a:extLst>
          </p:cNvPr>
          <p:cNvSpPr txBox="1"/>
          <p:nvPr/>
        </p:nvSpPr>
        <p:spPr>
          <a:xfrm>
            <a:off x="637439" y="1581289"/>
            <a:ext cx="10925295" cy="4342214"/>
          </a:xfrm>
          <a:prstGeom prst="rect">
            <a:avLst/>
          </a:prstGeom>
          <a:noFill/>
        </p:spPr>
        <p:txBody>
          <a:bodyPr wrap="square">
            <a:spAutoFit/>
          </a:bodyPr>
          <a:lstStyle/>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问题描述</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少监督视频描述旨在通过极少量的标注数据（通常为一个或几个标注句子）来训练视频描述模型。少监督视频描述面临着数据稀缺的挑战。</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方法动机</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在少监督视频描述任务中，最主要的挑战是缺乏充足的标注数据。该方法提出了一种基于伪标记生成的策略，通过自生成的标记扩展训练数据集，增强模型的学习能力。同时，采用关键词细化技术，进一步提高伪标记与视频内容的匹配度。</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方法特点</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提出少监督视频描述任务，通过仅使用一到三个真实描述语句进行训练，较大程度减少人工标注的成本；</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基于词汇约束的伪标记生成策略</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，通过预训练的词汇分类器指导生成句子，并采用重复惩罚采样技术减少冗余</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设计</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关键词细化</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模块，结合视频</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关键词门控融合策略，以增强视频内容与伪标记句子之间的语义一致性。</a:t>
            </a:r>
          </a:p>
        </p:txBody>
      </p:sp>
      <p:sp>
        <p:nvSpPr>
          <p:cNvPr id="6" name="文本框 5">
            <a:extLst>
              <a:ext uri="{FF2B5EF4-FFF2-40B4-BE49-F238E27FC236}">
                <a16:creationId xmlns:a16="http://schemas.microsoft.com/office/drawing/2014/main" id="{B90A16F2-9394-4E13-8955-58EC553FF254}"/>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6.3.3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少监督视频描述</a:t>
            </a:r>
          </a:p>
        </p:txBody>
      </p:sp>
      <p:sp>
        <p:nvSpPr>
          <p:cNvPr id="8" name="灯片编号占位符 7">
            <a:extLst>
              <a:ext uri="{FF2B5EF4-FFF2-40B4-BE49-F238E27FC236}">
                <a16:creationId xmlns:a16="http://schemas.microsoft.com/office/drawing/2014/main" id="{A859EC01-2743-0331-59F1-D123411D2E58}"/>
              </a:ext>
            </a:extLst>
          </p:cNvPr>
          <p:cNvSpPr>
            <a:spLocks noGrp="1"/>
          </p:cNvSpPr>
          <p:nvPr>
            <p:ph type="sldNum" sz="quarter" idx="12"/>
          </p:nvPr>
        </p:nvSpPr>
        <p:spPr/>
        <p:txBody>
          <a:bodyPr/>
          <a:lstStyle/>
          <a:p>
            <a:fld id="{9FD78845-01F8-4781-BC44-71E27FEEA8FC}" type="slidenum">
              <a:rPr lang="zh-CN" altLang="en-US" smtClean="0"/>
              <a:t>11</a:t>
            </a:fld>
            <a:endParaRPr lang="zh-CN" altLang="en-US"/>
          </a:p>
        </p:txBody>
      </p:sp>
      <p:sp>
        <p:nvSpPr>
          <p:cNvPr id="3" name="文本框 2">
            <a:extLst>
              <a:ext uri="{FF2B5EF4-FFF2-40B4-BE49-F238E27FC236}">
                <a16:creationId xmlns:a16="http://schemas.microsoft.com/office/drawing/2014/main" id="{53A88A8A-624E-B528-F968-07DF0FC6BF73}"/>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）基于伪标记生成和关键词细化的少监督视频描述方法</a:t>
            </a:r>
          </a:p>
        </p:txBody>
      </p:sp>
      <p:sp>
        <p:nvSpPr>
          <p:cNvPr id="2" name="页脚占位符 40">
            <a:extLst>
              <a:ext uri="{FF2B5EF4-FFF2-40B4-BE49-F238E27FC236}">
                <a16:creationId xmlns:a16="http://schemas.microsoft.com/office/drawing/2014/main" id="{76DBEFC1-54F2-DFC3-C752-1ED60FE88614}"/>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697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A7F0-7667-30D0-9C99-86657FEB62CB}"/>
            </a:ext>
          </a:extLst>
        </p:cNvPr>
        <p:cNvGrpSpPr/>
        <p:nvPr/>
      </p:nvGrpSpPr>
      <p:grpSpPr>
        <a:xfrm>
          <a:off x="0" y="0"/>
          <a:ext cx="0" cy="0"/>
          <a:chOff x="0" y="0"/>
          <a:chExt cx="0" cy="0"/>
        </a:xfrm>
      </p:grpSpPr>
      <p:sp>
        <p:nvSpPr>
          <p:cNvPr id="147" name="文本框 146">
            <a:extLst>
              <a:ext uri="{FF2B5EF4-FFF2-40B4-BE49-F238E27FC236}">
                <a16:creationId xmlns:a16="http://schemas.microsoft.com/office/drawing/2014/main" id="{C7AA4E97-721F-E62B-8132-56459E0A43BE}"/>
              </a:ext>
            </a:extLst>
          </p:cNvPr>
          <p:cNvSpPr txBox="1"/>
          <p:nvPr/>
        </p:nvSpPr>
        <p:spPr>
          <a:xfrm>
            <a:off x="0" y="5767333"/>
            <a:ext cx="12192000"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6.6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伪标记生成和关键词细化网络结构示意图</a:t>
            </a:r>
          </a:p>
        </p:txBody>
      </p:sp>
      <p:sp>
        <p:nvSpPr>
          <p:cNvPr id="50" name="文本框 49">
            <a:extLst>
              <a:ext uri="{FF2B5EF4-FFF2-40B4-BE49-F238E27FC236}">
                <a16:creationId xmlns:a16="http://schemas.microsoft.com/office/drawing/2014/main" id="{A9DF9DDD-8B4D-84C1-12AC-446E60650750}"/>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6.3.3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少监督视频描述</a:t>
            </a:r>
          </a:p>
        </p:txBody>
      </p:sp>
      <p:sp>
        <p:nvSpPr>
          <p:cNvPr id="52" name="灯片编号占位符 51">
            <a:extLst>
              <a:ext uri="{FF2B5EF4-FFF2-40B4-BE49-F238E27FC236}">
                <a16:creationId xmlns:a16="http://schemas.microsoft.com/office/drawing/2014/main" id="{82A05C5D-05BA-DCE5-F0B5-5D6DB6C19157}"/>
              </a:ext>
            </a:extLst>
          </p:cNvPr>
          <p:cNvSpPr>
            <a:spLocks noGrp="1"/>
          </p:cNvSpPr>
          <p:nvPr>
            <p:ph type="sldNum" sz="quarter" idx="12"/>
          </p:nvPr>
        </p:nvSpPr>
        <p:spPr/>
        <p:txBody>
          <a:bodyPr/>
          <a:lstStyle/>
          <a:p>
            <a:fld id="{9FD78845-01F8-4781-BC44-71E27FEEA8FC}" type="slidenum">
              <a:rPr lang="zh-CN" altLang="en-US" smtClean="0"/>
              <a:t>12</a:t>
            </a:fld>
            <a:endParaRPr lang="zh-CN" altLang="en-US"/>
          </a:p>
        </p:txBody>
      </p:sp>
      <p:sp>
        <p:nvSpPr>
          <p:cNvPr id="51" name="文本框 50">
            <a:extLst>
              <a:ext uri="{FF2B5EF4-FFF2-40B4-BE49-F238E27FC236}">
                <a16:creationId xmlns:a16="http://schemas.microsoft.com/office/drawing/2014/main" id="{E5E54823-7F42-409B-D849-036072BD1A26}"/>
              </a:ext>
            </a:extLst>
          </p:cNvPr>
          <p:cNvSpPr txBox="1"/>
          <p:nvPr/>
        </p:nvSpPr>
        <p:spPr>
          <a:xfrm>
            <a:off x="651046" y="1685240"/>
            <a:ext cx="6195526" cy="369332"/>
          </a:xfrm>
          <a:prstGeom prst="rect">
            <a:avLst/>
          </a:prstGeom>
          <a:noFill/>
        </p:spPr>
        <p:txBody>
          <a:bodyPr wrap="square">
            <a:spAutoFit/>
          </a:bodyPr>
          <a:lstStyle/>
          <a:p>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具体方法</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文本框 53">
            <a:extLst>
              <a:ext uri="{FF2B5EF4-FFF2-40B4-BE49-F238E27FC236}">
                <a16:creationId xmlns:a16="http://schemas.microsoft.com/office/drawing/2014/main" id="{0301E443-D853-D7FF-9A22-36AE88F74963}"/>
              </a:ext>
            </a:extLst>
          </p:cNvPr>
          <p:cNvSpPr txBox="1"/>
          <p:nvPr/>
        </p:nvSpPr>
        <p:spPr>
          <a:xfrm flipH="1">
            <a:off x="0" y="1048415"/>
            <a:ext cx="12191999"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）基于伪标记生成和关键词细化的少监督视频描述方法</a:t>
            </a:r>
          </a:p>
        </p:txBody>
      </p:sp>
      <p:pic>
        <p:nvPicPr>
          <p:cNvPr id="55" name="图片 54">
            <a:extLst>
              <a:ext uri="{FF2B5EF4-FFF2-40B4-BE49-F238E27FC236}">
                <a16:creationId xmlns:a16="http://schemas.microsoft.com/office/drawing/2014/main" id="{A4B08B74-CBC8-06A7-7272-D535E1066D89}"/>
              </a:ext>
            </a:extLst>
          </p:cNvPr>
          <p:cNvPicPr>
            <a:picLocks noChangeAspect="1"/>
          </p:cNvPicPr>
          <p:nvPr/>
        </p:nvPicPr>
        <p:blipFill>
          <a:blip r:embed="rId2"/>
          <a:stretch>
            <a:fillRect/>
          </a:stretch>
        </p:blipFill>
        <p:spPr>
          <a:xfrm>
            <a:off x="2852305" y="2136587"/>
            <a:ext cx="6263986" cy="3606987"/>
          </a:xfrm>
          <a:prstGeom prst="rect">
            <a:avLst/>
          </a:prstGeom>
        </p:spPr>
      </p:pic>
      <p:sp>
        <p:nvSpPr>
          <p:cNvPr id="56" name="页脚占位符 40">
            <a:extLst>
              <a:ext uri="{FF2B5EF4-FFF2-40B4-BE49-F238E27FC236}">
                <a16:creationId xmlns:a16="http://schemas.microsoft.com/office/drawing/2014/main" id="{D005DA9B-44F4-3973-4571-3F5C0600637A}"/>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9883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53313-108B-5F39-42EC-CD1A40C0987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869F2AA-DB2B-F5A7-755D-7E3BABD3089D}"/>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6.3.4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基于纯文本训练的零样本方法</a:t>
            </a:r>
          </a:p>
        </p:txBody>
      </p:sp>
      <p:sp>
        <p:nvSpPr>
          <p:cNvPr id="7" name="灯片编号占位符 6">
            <a:extLst>
              <a:ext uri="{FF2B5EF4-FFF2-40B4-BE49-F238E27FC236}">
                <a16:creationId xmlns:a16="http://schemas.microsoft.com/office/drawing/2014/main" id="{B99DD31B-8402-9E94-C027-13252661F3AE}"/>
              </a:ext>
            </a:extLst>
          </p:cNvPr>
          <p:cNvSpPr>
            <a:spLocks noGrp="1"/>
          </p:cNvSpPr>
          <p:nvPr>
            <p:ph type="sldNum" sz="quarter" idx="12"/>
          </p:nvPr>
        </p:nvSpPr>
        <p:spPr/>
        <p:txBody>
          <a:bodyPr/>
          <a:lstStyle/>
          <a:p>
            <a:fld id="{9FD78845-01F8-4781-BC44-71E27FEEA8FC}" type="slidenum">
              <a:rPr lang="zh-CN" altLang="en-US" smtClean="0"/>
              <a:t>13</a:t>
            </a:fld>
            <a:endParaRPr lang="zh-CN" altLang="en-US"/>
          </a:p>
        </p:txBody>
      </p:sp>
      <p:sp>
        <p:nvSpPr>
          <p:cNvPr id="3" name="文本框 2">
            <a:extLst>
              <a:ext uri="{FF2B5EF4-FFF2-40B4-BE49-F238E27FC236}">
                <a16:creationId xmlns:a16="http://schemas.microsoft.com/office/drawing/2014/main" id="{CC6CD84B-8BEF-6E6C-3553-A861D2E5A228}"/>
              </a:ext>
            </a:extLst>
          </p:cNvPr>
          <p:cNvSpPr txBox="1"/>
          <p:nvPr/>
        </p:nvSpPr>
        <p:spPr>
          <a:xfrm flipH="1">
            <a:off x="0" y="1048415"/>
            <a:ext cx="12191999" cy="400110"/>
          </a:xfrm>
          <a:prstGeom prst="rect">
            <a:avLst/>
          </a:prstGeom>
          <a:noFill/>
        </p:spPr>
        <p:txBody>
          <a:bodyPr wrap="square" rtlCol="0">
            <a:spAutoFit/>
          </a:bodyPr>
          <a:lstStyle/>
          <a:p>
            <a:pPr>
              <a:spcAft>
                <a:spcPts val="600"/>
              </a:spcAft>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）基于图像相似检索和物体频率过滤的零样本描述方法</a:t>
            </a:r>
          </a:p>
        </p:txBody>
      </p:sp>
      <p:sp>
        <p:nvSpPr>
          <p:cNvPr id="9" name="文本框 8">
            <a:extLst>
              <a:ext uri="{FF2B5EF4-FFF2-40B4-BE49-F238E27FC236}">
                <a16:creationId xmlns:a16="http://schemas.microsoft.com/office/drawing/2014/main" id="{40C5B07D-5B89-68D8-0113-753AB40932D6}"/>
              </a:ext>
            </a:extLst>
          </p:cNvPr>
          <p:cNvSpPr txBox="1"/>
          <p:nvPr/>
        </p:nvSpPr>
        <p:spPr>
          <a:xfrm>
            <a:off x="637439" y="1581289"/>
            <a:ext cx="10925295" cy="4188326"/>
          </a:xfrm>
          <a:prstGeom prst="rect">
            <a:avLst/>
          </a:prstGeom>
          <a:noFill/>
        </p:spPr>
        <p:txBody>
          <a:bodyPr wrap="square">
            <a:spAutoFit/>
          </a:bodyPr>
          <a:lstStyle/>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问题描述</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预训练的多模态对比模型如</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CLIP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显示出强大的图文对齐能力。</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方法动机</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algn="just">
              <a:lnSpc>
                <a:spcPct val="150000"/>
              </a:lnSpc>
              <a:spcAft>
                <a:spcPts val="1200"/>
              </a:spcAft>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基于引导语言模型解码的</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Zero-shot Captioning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方法存在以下限制：</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）解码效率低；</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）检索式方法缺乏生成能力；</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）缺乏多粒度语义对齐。</a:t>
            </a:r>
          </a:p>
          <a:p>
            <a:pPr algn="just">
              <a:lnSpc>
                <a:spcPct val="150000"/>
              </a:lnSpc>
            </a:pP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方法特点</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图文检索</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模块：在训练阶段通过增加随机的噪声增强图到文检索时的正确率和鲁棒性；</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引入</a:t>
            </a:r>
            <a:r>
              <a:rPr lang="zh-CN" altLang="en-US" sz="1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词频实体筛选</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模块：利用语料库中词汇频率信息，对检索到的训练文本进行筛选；</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提出结合检索与生成的两阶段框架：在推理阶段先通过</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ILR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模块从图像出发检索相关的文本，再由语言模型生成最终描述。</a:t>
            </a:r>
          </a:p>
        </p:txBody>
      </p:sp>
      <p:sp>
        <p:nvSpPr>
          <p:cNvPr id="2" name="页脚占位符 40">
            <a:extLst>
              <a:ext uri="{FF2B5EF4-FFF2-40B4-BE49-F238E27FC236}">
                <a16:creationId xmlns:a16="http://schemas.microsoft.com/office/drawing/2014/main" id="{3C8198B1-FF35-F808-A7EE-AB81FB8B94A5}"/>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7948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5B7BC-CB32-E867-F06E-6F5EF55F221C}"/>
            </a:ext>
          </a:extLst>
        </p:cNvPr>
        <p:cNvGrpSpPr/>
        <p:nvPr/>
      </p:nvGrpSpPr>
      <p:grpSpPr>
        <a:xfrm>
          <a:off x="0" y="0"/>
          <a:ext cx="0" cy="0"/>
          <a:chOff x="0" y="0"/>
          <a:chExt cx="0" cy="0"/>
        </a:xfrm>
      </p:grpSpPr>
      <p:sp>
        <p:nvSpPr>
          <p:cNvPr id="147" name="文本框 146">
            <a:extLst>
              <a:ext uri="{FF2B5EF4-FFF2-40B4-BE49-F238E27FC236}">
                <a16:creationId xmlns:a16="http://schemas.microsoft.com/office/drawing/2014/main" id="{F11E2654-357C-078F-871A-28DE4F3DA192}"/>
              </a:ext>
            </a:extLst>
          </p:cNvPr>
          <p:cNvSpPr txBox="1"/>
          <p:nvPr/>
        </p:nvSpPr>
        <p:spPr>
          <a:xfrm>
            <a:off x="2" y="5532586"/>
            <a:ext cx="12191998"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6.7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图像相似检索和物体频率过滤网络结构示意图</a:t>
            </a:r>
          </a:p>
        </p:txBody>
      </p:sp>
      <p:sp>
        <p:nvSpPr>
          <p:cNvPr id="4" name="文本框 3">
            <a:extLst>
              <a:ext uri="{FF2B5EF4-FFF2-40B4-BE49-F238E27FC236}">
                <a16:creationId xmlns:a16="http://schemas.microsoft.com/office/drawing/2014/main" id="{D65CC188-964F-3145-E00C-1FECF799CC41}"/>
              </a:ext>
            </a:extLst>
          </p:cNvPr>
          <p:cNvSpPr txBox="1"/>
          <p:nvPr/>
        </p:nvSpPr>
        <p:spPr>
          <a:xfrm>
            <a:off x="0" y="42259"/>
            <a:ext cx="12191999" cy="584775"/>
          </a:xfrm>
          <a:prstGeom prst="rect">
            <a:avLst/>
          </a:prstGeom>
          <a:noFill/>
        </p:spPr>
        <p:txBody>
          <a:bodyPr wrap="square">
            <a:spAutoFit/>
          </a:bodyPr>
          <a:lstStyle/>
          <a:p>
            <a:pPr>
              <a:spcAft>
                <a:spcPts val="600"/>
              </a:spcAft>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6.3.4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基于纯文本训练的零样本方法</a:t>
            </a:r>
          </a:p>
        </p:txBody>
      </p:sp>
      <p:sp>
        <p:nvSpPr>
          <p:cNvPr id="6" name="灯片编号占位符 5">
            <a:extLst>
              <a:ext uri="{FF2B5EF4-FFF2-40B4-BE49-F238E27FC236}">
                <a16:creationId xmlns:a16="http://schemas.microsoft.com/office/drawing/2014/main" id="{A04D50AE-200E-8C1F-85DF-CB6F0239A5CA}"/>
              </a:ext>
            </a:extLst>
          </p:cNvPr>
          <p:cNvSpPr>
            <a:spLocks noGrp="1"/>
          </p:cNvSpPr>
          <p:nvPr>
            <p:ph type="sldNum" sz="quarter" idx="12"/>
          </p:nvPr>
        </p:nvSpPr>
        <p:spPr/>
        <p:txBody>
          <a:bodyPr/>
          <a:lstStyle/>
          <a:p>
            <a:fld id="{9FD78845-01F8-4781-BC44-71E27FEEA8FC}" type="slidenum">
              <a:rPr lang="zh-CN" altLang="en-US" smtClean="0"/>
              <a:t>14</a:t>
            </a:fld>
            <a:endParaRPr lang="zh-CN" altLang="en-US"/>
          </a:p>
        </p:txBody>
      </p:sp>
      <p:sp>
        <p:nvSpPr>
          <p:cNvPr id="2" name="文本框 1">
            <a:extLst>
              <a:ext uri="{FF2B5EF4-FFF2-40B4-BE49-F238E27FC236}">
                <a16:creationId xmlns:a16="http://schemas.microsoft.com/office/drawing/2014/main" id="{2BD7392A-D813-0D25-3F8F-0698750ABFB0}"/>
              </a:ext>
            </a:extLst>
          </p:cNvPr>
          <p:cNvSpPr txBox="1"/>
          <p:nvPr/>
        </p:nvSpPr>
        <p:spPr>
          <a:xfrm flipH="1">
            <a:off x="0" y="1048415"/>
            <a:ext cx="12191999" cy="400110"/>
          </a:xfrm>
          <a:prstGeom prst="rect">
            <a:avLst/>
          </a:prstGeom>
          <a:noFill/>
        </p:spPr>
        <p:txBody>
          <a:bodyPr wrap="square" rtlCol="0">
            <a:spAutoFit/>
          </a:bodyPr>
          <a:lstStyle/>
          <a:p>
            <a:pPr>
              <a:spcAft>
                <a:spcPts val="600"/>
              </a:spcAft>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）基于图像相似检索和物体频率过滤的零样本描述方法</a:t>
            </a:r>
          </a:p>
        </p:txBody>
      </p:sp>
      <p:sp>
        <p:nvSpPr>
          <p:cNvPr id="5" name="文本框 4">
            <a:extLst>
              <a:ext uri="{FF2B5EF4-FFF2-40B4-BE49-F238E27FC236}">
                <a16:creationId xmlns:a16="http://schemas.microsoft.com/office/drawing/2014/main" id="{954531FB-8153-ECC2-9BA8-7F9B620C8343}"/>
              </a:ext>
            </a:extLst>
          </p:cNvPr>
          <p:cNvSpPr txBox="1"/>
          <p:nvPr/>
        </p:nvSpPr>
        <p:spPr>
          <a:xfrm>
            <a:off x="651046" y="1685240"/>
            <a:ext cx="6195526" cy="369332"/>
          </a:xfrm>
          <a:prstGeom prst="rect">
            <a:avLst/>
          </a:prstGeom>
          <a:noFill/>
        </p:spPr>
        <p:txBody>
          <a:bodyPr wrap="square">
            <a:spAutoFit/>
          </a:bodyPr>
          <a:lstStyle/>
          <a:p>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具体方法</a:t>
            </a:r>
            <a:r>
              <a:rPr lang="zh-CN" altLang="zh-CN" dirty="0">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3" name="图片 2">
            <a:extLst>
              <a:ext uri="{FF2B5EF4-FFF2-40B4-BE49-F238E27FC236}">
                <a16:creationId xmlns:a16="http://schemas.microsoft.com/office/drawing/2014/main" id="{B4AA0A4D-5E61-34C0-95F3-DDBDACD68E6E}"/>
              </a:ext>
            </a:extLst>
          </p:cNvPr>
          <p:cNvPicPr>
            <a:picLocks noChangeAspect="1"/>
          </p:cNvPicPr>
          <p:nvPr/>
        </p:nvPicPr>
        <p:blipFill>
          <a:blip r:embed="rId2"/>
          <a:stretch>
            <a:fillRect/>
          </a:stretch>
        </p:blipFill>
        <p:spPr>
          <a:xfrm>
            <a:off x="2461780" y="1996006"/>
            <a:ext cx="6959311" cy="3525875"/>
          </a:xfrm>
          <a:prstGeom prst="rect">
            <a:avLst/>
          </a:prstGeom>
        </p:spPr>
      </p:pic>
      <p:sp>
        <p:nvSpPr>
          <p:cNvPr id="8" name="页脚占位符 40">
            <a:extLst>
              <a:ext uri="{FF2B5EF4-FFF2-40B4-BE49-F238E27FC236}">
                <a16:creationId xmlns:a16="http://schemas.microsoft.com/office/drawing/2014/main" id="{B12CDC99-59A2-72D5-61C2-2DA2E8749A6B}"/>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339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8770-DB3B-60FA-9A16-C501E5666BC5}"/>
            </a:ext>
          </a:extLst>
        </p:cNvPr>
        <p:cNvGrpSpPr/>
        <p:nvPr/>
      </p:nvGrpSpPr>
      <p:grpSpPr>
        <a:xfrm>
          <a:off x="0" y="0"/>
          <a:ext cx="0" cy="0"/>
          <a:chOff x="0" y="0"/>
          <a:chExt cx="0" cy="0"/>
        </a:xfrm>
      </p:grpSpPr>
      <p:sp>
        <p:nvSpPr>
          <p:cNvPr id="542" name="文本框 541">
            <a:extLst>
              <a:ext uri="{FF2B5EF4-FFF2-40B4-BE49-F238E27FC236}">
                <a16:creationId xmlns:a16="http://schemas.microsoft.com/office/drawing/2014/main" id="{EDFA2E21-D55D-2AF8-054F-EBCE02651E74}"/>
              </a:ext>
            </a:extLst>
          </p:cNvPr>
          <p:cNvSpPr txBox="1"/>
          <p:nvPr/>
        </p:nvSpPr>
        <p:spPr>
          <a:xfrm flipH="1">
            <a:off x="-37752" y="849075"/>
            <a:ext cx="11043181" cy="400110"/>
          </a:xfrm>
          <a:prstGeom prst="rect">
            <a:avLst/>
          </a:prstGeom>
          <a:noFill/>
        </p:spPr>
        <p:txBody>
          <a:bodyPr wrap="square" rtlCol="0">
            <a:spAutoFit/>
          </a:bodyPr>
          <a:lstStyle/>
          <a:p>
            <a:pPr>
              <a:spcAft>
                <a:spcPts val="600"/>
              </a:spcAft>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sym typeface="Times New Roman" panose="02020603050405020304" pitchFamily="18" charset="0"/>
              </a:rPr>
              <a:t>简答题</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6" name="文本框 545">
            <a:extLst>
              <a:ext uri="{FF2B5EF4-FFF2-40B4-BE49-F238E27FC236}">
                <a16:creationId xmlns:a16="http://schemas.microsoft.com/office/drawing/2014/main" id="{42F3BB67-4B50-DF3C-46FC-D198D63B228C}"/>
              </a:ext>
            </a:extLst>
          </p:cNvPr>
          <p:cNvSpPr txBox="1"/>
          <p:nvPr/>
        </p:nvSpPr>
        <p:spPr>
          <a:xfrm>
            <a:off x="380326" y="1288382"/>
            <a:ext cx="9963150" cy="1895391"/>
          </a:xfrm>
          <a:prstGeom prst="rect">
            <a:avLst/>
          </a:prstGeom>
          <a:noFill/>
        </p:spPr>
        <p:txBody>
          <a:bodyPr wrap="square">
            <a:spAutoFit/>
          </a:bodyPr>
          <a:lstStyle/>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请简述单语句视频描述任务，密集视频描述任务以及少样本及零样本描述任务的异同点。</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请简述视频描述模型中编码器</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解码器结构的设计原因和设计思路。</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训练过程中为什么要使用教师引导（</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Teacher Forcing</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）策略？是否存在替代方法？</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如何在模型中有效建模视频的时间信息？请列举一种常用方法。</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5)  </a:t>
            </a: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如何提高模型生成的描述的多样性和创造性？</a:t>
            </a:r>
          </a:p>
        </p:txBody>
      </p:sp>
      <p:sp>
        <p:nvSpPr>
          <p:cNvPr id="548" name="文本框 547">
            <a:extLst>
              <a:ext uri="{FF2B5EF4-FFF2-40B4-BE49-F238E27FC236}">
                <a16:creationId xmlns:a16="http://schemas.microsoft.com/office/drawing/2014/main" id="{BD24D0FE-B5A1-F42C-4767-B2A59F57ABAA}"/>
              </a:ext>
            </a:extLst>
          </p:cNvPr>
          <p:cNvSpPr txBox="1"/>
          <p:nvPr/>
        </p:nvSpPr>
        <p:spPr>
          <a:xfrm>
            <a:off x="0" y="3674228"/>
            <a:ext cx="6196012" cy="400110"/>
          </a:xfrm>
          <a:prstGeom prst="rect">
            <a:avLst/>
          </a:prstGeom>
          <a:noFill/>
        </p:spPr>
        <p:txBody>
          <a:bodyPr wrap="square">
            <a:spAutoFit/>
          </a:bodyPr>
          <a:lstStyle/>
          <a:p>
            <a:pPr>
              <a:spcAft>
                <a:spcPts val="600"/>
              </a:spcAft>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动手实践题</a:t>
            </a:r>
          </a:p>
        </p:txBody>
      </p:sp>
      <p:sp>
        <p:nvSpPr>
          <p:cNvPr id="549" name="文本框 548">
            <a:extLst>
              <a:ext uri="{FF2B5EF4-FFF2-40B4-BE49-F238E27FC236}">
                <a16:creationId xmlns:a16="http://schemas.microsoft.com/office/drawing/2014/main" id="{7C42C222-E2CF-0943-5537-EF0247572947}"/>
              </a:ext>
            </a:extLst>
          </p:cNvPr>
          <p:cNvSpPr txBox="1"/>
          <p:nvPr/>
        </p:nvSpPr>
        <p:spPr>
          <a:xfrm>
            <a:off x="380326" y="4120268"/>
            <a:ext cx="9963150" cy="417422"/>
          </a:xfrm>
          <a:prstGeom prst="rect">
            <a:avLst/>
          </a:prstGeom>
          <a:noFill/>
        </p:spPr>
        <p:txBody>
          <a:bodyPr wrap="square">
            <a:spAutoFit/>
          </a:bodyPr>
          <a:lstStyle/>
          <a:p>
            <a:pPr>
              <a:lnSpc>
                <a:spcPct val="150000"/>
              </a:lnSpc>
            </a:pP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1600" dirty="0">
                <a:latin typeface="Times New Roman" panose="02020603050405020304" pitchFamily="18" charset="0"/>
                <a:ea typeface="微软雅黑" panose="020B0503020204020204" pitchFamily="34" charset="-122"/>
                <a:sym typeface="Times New Roman" panose="02020603050405020304" pitchFamily="18" charset="0"/>
              </a:rPr>
              <a:t>) P170</a:t>
            </a:r>
          </a:p>
        </p:txBody>
      </p:sp>
      <p:sp>
        <p:nvSpPr>
          <p:cNvPr id="5" name="文本框 4">
            <a:extLst>
              <a:ext uri="{FF2B5EF4-FFF2-40B4-BE49-F238E27FC236}">
                <a16:creationId xmlns:a16="http://schemas.microsoft.com/office/drawing/2014/main" id="{6E60D332-CB6D-BB30-75BF-3BE84146BDB3}"/>
              </a:ext>
            </a:extLst>
          </p:cNvPr>
          <p:cNvSpPr txBox="1"/>
          <p:nvPr/>
        </p:nvSpPr>
        <p:spPr>
          <a:xfrm>
            <a:off x="0" y="42259"/>
            <a:ext cx="12191999" cy="584775"/>
          </a:xfrm>
          <a:prstGeom prst="rect">
            <a:avLst/>
          </a:prstGeom>
          <a:noFill/>
        </p:spPr>
        <p:txBody>
          <a:bodyPr wrap="square">
            <a:spAutoFit/>
          </a:bodyPr>
          <a:lstStyle/>
          <a:p>
            <a:pPr>
              <a:spcAft>
                <a:spcPts val="600"/>
              </a:spcAft>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本章习题</a:t>
            </a:r>
          </a:p>
        </p:txBody>
      </p:sp>
      <p:sp>
        <p:nvSpPr>
          <p:cNvPr id="7" name="灯片编号占位符 6">
            <a:extLst>
              <a:ext uri="{FF2B5EF4-FFF2-40B4-BE49-F238E27FC236}">
                <a16:creationId xmlns:a16="http://schemas.microsoft.com/office/drawing/2014/main" id="{284FBD49-35DD-4625-EC0C-B0CF1CC19820}"/>
              </a:ext>
            </a:extLst>
          </p:cNvPr>
          <p:cNvSpPr>
            <a:spLocks noGrp="1"/>
          </p:cNvSpPr>
          <p:nvPr>
            <p:ph type="sldNum" sz="quarter" idx="12"/>
          </p:nvPr>
        </p:nvSpPr>
        <p:spPr/>
        <p:txBody>
          <a:bodyPr/>
          <a:lstStyle/>
          <a:p>
            <a:fld id="{9FD78845-01F8-4781-BC44-71E27FEEA8FC}" type="slidenum">
              <a:rPr lang="zh-CN" altLang="en-US" smtClean="0"/>
              <a:t>15</a:t>
            </a:fld>
            <a:endParaRPr lang="zh-CN" altLang="en-US"/>
          </a:p>
        </p:txBody>
      </p:sp>
      <p:sp>
        <p:nvSpPr>
          <p:cNvPr id="2" name="页脚占位符 40">
            <a:extLst>
              <a:ext uri="{FF2B5EF4-FFF2-40B4-BE49-F238E27FC236}">
                <a16:creationId xmlns:a16="http://schemas.microsoft.com/office/drawing/2014/main" id="{D35E3105-2BD6-6C34-38A5-408F8EBD5283}"/>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04796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A9E4B-7F74-8750-919B-FC21B9CE782B}"/>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BB2BE74-158B-434C-0738-67ECE3A4595E}"/>
              </a:ext>
            </a:extLst>
          </p:cNvPr>
          <p:cNvSpPr txBox="1"/>
          <p:nvPr/>
        </p:nvSpPr>
        <p:spPr>
          <a:xfrm>
            <a:off x="0" y="42259"/>
            <a:ext cx="12191999" cy="584775"/>
          </a:xfrm>
          <a:prstGeom prst="rect">
            <a:avLst/>
          </a:prstGeom>
          <a:noFill/>
        </p:spPr>
        <p:txBody>
          <a:bodyPr wrap="square">
            <a:spAutoFit/>
          </a:bodyPr>
          <a:lstStyle/>
          <a:p>
            <a:pPr>
              <a:spcAft>
                <a:spcPts val="600"/>
              </a:spcAft>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参考文献</a:t>
            </a:r>
          </a:p>
        </p:txBody>
      </p:sp>
      <p:sp>
        <p:nvSpPr>
          <p:cNvPr id="4" name="灯片编号占位符 3">
            <a:extLst>
              <a:ext uri="{FF2B5EF4-FFF2-40B4-BE49-F238E27FC236}">
                <a16:creationId xmlns:a16="http://schemas.microsoft.com/office/drawing/2014/main" id="{6EAD22F9-1C47-3A1D-38DA-8039315D1A0B}"/>
              </a:ext>
            </a:extLst>
          </p:cNvPr>
          <p:cNvSpPr>
            <a:spLocks noGrp="1"/>
          </p:cNvSpPr>
          <p:nvPr>
            <p:ph type="sldNum" sz="quarter" idx="12"/>
          </p:nvPr>
        </p:nvSpPr>
        <p:spPr/>
        <p:txBody>
          <a:bodyPr/>
          <a:lstStyle/>
          <a:p>
            <a:fld id="{9FD78845-01F8-4781-BC44-71E27FEEA8FC}" type="slidenum">
              <a:rPr lang="zh-CN" altLang="en-US" smtClean="0"/>
              <a:t>16</a:t>
            </a:fld>
            <a:endParaRPr lang="zh-CN" altLang="en-US" dirty="0"/>
          </a:p>
        </p:txBody>
      </p:sp>
      <p:sp>
        <p:nvSpPr>
          <p:cNvPr id="12" name="文本框 11">
            <a:extLst>
              <a:ext uri="{FF2B5EF4-FFF2-40B4-BE49-F238E27FC236}">
                <a16:creationId xmlns:a16="http://schemas.microsoft.com/office/drawing/2014/main" id="{72F87A8B-4528-2FF6-7C6E-7F8838D0A8F3}"/>
              </a:ext>
            </a:extLst>
          </p:cNvPr>
          <p:cNvSpPr txBox="1"/>
          <p:nvPr/>
        </p:nvSpPr>
        <p:spPr>
          <a:xfrm>
            <a:off x="6162291" y="1383722"/>
            <a:ext cx="5544000" cy="4059445"/>
          </a:xfrm>
          <a:prstGeom prst="rect">
            <a:avLst/>
          </a:prstGeom>
          <a:noFill/>
        </p:spPr>
        <p:txBody>
          <a:bodyPr wrap="square">
            <a:spAutoFit/>
          </a:bodyPr>
          <a:lstStyle/>
          <a:p>
            <a:pPr marL="28800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 [7] </a:t>
            </a:r>
            <a:r>
              <a:rPr lang="zh-CN" altLang="zh-CN" sz="1200" dirty="0">
                <a:latin typeface="Times New Roman" panose="02020603050405020304" pitchFamily="18" charset="0"/>
                <a:cs typeface="Times New Roman" panose="02020603050405020304" pitchFamily="18" charset="0"/>
              </a:rPr>
              <a:t>Shixing Yu, Tianlong Chen, Jiayi Shen, Huan Yuan, Jianchao Tan, Sen Yang, Ji Liu, and Zhangyang Wang. Unified visual transformer compression. In Proceedings of the International Conference on Learning Repre sentations (ICLR), 2022</a:t>
            </a:r>
            <a:r>
              <a:rPr lang="en-US" altLang="zh-CN" sz="1200" dirty="0">
                <a:latin typeface="Times New Roman" panose="02020603050405020304" pitchFamily="18" charset="0"/>
                <a:cs typeface="Times New Roman" panose="02020603050405020304" pitchFamily="18" charset="0"/>
              </a:rPr>
              <a:t>.</a:t>
            </a:r>
          </a:p>
          <a:p>
            <a:pPr marL="28800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[8] </a:t>
            </a:r>
            <a:r>
              <a:rPr lang="zh-CN" altLang="zh-CN" sz="1200" dirty="0">
                <a:latin typeface="Times New Roman" panose="02020603050405020304" pitchFamily="18" charset="0"/>
                <a:cs typeface="Times New Roman" panose="02020603050405020304" pitchFamily="18" charset="0"/>
              </a:rPr>
              <a:t>Junyi Wu, Haoxuan Wang, Yuzhang Shang, Mubarak Shah, and Yan Yan. Ptq4dit: Post-training quantization for diffusion transformers. Advances in Neural Information Processing Systems (NeurIPS), 2024</a:t>
            </a:r>
            <a:r>
              <a:rPr lang="en-US" altLang="zh-CN" sz="1200" dirty="0">
                <a:latin typeface="Times New Roman" panose="02020603050405020304" pitchFamily="18" charset="0"/>
                <a:cs typeface="Times New Roman" panose="02020603050405020304" pitchFamily="18" charset="0"/>
              </a:rPr>
              <a:t>: 62732-62755.</a:t>
            </a:r>
          </a:p>
          <a:p>
            <a:pPr marL="28800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[9] </a:t>
            </a:r>
            <a:r>
              <a:rPr lang="zh-CN" altLang="zh-CN" sz="1200" dirty="0">
                <a:latin typeface="Times New Roman" panose="02020603050405020304" pitchFamily="18" charset="0"/>
                <a:cs typeface="Times New Roman" panose="02020603050405020304" pitchFamily="18" charset="0"/>
              </a:rPr>
              <a:t>Shih-Yang Liu, Zechun Liu, and Kwang-Ting Cheng. Oscillation-free quantization for low-bit vision trans formers. In Proceedings of the International Conference on Machine Learning (ICML), 2023</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21813</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21824</a:t>
            </a:r>
            <a:r>
              <a:rPr lang="en-US" altLang="zh-CN" sz="1200" dirty="0">
                <a:latin typeface="Times New Roman" panose="02020603050405020304" pitchFamily="18" charset="0"/>
                <a:cs typeface="Times New Roman" panose="02020603050405020304" pitchFamily="18" charset="0"/>
              </a:rPr>
              <a:t>.</a:t>
            </a:r>
          </a:p>
          <a:p>
            <a:pPr marL="28800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[10] </a:t>
            </a:r>
            <a:r>
              <a:rPr lang="zh-CN" altLang="zh-CN" sz="1200" dirty="0">
                <a:latin typeface="Times New Roman" panose="02020603050405020304" pitchFamily="18" charset="0"/>
                <a:cs typeface="Times New Roman" panose="02020603050405020304" pitchFamily="18" charset="0"/>
              </a:rPr>
              <a:t>HoangAnhDung,CuongPham,TrungLe,JianfeiCai,andThanh-ToanDo. Sharpness-aware data generation for zero-shot quantization. In Proceedings of the International Conference on Machine Learning (ICML), 2024</a:t>
            </a:r>
            <a:r>
              <a:rPr lang="en-US" altLang="zh-CN" sz="1200" dirty="0">
                <a:latin typeface="Times New Roman" panose="02020603050405020304" pitchFamily="18" charset="0"/>
                <a:cs typeface="Times New Roman" panose="02020603050405020304" pitchFamily="18" charset="0"/>
              </a:rPr>
              <a:t>: 12034-12045.</a:t>
            </a:r>
          </a:p>
          <a:p>
            <a:pPr marL="28800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[11] </a:t>
            </a:r>
            <a:r>
              <a:rPr lang="zh-CN" altLang="zh-CN" sz="1200" dirty="0">
                <a:latin typeface="Times New Roman" panose="02020603050405020304" pitchFamily="18" charset="0"/>
                <a:cs typeface="Times New Roman" panose="02020603050405020304" pitchFamily="18" charset="0"/>
              </a:rPr>
              <a:t>Shaobo Wang, Yicun Yang, Zhiyuan Liu, Chenghao Sun, Xuming Hu, Conghui He, and Linfeng Zhang. Dataset distillation with neural characteristic function: A minmax perspective. In Proceedings of the IEEE Conference on Computer Vision and Pattern Recognition (CVPR), 2025</a:t>
            </a:r>
            <a:r>
              <a:rPr lang="en-US" altLang="zh-CN" sz="1200" dirty="0">
                <a:latin typeface="Times New Roman" panose="02020603050405020304" pitchFamily="18" charset="0"/>
                <a:cs typeface="Times New Roman" panose="02020603050405020304" pitchFamily="18" charset="0"/>
              </a:rPr>
              <a:t>: 25570-25580. </a:t>
            </a:r>
            <a:endParaRPr lang="zh-CN" altLang="en-US" sz="12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53F5FE77-D539-F8FF-A22E-D0A8032B44D3}"/>
              </a:ext>
            </a:extLst>
          </p:cNvPr>
          <p:cNvSpPr txBox="1"/>
          <p:nvPr/>
        </p:nvSpPr>
        <p:spPr>
          <a:xfrm>
            <a:off x="384242" y="1386805"/>
            <a:ext cx="5711757" cy="4634346"/>
          </a:xfrm>
          <a:prstGeom prst="rect">
            <a:avLst/>
          </a:prstGeom>
          <a:noFill/>
        </p:spPr>
        <p:txBody>
          <a:bodyPr wrap="square">
            <a:spAutoFit/>
          </a:bodyPr>
          <a:lstStyle/>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[1] P</a:t>
            </a:r>
            <a:r>
              <a:rPr lang="en-US" altLang="zh-CN" sz="1200" dirty="0">
                <a:latin typeface="Times New Roman" panose="02020603050405020304" pitchFamily="18" charset="0"/>
                <a:cs typeface="Times New Roman" panose="02020603050405020304" pitchFamily="18" charset="0"/>
              </a:rPr>
              <a:t>ing Li, Tao Wang, and </a:t>
            </a:r>
            <a:r>
              <a:rPr lang="en-US" altLang="zh-CN" sz="1200" dirty="0" err="1">
                <a:latin typeface="Times New Roman" panose="02020603050405020304" pitchFamily="18" charset="0"/>
                <a:cs typeface="Times New Roman" panose="02020603050405020304" pitchFamily="18" charset="0"/>
              </a:rPr>
              <a:t>Zeyu</a:t>
            </a:r>
            <a:r>
              <a:rPr lang="en-US" altLang="zh-CN" sz="1200" dirty="0">
                <a:latin typeface="Times New Roman" panose="02020603050405020304" pitchFamily="18" charset="0"/>
                <a:cs typeface="Times New Roman" panose="02020603050405020304" pitchFamily="18" charset="0"/>
              </a:rPr>
              <a:t> Pan. Temporal prompt guided visual-text-object alignment for zero-shot video captioning. Computer Vision and Image Understanding (CVIU), 2026, 263: 104601</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p>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[2] </a:t>
            </a:r>
            <a:r>
              <a:rPr lang="en-US" altLang="zh-CN" sz="1200" dirty="0">
                <a:latin typeface="Times New Roman" panose="02020603050405020304" pitchFamily="18" charset="0"/>
                <a:cs typeface="Times New Roman" panose="02020603050405020304" pitchFamily="18" charset="0"/>
              </a:rPr>
              <a:t>Ping Li, Tao Wang, </a:t>
            </a:r>
            <a:r>
              <a:rPr lang="en-US" altLang="zh-CN" sz="1200" dirty="0" err="1">
                <a:latin typeface="Times New Roman" panose="02020603050405020304" pitchFamily="18" charset="0"/>
                <a:cs typeface="Times New Roman" panose="02020603050405020304" pitchFamily="18" charset="0"/>
              </a:rPr>
              <a:t>Xinkui</a:t>
            </a:r>
            <a:r>
              <a:rPr lang="en-US" altLang="zh-CN" sz="1200" dirty="0">
                <a:latin typeface="Times New Roman" panose="02020603050405020304" pitchFamily="18" charset="0"/>
                <a:cs typeface="Times New Roman" panose="02020603050405020304" pitchFamily="18" charset="0"/>
              </a:rPr>
              <a:t> Zhao, </a:t>
            </a:r>
            <a:r>
              <a:rPr lang="en-US" altLang="zh-CN" sz="1200" dirty="0" err="1">
                <a:latin typeface="Times New Roman" panose="02020603050405020304" pitchFamily="18" charset="0"/>
                <a:cs typeface="Times New Roman" panose="02020603050405020304" pitchFamily="18" charset="0"/>
              </a:rPr>
              <a:t>Xianghua</a:t>
            </a:r>
            <a:r>
              <a:rPr lang="en-US" altLang="zh-CN" sz="1200" dirty="0">
                <a:latin typeface="Times New Roman" panose="02020603050405020304" pitchFamily="18" charset="0"/>
                <a:cs typeface="Times New Roman" panose="02020603050405020304" pitchFamily="18" charset="0"/>
              </a:rPr>
              <a:t> Xu, and Mingli Song. Pseudo-labeling with keyword refining for few-supervised video captioning. Pattern Recognition (PR), 2025,</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159: 111176</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p>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[3] </a:t>
            </a:r>
            <a:r>
              <a:rPr lang="en-US" altLang="zh-CN" sz="1200" dirty="0">
                <a:latin typeface="Times New Roman" panose="02020603050405020304" pitchFamily="18" charset="0"/>
                <a:cs typeface="Times New Roman" panose="02020603050405020304" pitchFamily="18" charset="0"/>
              </a:rPr>
              <a:t>Ping Li, Pan Zhang, Tao Wang, and Huaxin Xiao. Time-frequency recurrent transformer with diversity constraint for dense video captioning. Information Processing &amp; Management, 2023, 60(2): 103204.</a:t>
            </a:r>
            <a:endParaRPr lang="en-US" altLang="zh-CN" sz="1200" dirty="0">
              <a:latin typeface="Times New Roman" panose="02020603050405020304" pitchFamily="18" charset="0"/>
              <a:ea typeface="仿宋" panose="02010609060101010101" pitchFamily="49" charset="-122"/>
              <a:cs typeface="Times New Roman" panose="02020603050405020304" pitchFamily="18" charset="0"/>
            </a:endParaRPr>
          </a:p>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[4] </a:t>
            </a:r>
            <a:r>
              <a:rPr lang="zh-CN" altLang="zh-CN" sz="1200" dirty="0">
                <a:latin typeface="Times New Roman" panose="02020603050405020304" pitchFamily="18" charset="0"/>
                <a:cs typeface="Times New Roman" panose="02020603050405020304" pitchFamily="18" charset="0"/>
              </a:rPr>
              <a:t>Zheng Li, Xiang Li, Lingfeng Yang, Borui Zhao, Renjie Song, Lei Luo, Jun Li, and Jian Yang. Curriculum temperature for knowledge distillation. In Proceedings of the AAAI Conference on Artificial Intelligence (AAAI), 2023</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1504</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1512</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p>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[5] </a:t>
            </a:r>
            <a:r>
              <a:rPr lang="zh-CN" altLang="zh-CN" sz="1200" dirty="0">
                <a:latin typeface="Times New Roman" panose="02020603050405020304" pitchFamily="18" charset="0"/>
                <a:cs typeface="Times New Roman" panose="02020603050405020304" pitchFamily="18" charset="0"/>
              </a:rPr>
              <a:t>Song Han, Jeff Pool, John Tran, and William Dally. Learning both weights and connections for efficient neural network. Advances in Neural Information Processing Systems (NeurIPS), 2015</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1135</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1143</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p>
          <a:p>
            <a:pPr marL="252000" lvl="0" indent="-457200" algn="just">
              <a:lnSpc>
                <a:spcPct val="114000"/>
              </a:lnSpc>
              <a:spcAft>
                <a:spcPts val="1200"/>
              </a:spcAft>
              <a:buSzPts val="900"/>
            </a:pP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[6] </a:t>
            </a:r>
            <a:r>
              <a:rPr lang="zh-CN" altLang="zh-CN" sz="1200" dirty="0">
                <a:latin typeface="Times New Roman" panose="02020603050405020304" pitchFamily="18" charset="0"/>
                <a:cs typeface="Times New Roman" panose="02020603050405020304" pitchFamily="18" charset="0"/>
              </a:rPr>
              <a:t>Yang Sui, Miao Yin, Yi Xie, Huy Phan, Saman A. Zonouz, and Bo Yuan. CHIP: channel independence-based pruning for compact neural networks. Advances in Neural Information Processing Systems (NeurIPS), 2021</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24604</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24616</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2" name="页脚占位符 40">
            <a:extLst>
              <a:ext uri="{FF2B5EF4-FFF2-40B4-BE49-F238E27FC236}">
                <a16:creationId xmlns:a16="http://schemas.microsoft.com/office/drawing/2014/main" id="{EC2BA8FD-5598-82A0-3F4C-D35E27836F05}"/>
              </a:ext>
            </a:extLst>
          </p:cNvPr>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a:t>
            </a:r>
            <a:r>
              <a:rPr lang="en-US" altLang="zh-CN" sz="12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视频描述</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45615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3320</TotalTime>
  <Words>1696</Words>
  <Application>Microsoft Office PowerPoint</Application>
  <PresentationFormat>宽屏</PresentationFormat>
  <Paragraphs>140</Paragraphs>
  <Slides>16</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等线</vt:lpstr>
      <vt:lpstr>等线 Light</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绍启 田</dc:creator>
  <cp:lastModifiedBy>绍启 田</cp:lastModifiedBy>
  <cp:revision>109</cp:revision>
  <dcterms:created xsi:type="dcterms:W3CDTF">2026-06-30T07:17:56Z</dcterms:created>
  <dcterms:modified xsi:type="dcterms:W3CDTF">2026-07-08T01:38:49Z</dcterms:modified>
</cp:coreProperties>
</file>