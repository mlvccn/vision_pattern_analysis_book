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96" r:id="rId2"/>
    <p:sldId id="291" r:id="rId3"/>
    <p:sldId id="258" r:id="rId4"/>
    <p:sldId id="259" r:id="rId5"/>
    <p:sldId id="295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9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F87"/>
    <a:srgbClr val="0066CC"/>
    <a:srgbClr val="192EC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FE52-C6E7-4B1A-9A72-EDC7F2CC29C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1401E-ED6B-48B2-A950-5A30F0C2C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81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1401E-ED6B-48B2-A950-5A30F0C2C1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29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84747-1C49-D6AB-46A1-19A231556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3D8F18-AEF4-9E8E-924B-CF73DE974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C5D38-03AC-EB27-FE1C-DE501F5B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FCC54-03B9-5011-B187-B0476B2F7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67882-B289-855C-1710-FA58EA54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4FE8D-86CB-3534-C6F2-062EE8E2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A28D29-47A1-5532-1937-49098FDB3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54200-1B09-69B9-39EE-2AE07C4BF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94E525-1B37-B9A7-E080-FE20B086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6F8E7D-275F-7C2F-68BD-AD477D46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32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65CE0-EF9A-A267-4A9F-DD93074A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B937B4-49C7-6544-A765-C2D9F2C17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680EE-AEFB-3CA0-9B46-99A4A274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E92B8-5EC7-795F-84C0-0FBAF1A1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AA31D-1987-30F0-2FD0-E4E692EA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55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7FB4A-3DF6-B52D-9EE7-C72728E3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17C8E-2CF6-A0B4-123F-9883EFB8A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08FBBA-C685-7362-368C-F1974DE5E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E4A3E8-7C9E-6444-F555-DE846CC9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BDF25F-06D3-7503-E14B-DD118D0F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69A870-2A97-CC07-713D-7D8EB5DD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35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3E9E5-191E-0DCB-A7A7-11258733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A3025-30E2-CC4A-C02F-BE49BE6CD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8EB5F3-7D52-0074-8601-18CEB4FE7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877E73-14C5-4B7B-59A0-D95F75769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A76B99-0AFC-4011-1127-12371586F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5F8AC7-2CA6-D936-0E5D-B36922EC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DA63A5-B4B3-1F98-9011-1ABD044D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0F9919-6AA8-A2C1-C5A3-31E69A3D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20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11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D4FC17-49DC-0FE5-14EC-72D5AE81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动作识别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675A0-F7C1-42CE-C25A-161AC73D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4263" y="6473536"/>
            <a:ext cx="2743200" cy="365125"/>
          </a:xfrm>
        </p:spPr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C13B8C-828A-D377-E284-782210DF7790}"/>
              </a:ext>
            </a:extLst>
          </p:cNvPr>
          <p:cNvSpPr/>
          <p:nvPr userDrawn="1"/>
        </p:nvSpPr>
        <p:spPr>
          <a:xfrm>
            <a:off x="0" y="0"/>
            <a:ext cx="12192000" cy="675118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65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43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60279-D810-DE67-1D47-FF44C1FC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51DE6-986A-7ADA-286E-1D8CC5908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EEF086-C898-9193-8E2F-DAFC96E5F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1517C-8B76-8BBB-1434-4C28FCD7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F53C8A-C824-320A-9005-007DD943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080528-30F0-5AAD-FEE4-5CFEBE6F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77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9CA79-E00D-4F72-1F6E-087D5BF0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3BEDA3-9A1D-EB5E-3BB6-B1E09877C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9E9B71-1E19-C1DB-ED10-F43A64085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B0E77B-2103-590E-A9F1-2AD64AA1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B278C-83E9-5DED-9B25-A7772134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A75E7B-7F9F-65F1-962A-DD26E9CA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60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7ABF4-EDC7-800E-2808-84558FFC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C59CCF-058E-4AAC-6166-B8F908966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ABC29-A20B-7138-9F70-72EFB0E7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0EAA22-911C-FB27-966E-7F8B809A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5254B-18E4-C7CC-FF06-981CA1D7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477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3650BF-3EF0-3775-16A5-99544FAB7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9B7817-2735-1D67-85DF-B232EC677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AE93F3-05AD-7A3A-9C65-C79AE1FC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A83B6-8D41-A3D9-D3FC-8E359B5A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1BA522-0EF7-DE91-449B-734A934A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51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5C439E-29C6-6951-FF0F-4ED7E332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29F0AF-7897-C6A1-01F0-AA2F24DC5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B1470C-73F8-451A-E687-F91AADD1C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50941-8201-A070-1471-7D51AD646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4811DD-121C-B478-99E4-729B269D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47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CACC26-3CBC-3BC0-35EC-0FB4FFC9EB3C}"/>
              </a:ext>
            </a:extLst>
          </p:cNvPr>
          <p:cNvSpPr txBox="1"/>
          <p:nvPr/>
        </p:nvSpPr>
        <p:spPr>
          <a:xfrm>
            <a:off x="0" y="2875002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第</a:t>
            </a: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3</a:t>
            </a: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章 动作识别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BCCC7118-C2BC-FC07-D4A9-51C28C294231}"/>
              </a:ext>
            </a:extLst>
          </p:cNvPr>
          <p:cNvSpPr txBox="1">
            <a:spLocks/>
          </p:cNvSpPr>
          <p:nvPr/>
        </p:nvSpPr>
        <p:spPr>
          <a:xfrm>
            <a:off x="137160" y="0"/>
            <a:ext cx="4281016" cy="365125"/>
          </a:xfrm>
          <a:prstGeom prst="homePlate">
            <a:avLst/>
          </a:prstGeom>
          <a:solidFill>
            <a:srgbClr val="111F87"/>
          </a:solidFill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i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《 </a:t>
            </a:r>
            <a:r>
              <a:rPr lang="zh-CN" altLang="en-US" b="1" i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视觉模式分析及实践 </a:t>
            </a:r>
            <a:r>
              <a:rPr lang="en-US" altLang="zh-CN" b="1" i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》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教材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2026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版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杭州电子科技大学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6AAFA9-ABCC-678C-CE57-0B5533D76466}"/>
              </a:ext>
            </a:extLst>
          </p:cNvPr>
          <p:cNvSpPr/>
          <p:nvPr/>
        </p:nvSpPr>
        <p:spPr>
          <a:xfrm>
            <a:off x="0" y="2565000"/>
            <a:ext cx="12191999" cy="1728000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第</a:t>
            </a:r>
            <a:r>
              <a:rPr lang="en-US" altLang="zh-CN" sz="6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6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章  时序动作检测</a:t>
            </a:r>
          </a:p>
        </p:txBody>
      </p:sp>
      <p:sp>
        <p:nvSpPr>
          <p:cNvPr id="10" name="箭头: V 形 9">
            <a:extLst>
              <a:ext uri="{FF2B5EF4-FFF2-40B4-BE49-F238E27FC236}">
                <a16:creationId xmlns:a16="http://schemas.microsoft.com/office/drawing/2014/main" id="{7AF1BAC2-A2D5-D8A9-74A2-95B0FA5B286B}"/>
              </a:ext>
            </a:extLst>
          </p:cNvPr>
          <p:cNvSpPr/>
          <p:nvPr/>
        </p:nvSpPr>
        <p:spPr>
          <a:xfrm>
            <a:off x="4272814" y="-1"/>
            <a:ext cx="365760" cy="365125"/>
          </a:xfrm>
          <a:prstGeom prst="chevron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17FAEE-013D-FD5B-E77C-2AE41D330D8B}"/>
              </a:ext>
            </a:extLst>
          </p:cNvPr>
          <p:cNvSpPr/>
          <p:nvPr/>
        </p:nvSpPr>
        <p:spPr>
          <a:xfrm>
            <a:off x="0" y="-1"/>
            <a:ext cx="109728" cy="365124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5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D68F3AAF-EB30-0DE9-5027-CB027341D765}"/>
              </a:ext>
            </a:extLst>
          </p:cNvPr>
          <p:cNvGrpSpPr/>
          <p:nvPr/>
        </p:nvGrpSpPr>
        <p:grpSpPr>
          <a:xfrm>
            <a:off x="2401398" y="2299915"/>
            <a:ext cx="8288593" cy="2612465"/>
            <a:chOff x="2401398" y="2574235"/>
            <a:chExt cx="8288593" cy="261246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101A968-AF48-3ACA-2E3C-ABF9A5E8F146}"/>
                </a:ext>
              </a:extLst>
            </p:cNvPr>
            <p:cNvGrpSpPr/>
            <p:nvPr/>
          </p:nvGrpSpPr>
          <p:grpSpPr>
            <a:xfrm>
              <a:off x="2401398" y="2574235"/>
              <a:ext cx="4194402" cy="625474"/>
              <a:chOff x="2290870" y="2040671"/>
              <a:chExt cx="4194402" cy="625474"/>
            </a:xfrm>
          </p:grpSpPr>
          <p:sp>
            <p:nvSpPr>
              <p:cNvPr id="12" name="AutoShape 51">
                <a:extLst>
                  <a:ext uri="{FF2B5EF4-FFF2-40B4-BE49-F238E27FC236}">
                    <a16:creationId xmlns:a16="http://schemas.microsoft.com/office/drawing/2014/main" id="{38EF597D-ADEB-602A-AD27-8581E978C8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任务介绍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D4D0CF59-EBA9-B467-8600-083C11C0CA80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9A40665-B3D2-89B8-045E-6AEAD23530A5}"/>
                </a:ext>
              </a:extLst>
            </p:cNvPr>
            <p:cNvGrpSpPr/>
            <p:nvPr/>
          </p:nvGrpSpPr>
          <p:grpSpPr>
            <a:xfrm>
              <a:off x="2401398" y="3567731"/>
              <a:ext cx="4194402" cy="625474"/>
              <a:chOff x="2290870" y="2040671"/>
              <a:chExt cx="4194402" cy="625474"/>
            </a:xfrm>
          </p:grpSpPr>
          <p:sp>
            <p:nvSpPr>
              <p:cNvPr id="15" name="AutoShape 51">
                <a:extLst>
                  <a:ext uri="{FF2B5EF4-FFF2-40B4-BE49-F238E27FC236}">
                    <a16:creationId xmlns:a16="http://schemas.microsoft.com/office/drawing/2014/main" id="{5C6BA5A2-966C-0082-D827-874745C39AA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方法总览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B7AB187-E66D-F550-8937-8DC611B830A4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9BFF575-BA77-F45C-D528-5A3A7ECEB964}"/>
                </a:ext>
              </a:extLst>
            </p:cNvPr>
            <p:cNvGrpSpPr/>
            <p:nvPr/>
          </p:nvGrpSpPr>
          <p:grpSpPr>
            <a:xfrm>
              <a:off x="2401398" y="4561226"/>
              <a:ext cx="4194402" cy="625474"/>
              <a:chOff x="2290870" y="2040671"/>
              <a:chExt cx="4194402" cy="625474"/>
            </a:xfrm>
          </p:grpSpPr>
          <p:sp>
            <p:nvSpPr>
              <p:cNvPr id="18" name="AutoShape 51">
                <a:extLst>
                  <a:ext uri="{FF2B5EF4-FFF2-40B4-BE49-F238E27FC236}">
                    <a16:creationId xmlns:a16="http://schemas.microsoft.com/office/drawing/2014/main" id="{1AF606EF-77C0-8FF2-3E3F-B683C10C1B5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典型方法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7BF5576F-75A9-F1BA-0520-BD558865B1D7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CA72BBA-8A10-445A-24FF-A05ECFACD84A}"/>
                </a:ext>
              </a:extLst>
            </p:cNvPr>
            <p:cNvGrpSpPr/>
            <p:nvPr/>
          </p:nvGrpSpPr>
          <p:grpSpPr>
            <a:xfrm>
              <a:off x="6495589" y="2574235"/>
              <a:ext cx="4194402" cy="625474"/>
              <a:chOff x="2290870" y="2040671"/>
              <a:chExt cx="4194402" cy="625474"/>
            </a:xfrm>
          </p:grpSpPr>
          <p:sp>
            <p:nvSpPr>
              <p:cNvPr id="21" name="AutoShape 51">
                <a:extLst>
                  <a:ext uri="{FF2B5EF4-FFF2-40B4-BE49-F238E27FC236}">
                    <a16:creationId xmlns:a16="http://schemas.microsoft.com/office/drawing/2014/main" id="{7AFB504A-484C-AFD9-B5A5-B1C181DE038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本章习题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6777FAA0-B04A-EEA0-B498-AE495E2598C3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EDEE634-1CBC-8427-6683-FEA3130D642D}"/>
                </a:ext>
              </a:extLst>
            </p:cNvPr>
            <p:cNvGrpSpPr/>
            <p:nvPr/>
          </p:nvGrpSpPr>
          <p:grpSpPr>
            <a:xfrm>
              <a:off x="6495589" y="3567731"/>
              <a:ext cx="4194402" cy="625474"/>
              <a:chOff x="2290870" y="2040671"/>
              <a:chExt cx="4194402" cy="625474"/>
            </a:xfrm>
          </p:grpSpPr>
          <p:sp>
            <p:nvSpPr>
              <p:cNvPr id="24" name="AutoShape 51">
                <a:extLst>
                  <a:ext uri="{FF2B5EF4-FFF2-40B4-BE49-F238E27FC236}">
                    <a16:creationId xmlns:a16="http://schemas.microsoft.com/office/drawing/2014/main" id="{73A587CF-AE59-7E0B-5421-2FD79D115FF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参考文献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881C3F8-B9AB-3AD1-7B86-342DA450FAE4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5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D795735E-076D-2D53-A982-812FD180B3B4}"/>
              </a:ext>
            </a:extLst>
          </p:cNvPr>
          <p:cNvSpPr/>
          <p:nvPr/>
        </p:nvSpPr>
        <p:spPr>
          <a:xfrm>
            <a:off x="402431" y="1088136"/>
            <a:ext cx="11387138" cy="5001768"/>
          </a:xfrm>
          <a:prstGeom prst="rect">
            <a:avLst/>
          </a:prstGeom>
          <a:noFill/>
          <a:ln>
            <a:solidFill>
              <a:srgbClr val="111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398B5D-D6FC-55C4-0C76-C57914AE6264}"/>
              </a:ext>
            </a:extLst>
          </p:cNvPr>
          <p:cNvSpPr/>
          <p:nvPr/>
        </p:nvSpPr>
        <p:spPr>
          <a:xfrm>
            <a:off x="4260000" y="5979904"/>
            <a:ext cx="3672000" cy="216000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CBB2D29-0BF5-C467-0D39-7AC5821B8C8D}"/>
              </a:ext>
            </a:extLst>
          </p:cNvPr>
          <p:cNvGrpSpPr/>
          <p:nvPr/>
        </p:nvGrpSpPr>
        <p:grpSpPr>
          <a:xfrm>
            <a:off x="0" y="93336"/>
            <a:ext cx="12192000" cy="509935"/>
            <a:chOff x="1219543" y="1606651"/>
            <a:chExt cx="3242924" cy="509935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838D1D1-BB31-FEDE-F382-DA59A3016037}"/>
                </a:ext>
              </a:extLst>
            </p:cNvPr>
            <p:cNvSpPr txBox="1"/>
            <p:nvPr/>
          </p:nvSpPr>
          <p:spPr>
            <a:xfrm rot="16200000">
              <a:off x="2810572" y="464691"/>
              <a:ext cx="492443" cy="2811347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lIns="0" tIns="0" rIns="0" bIns="0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9000"/>
                      </a:prst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CONTENTS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9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DDDF307-C711-EB3D-854F-44F9B87892CF}"/>
                </a:ext>
              </a:extLst>
            </p:cNvPr>
            <p:cNvSpPr txBox="1"/>
            <p:nvPr/>
          </p:nvSpPr>
          <p:spPr>
            <a:xfrm rot="16200000">
              <a:off x="1189110" y="1637084"/>
              <a:ext cx="492443" cy="431577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lIns="0" tIns="0" rIns="0" bIns="0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9000"/>
                      </a:prst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 目录 </a:t>
              </a:r>
              <a:r>
                <a:rPr lang="en-US" altLang="zh-CN" sz="3200" b="1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9000"/>
                      </a:prst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/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9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374D9BDA-4F62-EAF2-F7B8-CBF7A9F9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1" name="页脚占位符 40">
            <a:extLst>
              <a:ext uri="{FF2B5EF4-FFF2-40B4-BE49-F238E27FC236}">
                <a16:creationId xmlns:a16="http://schemas.microsoft.com/office/drawing/2014/main" id="{795AAA35-5213-4A85-81C7-E6BB2757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84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>
            <a:extLst>
              <a:ext uri="{FF2B5EF4-FFF2-40B4-BE49-F238E27FC236}">
                <a16:creationId xmlns:a16="http://schemas.microsoft.com/office/drawing/2014/main" id="{8FF32217-A4EC-D083-5496-6EA8030194C9}"/>
              </a:ext>
            </a:extLst>
          </p:cNvPr>
          <p:cNvSpPr txBox="1"/>
          <p:nvPr/>
        </p:nvSpPr>
        <p:spPr>
          <a:xfrm>
            <a:off x="644107" y="830618"/>
            <a:ext cx="10575581" cy="1710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时序动作检测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：在长时间、连续的未剪辑视频中，自动识别动作类别，并准确定位动作发生的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开始时间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结束时间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与动作识别不同，时序动作检测不仅回答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发生了什么动作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，还需要回答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动作在何时发生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”，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该任务广泛应用于安防监控、智能交通、体育分析和老人看护等场景。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41DAD0-2EE8-2969-0782-50EBD80A7F5D}"/>
              </a:ext>
            </a:extLst>
          </p:cNvPr>
          <p:cNvSpPr txBox="1"/>
          <p:nvPr/>
        </p:nvSpPr>
        <p:spPr>
          <a:xfrm>
            <a:off x="2672083" y="5251005"/>
            <a:ext cx="68478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4.1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时序动作检测任务示意图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4CD8B9D-FEE0-0C56-D9BF-D9097EB5EBAE}"/>
              </a:ext>
            </a:extLst>
          </p:cNvPr>
          <p:cNvSpPr txBox="1"/>
          <p:nvPr/>
        </p:nvSpPr>
        <p:spPr>
          <a:xfrm>
            <a:off x="0" y="44674"/>
            <a:ext cx="6125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4.1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任务介绍</a:t>
            </a:r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42C5172A-EFFF-28D8-26D6-0D726B06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C5BE04A1-E912-DEAD-3D1A-D9B87378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" name="图形 40">
            <a:extLst>
              <a:ext uri="{FF2B5EF4-FFF2-40B4-BE49-F238E27FC236}">
                <a16:creationId xmlns:a16="http://schemas.microsoft.com/office/drawing/2014/main" id="{53942211-8B26-B63D-9F1A-7D70965F0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5351" y="3174367"/>
            <a:ext cx="10521197" cy="197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2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文本框 276">
            <a:extLst>
              <a:ext uri="{FF2B5EF4-FFF2-40B4-BE49-F238E27FC236}">
                <a16:creationId xmlns:a16="http://schemas.microsoft.com/office/drawing/2014/main" id="{D971D876-3467-8491-EE92-1F1FE2EDCD6F}"/>
              </a:ext>
            </a:extLst>
          </p:cNvPr>
          <p:cNvSpPr txBox="1"/>
          <p:nvPr/>
        </p:nvSpPr>
        <p:spPr>
          <a:xfrm>
            <a:off x="438245" y="994159"/>
            <a:ext cx="11375409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时序动作检测方法可按照监督信息粒度划分为四类：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全监督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半监督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点监督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弱监督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时序动作检测。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8A7580EA-A9A0-DA75-1501-DE28B77BBAD0}"/>
              </a:ext>
            </a:extLst>
          </p:cNvPr>
          <p:cNvSpPr txBox="1"/>
          <p:nvPr/>
        </p:nvSpPr>
        <p:spPr>
          <a:xfrm>
            <a:off x="1434082" y="5979753"/>
            <a:ext cx="9323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4.2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时序动作检测方法分类示意图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093637-F40E-6AF7-7BF8-2BE0A132ED60}"/>
              </a:ext>
            </a:extLst>
          </p:cNvPr>
          <p:cNvSpPr txBox="1"/>
          <p:nvPr/>
        </p:nvSpPr>
        <p:spPr>
          <a:xfrm>
            <a:off x="0" y="44674"/>
            <a:ext cx="6125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4.2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方法总览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9F6C6A-E84F-464E-A6CE-0C1721F9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F2A6E14F-81FA-34DA-F98A-3BE0F15B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DF206F9-E58A-EB35-E59D-E440709DA7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3930" y="1624638"/>
            <a:ext cx="7744037" cy="42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9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F88A-6B1F-C818-2720-AEB61BA3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531E4D-09F3-BE49-AE30-4631505B3004}"/>
              </a:ext>
            </a:extLst>
          </p:cNvPr>
          <p:cNvSpPr txBox="1"/>
          <p:nvPr/>
        </p:nvSpPr>
        <p:spPr>
          <a:xfrm flipH="1">
            <a:off x="-1" y="43602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典型方法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0A2D4BC-14AD-2315-5F6E-2AE7FA2C50CD}"/>
              </a:ext>
            </a:extLst>
          </p:cNvPr>
          <p:cNvGrpSpPr/>
          <p:nvPr/>
        </p:nvGrpSpPr>
        <p:grpSpPr>
          <a:xfrm>
            <a:off x="1132008" y="1546752"/>
            <a:ext cx="4824000" cy="558001"/>
            <a:chOff x="1836096" y="1546752"/>
            <a:chExt cx="4824000" cy="558001"/>
          </a:xfrm>
        </p:grpSpPr>
        <p:sp>
          <p:nvSpPr>
            <p:cNvPr id="5" name="Rectangle 57"/>
            <p:cNvSpPr/>
            <p:nvPr/>
          </p:nvSpPr>
          <p:spPr>
            <a:xfrm>
              <a:off x="1836096" y="1546753"/>
              <a:ext cx="4824000" cy="558000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 defTabSz="360000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全监督时序动作检测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43" name="菱形 42"/>
            <p:cNvSpPr/>
            <p:nvPr/>
          </p:nvSpPr>
          <p:spPr>
            <a:xfrm>
              <a:off x="1908104" y="1546752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01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AC49ECF-6BF2-8FA0-9E33-8DB885A9675F}"/>
              </a:ext>
            </a:extLst>
          </p:cNvPr>
          <p:cNvGrpSpPr/>
          <p:nvPr/>
        </p:nvGrpSpPr>
        <p:grpSpPr>
          <a:xfrm>
            <a:off x="6095998" y="1564753"/>
            <a:ext cx="4824000" cy="540000"/>
            <a:chOff x="1836096" y="2364367"/>
            <a:chExt cx="4824000" cy="540000"/>
          </a:xfrm>
        </p:grpSpPr>
        <p:sp>
          <p:nvSpPr>
            <p:cNvPr id="46" name="Rectangle 57"/>
            <p:cNvSpPr/>
            <p:nvPr/>
          </p:nvSpPr>
          <p:spPr>
            <a:xfrm>
              <a:off x="1836096" y="2364367"/>
              <a:ext cx="4824000" cy="539997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半监督时序动作检测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49" name="菱形 48"/>
            <p:cNvSpPr/>
            <p:nvPr/>
          </p:nvSpPr>
          <p:spPr>
            <a:xfrm>
              <a:off x="1908104" y="2364367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02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3B6A28C-7034-A47D-188D-0DFF466DCC27}"/>
              </a:ext>
            </a:extLst>
          </p:cNvPr>
          <p:cNvGrpSpPr/>
          <p:nvPr/>
        </p:nvGrpSpPr>
        <p:grpSpPr>
          <a:xfrm>
            <a:off x="1132008" y="2740956"/>
            <a:ext cx="4824000" cy="540000"/>
            <a:chOff x="1836096" y="3181982"/>
            <a:chExt cx="4824000" cy="540000"/>
          </a:xfrm>
        </p:grpSpPr>
        <p:sp>
          <p:nvSpPr>
            <p:cNvPr id="52" name="Rectangle 57"/>
            <p:cNvSpPr/>
            <p:nvPr/>
          </p:nvSpPr>
          <p:spPr>
            <a:xfrm>
              <a:off x="1836096" y="3181983"/>
              <a:ext cx="4824000" cy="539996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点监督时序动作检测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55" name="菱形 54"/>
            <p:cNvSpPr/>
            <p:nvPr/>
          </p:nvSpPr>
          <p:spPr>
            <a:xfrm>
              <a:off x="1908104" y="3181982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03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433102F-B257-5CDC-2E1B-3C45C158E55A}"/>
              </a:ext>
            </a:extLst>
          </p:cNvPr>
          <p:cNvGrpSpPr/>
          <p:nvPr/>
        </p:nvGrpSpPr>
        <p:grpSpPr>
          <a:xfrm>
            <a:off x="6095998" y="2740953"/>
            <a:ext cx="4824000" cy="540000"/>
            <a:chOff x="1836096" y="3999597"/>
            <a:chExt cx="4824000" cy="540000"/>
          </a:xfrm>
        </p:grpSpPr>
        <p:sp>
          <p:nvSpPr>
            <p:cNvPr id="64" name="Rectangle 57"/>
            <p:cNvSpPr/>
            <p:nvPr/>
          </p:nvSpPr>
          <p:spPr>
            <a:xfrm>
              <a:off x="1836096" y="3999597"/>
              <a:ext cx="4824000" cy="539995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弱监督时序动作检测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67" name="菱形 66"/>
            <p:cNvSpPr/>
            <p:nvPr/>
          </p:nvSpPr>
          <p:spPr>
            <a:xfrm>
              <a:off x="1908104" y="3999597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04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sp>
        <p:nvSpPr>
          <p:cNvPr id="47" name="灯片编号占位符 46">
            <a:extLst>
              <a:ext uri="{FF2B5EF4-FFF2-40B4-BE49-F238E27FC236}">
                <a16:creationId xmlns:a16="http://schemas.microsoft.com/office/drawing/2014/main" id="{C0EA51A0-AC4E-E1CE-05B4-10009706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页脚占位符 40">
            <a:extLst>
              <a:ext uri="{FF2B5EF4-FFF2-40B4-BE49-F238E27FC236}">
                <a16:creationId xmlns:a16="http://schemas.microsoft.com/office/drawing/2014/main" id="{B670BBD5-5CF4-B7B1-C95A-B8EB9639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36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78F2-25DC-D61E-CE4F-779510F1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507CFA-1DF4-64B4-B4BD-815A155A2C25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R-C3D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：基于区域三维卷积网络的时序动作检测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7ECA27-A1BD-F4AF-31F4-D490B862D7C2}"/>
              </a:ext>
            </a:extLst>
          </p:cNvPr>
          <p:cNvSpPr txBox="1"/>
          <p:nvPr/>
        </p:nvSpPr>
        <p:spPr>
          <a:xfrm>
            <a:off x="639839" y="1571959"/>
            <a:ext cx="11031052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传统方法常依赖手工特征、外部候选生成器或滑动窗口策略，难以端到端学习，计算效率低，且动作边界定位不够灵活。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设计一种统一的端到端模型，联合优化视频特征提取、候选片段生成和动作分类，提高检测速度与边界定位精度。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R-C3D采用3D卷积提取时空特征，引入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时间候选生成网络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3D RoI池化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，在统一框架中完成候选生成、分类和边界回归。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EC4BB6-31BC-7203-72B1-551FF094C8F4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全监督时序动作检测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75A3E49-B63F-0A4F-D391-39775EC1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页脚占位符 40">
            <a:extLst>
              <a:ext uri="{FF2B5EF4-FFF2-40B4-BE49-F238E27FC236}">
                <a16:creationId xmlns:a16="http://schemas.microsoft.com/office/drawing/2014/main" id="{AE98E14C-0614-B0CF-91F4-C8B38A99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001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1922-3908-CC09-A19F-DF53467E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文本框 144">
            <a:extLst>
              <a:ext uri="{FF2B5EF4-FFF2-40B4-BE49-F238E27FC236}">
                <a16:creationId xmlns:a16="http://schemas.microsoft.com/office/drawing/2014/main" id="{DD73F2CE-2F46-E6C6-FE4E-8D0EC3F39B5E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BE704A86-AE2B-3244-4599-C8DB0027724F}"/>
              </a:ext>
            </a:extLst>
          </p:cNvPr>
          <p:cNvSpPr txBox="1"/>
          <p:nvPr/>
        </p:nvSpPr>
        <p:spPr>
          <a:xfrm>
            <a:off x="0" y="5981058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 R-C3D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模型框架示意图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1B2D5D-F9EC-CD3C-B2BA-BB6EEC1511D1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全监督时序动作检测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689C7-A23A-B80C-9B4F-E23D46A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D46BD8-AF08-8EC0-66E1-2FB983A0C44E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R-C3D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：基于区域三维卷积网络的时序动作检测</a:t>
            </a:r>
          </a:p>
        </p:txBody>
      </p:sp>
      <p:sp>
        <p:nvSpPr>
          <p:cNvPr id="4" name="页脚占位符 40">
            <a:extLst>
              <a:ext uri="{FF2B5EF4-FFF2-40B4-BE49-F238E27FC236}">
                <a16:creationId xmlns:a16="http://schemas.microsoft.com/office/drawing/2014/main" id="{1E9B39FA-8286-4FDE-DEC8-388B9B64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958CA971-566F-1AB8-2B07-6A24F4C9C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9163" y="1760519"/>
            <a:ext cx="7473671" cy="416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5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4E8F-351A-5826-5373-CF2BE2CD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2FCED6-5472-D36F-4AA8-8A1DCEE71D1F}"/>
              </a:ext>
            </a:extLst>
          </p:cNvPr>
          <p:cNvSpPr txBox="1"/>
          <p:nvPr/>
        </p:nvSpPr>
        <p:spPr>
          <a:xfrm>
            <a:off x="646043" y="1576346"/>
            <a:ext cx="10828201" cy="344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传统自上而下或自下而上的方法依赖锚点、NMS和多阶段训练，流程复杂且难以端到端优化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；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普通</a:t>
            </a:r>
            <a:r>
              <a:rPr lang="de-DE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Transformer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对局部边界变化不够敏感。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利用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Transformer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的全局建模能力和集合预测思想，构建无需手工组件的端到端时序动作检测框架，同时增强动作边界的局部感知能力。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TadTR引入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时序可变形注意力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段细化机制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动作性回归头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，能够动态关注关键片段，并逐层优化动作起止边界。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0B6799-F762-809F-AA2E-DAB771B56335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全监督时序动作检测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F52CA3-6C5A-659B-B302-74F5E5F4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15459B-419E-DFE0-1646-ECE8CB7B4CF8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Transformer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的端到端时序动作检测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FA96FB69-4996-3889-68CA-F092C538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40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8B90-1A5C-6B29-932A-E7FA95A7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E3D906D9-C081-8C4C-8ADB-0E103D982F57}"/>
              </a:ext>
            </a:extLst>
          </p:cNvPr>
          <p:cNvSpPr txBox="1"/>
          <p:nvPr/>
        </p:nvSpPr>
        <p:spPr>
          <a:xfrm>
            <a:off x="0" y="5961410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4.4  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TadTR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模型框架示意图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E5712C-8EC6-F6AD-60B8-FDA0571B5393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全监督时序动作检测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C0B52D-0AFB-8F1E-E671-D981E3FD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B19C17-48CC-3BFB-9141-7CAACC418099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Transformer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的端到端时序动作检测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E52294-B2E3-90D0-BCCA-000A2A5765B6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页脚占位符 40">
            <a:extLst>
              <a:ext uri="{FF2B5EF4-FFF2-40B4-BE49-F238E27FC236}">
                <a16:creationId xmlns:a16="http://schemas.microsoft.com/office/drawing/2014/main" id="{F146DEFC-EA8F-4CE4-2D88-481DD08E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36936517-3F06-F828-C1A7-A725AD274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7494" y="1723558"/>
            <a:ext cx="9177009" cy="423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9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ECD0-5D02-E42D-5AB6-279D30B0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872B06-DF3D-3A45-9D72-C926707BA4B5}"/>
              </a:ext>
            </a:extLst>
          </p:cNvPr>
          <p:cNvSpPr txBox="1"/>
          <p:nvPr/>
        </p:nvSpPr>
        <p:spPr>
          <a:xfrm>
            <a:off x="637439" y="1581289"/>
            <a:ext cx="10925295" cy="3449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半监督时序动作检测中，现有方法多沿用候选区域生成流程，定位误差容易传播到分类模块，同时大量候选区域会带来较高计算开销。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设计一种无候选区域的半监督检测框架，减少定位与分类之间的顺序依赖，更有效地利用无标注视频数据。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SPOT采用并行分类分支与掩码分支，结合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跨分支边界模块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自监督预训练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任务，提升无标注数据利用率和动作边界定位能力。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0A16F2-9394-4E13-8955-58EC553FF254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4.3.2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半监督时序动作检测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859EC01-2743-0331-59F1-D123411D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A88A8A-624E-B528-F968-07DF0FC6BF73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）基于无提议掩码的半监督时序动作检测</a:t>
            </a: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4D4D13AE-1A38-7BC3-6862-F9D5142A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97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EA7F0-7667-30D0-9C99-86657FEB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C7AA4E97-721F-E62B-8132-56459E0A43BE}"/>
              </a:ext>
            </a:extLst>
          </p:cNvPr>
          <p:cNvSpPr txBox="1"/>
          <p:nvPr/>
        </p:nvSpPr>
        <p:spPr>
          <a:xfrm>
            <a:off x="0" y="5767333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4.5  SPOT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框架示意图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9DF9DDD-8B4D-84C1-12AC-446E60650750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4.3.2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半监督时序动作检测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82A05C5D-05BA-DCE5-F0B5-5D6DB6C1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EF65F0-6AA2-8522-52A9-470B91C8E9CE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）基于无提议掩码的半监督时序动作检测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5E54823-7F42-409B-D849-036072BD1A26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4" name="页脚占位符 40">
            <a:extLst>
              <a:ext uri="{FF2B5EF4-FFF2-40B4-BE49-F238E27FC236}">
                <a16:creationId xmlns:a16="http://schemas.microsoft.com/office/drawing/2014/main" id="{3AB28378-0A43-A23A-33B2-24D0CF34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图形 56">
            <a:extLst>
              <a:ext uri="{FF2B5EF4-FFF2-40B4-BE49-F238E27FC236}">
                <a16:creationId xmlns:a16="http://schemas.microsoft.com/office/drawing/2014/main" id="{56D057DE-3344-0201-046B-442F0731B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2979" y="1454196"/>
            <a:ext cx="10226040" cy="435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8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3313-108B-5F39-42EC-CD1A40C0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869F2AA-DB2B-F5A7-755D-7E3BABD3089D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点监督时序动作检测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9DD31B-8402-9E94-C027-13252661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6CD84B-8BEF-6E6C-3553-A861D2E5A228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）基于动作完整性的点监督时序动作检测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C5B07D-5B89-68D8-0113-753AB40932D6}"/>
              </a:ext>
            </a:extLst>
          </p:cNvPr>
          <p:cNvSpPr txBox="1"/>
          <p:nvPr/>
        </p:nvSpPr>
        <p:spPr>
          <a:xfrm>
            <a:off x="637439" y="1581289"/>
            <a:ext cx="10925295" cy="308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点监督只为每个动作实例提供一个时间点标记，监督信息稀疏，模型难以学习完整动作区间，容易产生碎片化预测。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利用点标记生成更密集的伪标签，为模型提供动作完整性线索，提升高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IoU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阈值下的定位性能。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该方法引入伪背景点，并通过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最优序列搜索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获得完整动作片段；同时设计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分数对比损失和特征对比损失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，增强动作与背景的区分能力。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B02BDD7D-5EB7-9E2A-4D02-C5C22D11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94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B7BC-CB32-E867-F06E-6F5EF55F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F11E2654-357C-078F-871A-28DE4F3DA192}"/>
              </a:ext>
            </a:extLst>
          </p:cNvPr>
          <p:cNvSpPr txBox="1"/>
          <p:nvPr/>
        </p:nvSpPr>
        <p:spPr>
          <a:xfrm>
            <a:off x="-3808" y="5967436"/>
            <a:ext cx="121919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4.6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基于动作完整性的点监督时序动作检测模型示意图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5CC188-964F-3145-E00C-1FECF799CC41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点监督时序动作检测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D50AE-200E-8C1F-85DF-CB6F0239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D7392A-D813-0D25-3F8F-0698750ABFB0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）基于动作完整性的点监督时序动作检测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4531FB-8153-ECC2-9BA8-7F9B620C8343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页脚占位符 40">
            <a:extLst>
              <a:ext uri="{FF2B5EF4-FFF2-40B4-BE49-F238E27FC236}">
                <a16:creationId xmlns:a16="http://schemas.microsoft.com/office/drawing/2014/main" id="{1BCBD073-7BB2-13ED-C29D-65E63CE6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7FF1E195-8883-4499-0733-1D36DF07D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0700" y="1869906"/>
            <a:ext cx="9439044" cy="414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9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E11B-D61C-5066-8858-846ABE35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0F00AA-D168-4C03-EB85-A33A9D3A5C0A}"/>
              </a:ext>
            </a:extLst>
          </p:cNvPr>
          <p:cNvSpPr txBox="1"/>
          <p:nvPr/>
        </p:nvSpPr>
        <p:spPr>
          <a:xfrm>
            <a:off x="639097" y="1573749"/>
            <a:ext cx="10903973" cy="308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点级弱监督方法常依赖类激活序列和多阈值策略生成提议，容易导致提议质量与置信度不匹配，边界定位不准确。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利用人工标注点通常位于动作中心区域的先验信息，将时序显著点作为中心线索，对齐提议置信度与定位质量。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TSP-Net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包含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中心分数学习模块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和基于对齐的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边界自适应模块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，可通过显著点更新、中心分数预测和边界投票提升定位完整性。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17DA0C-1ACB-1E74-0348-E19C1E8F9E81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点监督时序动作检测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46A03-CC80-1DB6-9107-16CE61E7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713AC3-2AE3-6211-D07D-FD91F30AFD7A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）基于时序显著性信息重对齐置信度的点级弱监督时序动作检测</a:t>
            </a: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E1B01DD0-4D04-002F-14E6-D315AA55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8979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7298-CB77-A87A-E3D6-17B1C3B7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D8E4641D-710D-D605-78E4-99735C9DF544}"/>
              </a:ext>
            </a:extLst>
          </p:cNvPr>
          <p:cNvSpPr txBox="1"/>
          <p:nvPr/>
        </p:nvSpPr>
        <p:spPr>
          <a:xfrm>
            <a:off x="-1" y="6196537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4.7  TSP-Net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模型示意图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0F41E6-0ACC-4BE4-95F3-E073D4BEBB8A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点监督时序动作检测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A2FABE3F-C371-982B-F9DC-8CABDF6D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501025B-56EF-7AC2-1AC9-EADD556C2198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）基于时序显著性信息重对齐置信度的点级弱监督时序动作检测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D0E4889-20D7-E6A3-BC38-3CACDD45D861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9579A518-D804-EC5E-9C5A-4B78B0D7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" name="图形 55">
            <a:extLst>
              <a:ext uri="{FF2B5EF4-FFF2-40B4-BE49-F238E27FC236}">
                <a16:creationId xmlns:a16="http://schemas.microsoft.com/office/drawing/2014/main" id="{7AB2E9DB-5568-843F-55D1-709D7A5C1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6894" y="1725524"/>
            <a:ext cx="9624060" cy="440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7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7C8D-EFE2-7F87-E3F4-710F9365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FF16EE-9B60-3E0D-50DC-1CCE112734B5}"/>
              </a:ext>
            </a:extLst>
          </p:cNvPr>
          <p:cNvSpPr txBox="1"/>
          <p:nvPr/>
        </p:nvSpPr>
        <p:spPr>
          <a:xfrm>
            <a:off x="639097" y="1573749"/>
            <a:ext cx="10913806" cy="308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弱监督时序动作检测仅依赖视频级标签，模型容易只关注最具判别性的片段，忽略完整动作范围，同时容易将背景误判为动作。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设计混合注意力机制，在抑制背景干扰的同时迫使模型关注低判别性动作区域，从而获得更完整的动作边界。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HAM-Net引入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背景辅助类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，并结合软注意力、半软注意力和硬注意力，分别用于前景建模、完整动作挖掘和背景区分。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EA079E-5984-888D-4D68-1BE9DC9DAB69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4.3.4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弱监督时序动作检测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722E59-B4F4-8719-8007-28DE824D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83AF92-A0F0-621A-6906-988813A854E3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基于混合注意力机制的弱监督时序动作检测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3EF07CCE-7860-E55B-BE8E-FC3030B0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95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59FE-A2BF-8B75-A7F2-3962E73A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2B7C9012-51CB-E50F-FAF4-FC1122893A7E}"/>
              </a:ext>
            </a:extLst>
          </p:cNvPr>
          <p:cNvSpPr txBox="1"/>
          <p:nvPr/>
        </p:nvSpPr>
        <p:spPr>
          <a:xfrm>
            <a:off x="-1" y="6222996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4.8  HAM-Net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模型示意图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99268B-467D-C9B5-E35E-EB19351E068C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4.3.4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弱监督时序动作检测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BC6D3-8D11-4511-3AD2-F478EDBF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D82640-2A19-2BA8-BA11-A5D05A1379E1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基于混合注意力机制的弱监督时序动作检测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DFB2E8-7510-9509-D54C-8A97FDB16F93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页脚占位符 40">
            <a:extLst>
              <a:ext uri="{FF2B5EF4-FFF2-40B4-BE49-F238E27FC236}">
                <a16:creationId xmlns:a16="http://schemas.microsoft.com/office/drawing/2014/main" id="{E9398189-8449-BBC4-5510-1E74A0CA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6E4F2246-AE6F-B20E-C422-49DEF67A21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4878" y="2054572"/>
            <a:ext cx="9862243" cy="394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55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533D-8460-F35D-BA76-3464DD5BE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90E59B1-2F8B-21BF-2F49-095915471CEC}"/>
              </a:ext>
            </a:extLst>
          </p:cNvPr>
          <p:cNvSpPr txBox="1"/>
          <p:nvPr/>
        </p:nvSpPr>
        <p:spPr>
          <a:xfrm>
            <a:off x="639096" y="1573749"/>
            <a:ext cx="10874477" cy="308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弱监督方法存在定位不完整和背景干扰问题，固定注意力权重难以适应不同视频的差异，前景与背景分离存在歧义。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为每个视频自适应生成前景和背景原型，并利用RGB与光流的互补信息减少注意力歧义。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APL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提出自适应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Transformer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网络生成视频级前景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背景原型，并引入基于最优传输的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协作训练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策略，实现跨模态互监督和更稳定的前景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背景分离。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B6F40F-3137-6024-2C73-063046BAFABD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4.3.4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弱监督时序动作检测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ED18F6-8672-7C38-694D-7D0F7958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561025-7583-A603-40F5-1B421C2874A2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基于自适应原型学习的弱监督时序动作检测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B7D10F4F-FE10-E49C-9B9F-15FBDD9C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4843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B9E5-0067-E94F-317E-9AB9C479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81AC5CD0-63B4-3D11-0C38-5EC25F8F8B31}"/>
              </a:ext>
            </a:extLst>
          </p:cNvPr>
          <p:cNvSpPr txBox="1"/>
          <p:nvPr/>
        </p:nvSpPr>
        <p:spPr>
          <a:xfrm>
            <a:off x="-1" y="6194430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4.9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 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4DTransformer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P4Transformer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）结构图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C0DBBB-5E54-6ECB-507F-B22CE7F7A4CD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4.3.4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弱监督时序动作检测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AB85C1-FC23-4288-DB99-4638DB5B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E4346A-0440-A20D-4E7F-B9A86740143D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基于自适应原型学习的弱监督时序动作检测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440E05-D31B-A8AF-D01C-8CC2350A10C0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4E8291B3-73AB-10F7-AB33-958C7A9B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540F2FD1-CC8B-8BC8-D762-2C3C00E94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6374" y="1606128"/>
            <a:ext cx="8499248" cy="443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105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8770-DB3B-60FA-9A16-C501E566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541">
            <a:extLst>
              <a:ext uri="{FF2B5EF4-FFF2-40B4-BE49-F238E27FC236}">
                <a16:creationId xmlns:a16="http://schemas.microsoft.com/office/drawing/2014/main" id="{EDFA2E21-D55D-2AF8-054F-EBCE02651E74}"/>
              </a:ext>
            </a:extLst>
          </p:cNvPr>
          <p:cNvSpPr txBox="1"/>
          <p:nvPr/>
        </p:nvSpPr>
        <p:spPr>
          <a:xfrm flipH="1">
            <a:off x="-18876" y="837615"/>
            <a:ext cx="11043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简答题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" name="文本框 545">
            <a:extLst>
              <a:ext uri="{FF2B5EF4-FFF2-40B4-BE49-F238E27FC236}">
                <a16:creationId xmlns:a16="http://schemas.microsoft.com/office/drawing/2014/main" id="{42F3BB67-4B50-DF3C-46FC-D198D63B228C}"/>
              </a:ext>
            </a:extLst>
          </p:cNvPr>
          <p:cNvSpPr txBox="1"/>
          <p:nvPr/>
        </p:nvSpPr>
        <p:spPr>
          <a:xfrm>
            <a:off x="399202" y="1276922"/>
            <a:ext cx="11043180" cy="18953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请简述时序动作检测与动作识别的区别，并说明时序动作检测的核心任务目标。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多示例学习是如何应用于弱监督时序动作检测任务的？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某时序动作检测模型在训练阶段引入“边界回归损失”，简要回答一下为什么要引入这个损失。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在时序动作检测任务中使用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Transformer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架构相较于传统的时序动作检测方法有哪些优势？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5)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为什么说时序动作检测中动作边界定位是一个难点？请从数据特性和算法设计两个角度分析。</a:t>
            </a:r>
          </a:p>
        </p:txBody>
      </p:sp>
      <p:sp>
        <p:nvSpPr>
          <p:cNvPr id="6" name="文本框 547">
            <a:extLst>
              <a:ext uri="{FF2B5EF4-FFF2-40B4-BE49-F238E27FC236}">
                <a16:creationId xmlns:a16="http://schemas.microsoft.com/office/drawing/2014/main" id="{BD24D0FE-B5A1-F42C-4767-B2A59F57ABAA}"/>
              </a:ext>
            </a:extLst>
          </p:cNvPr>
          <p:cNvSpPr txBox="1"/>
          <p:nvPr/>
        </p:nvSpPr>
        <p:spPr>
          <a:xfrm>
            <a:off x="18876" y="3633606"/>
            <a:ext cx="6196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动手实践题</a:t>
            </a:r>
          </a:p>
        </p:txBody>
      </p:sp>
      <p:sp>
        <p:nvSpPr>
          <p:cNvPr id="8" name="文本框 548">
            <a:extLst>
              <a:ext uri="{FF2B5EF4-FFF2-40B4-BE49-F238E27FC236}">
                <a16:creationId xmlns:a16="http://schemas.microsoft.com/office/drawing/2014/main" id="{7C42C222-E2CF-0943-5537-EF0247572947}"/>
              </a:ext>
            </a:extLst>
          </p:cNvPr>
          <p:cNvSpPr txBox="1"/>
          <p:nvPr/>
        </p:nvSpPr>
        <p:spPr>
          <a:xfrm>
            <a:off x="399202" y="4173945"/>
            <a:ext cx="9963150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P111</a:t>
            </a: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6E60D332-CB6D-BB30-75BF-3BE84146BDB3}"/>
              </a:ext>
            </a:extLst>
          </p:cNvPr>
          <p:cNvSpPr txBox="1"/>
          <p:nvPr/>
        </p:nvSpPr>
        <p:spPr>
          <a:xfrm>
            <a:off x="18876" y="3079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本章习题</a:t>
            </a:r>
          </a:p>
        </p:txBody>
      </p:sp>
      <p:sp>
        <p:nvSpPr>
          <p:cNvPr id="10" name="灯片编号占位符 6">
            <a:extLst>
              <a:ext uri="{FF2B5EF4-FFF2-40B4-BE49-F238E27FC236}">
                <a16:creationId xmlns:a16="http://schemas.microsoft.com/office/drawing/2014/main" id="{284FBD49-35DD-4625-EC0C-B0CF1CC19820}"/>
              </a:ext>
            </a:extLst>
          </p:cNvPr>
          <p:cNvSpPr>
            <a:spLocks noGrp="1"/>
          </p:cNvSpPr>
          <p:nvPr/>
        </p:nvSpPr>
        <p:spPr>
          <a:xfrm>
            <a:off x="9313139" y="6462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D78845-01F8-4781-BC44-71E27FEEA8FC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11" name="页脚占位符 40">
            <a:extLst>
              <a:ext uri="{FF2B5EF4-FFF2-40B4-BE49-F238E27FC236}">
                <a16:creationId xmlns:a16="http://schemas.microsoft.com/office/drawing/2014/main" id="{6D1D66D0-9956-E828-C2DA-3C0B3B5F4972}"/>
              </a:ext>
            </a:extLst>
          </p:cNvPr>
          <p:cNvSpPr>
            <a:spLocks noGrp="1"/>
          </p:cNvSpPr>
          <p:nvPr/>
        </p:nvSpPr>
        <p:spPr>
          <a:xfrm>
            <a:off x="18876" y="6462077"/>
            <a:ext cx="29479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4796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9E4B-7F74-8750-919B-FC21B9CE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B2BE74-158B-434C-0738-67ECE3A4595E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参考文献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AD22F9-1C47-3A1D-38DA-8039315D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F87A8B-4528-2FF6-7C6E-7F8838D0A8F3}"/>
              </a:ext>
            </a:extLst>
          </p:cNvPr>
          <p:cNvSpPr txBox="1"/>
          <p:nvPr/>
        </p:nvSpPr>
        <p:spPr>
          <a:xfrm>
            <a:off x="6162291" y="1383722"/>
            <a:ext cx="5544000" cy="4480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latin typeface="Times New Roman" panose="02020603050405020304" pitchFamily="18" charset="0"/>
              </a:rPr>
              <a:t>[6] Nicolas Carion, Francisco Massa, Gabriel </a:t>
            </a:r>
            <a:r>
              <a:rPr lang="en-US" altLang="zh-CN" sz="1200" dirty="0" err="1">
                <a:latin typeface="Times New Roman" panose="02020603050405020304" pitchFamily="18" charset="0"/>
              </a:rPr>
              <a:t>Synnaeve</a:t>
            </a:r>
            <a:r>
              <a:rPr lang="en-US" altLang="zh-CN" sz="1200" dirty="0">
                <a:latin typeface="Times New Roman" panose="02020603050405020304" pitchFamily="18" charset="0"/>
              </a:rPr>
              <a:t>, Nicolas </a:t>
            </a:r>
            <a:r>
              <a:rPr lang="en-US" altLang="zh-CN" sz="1200" dirty="0" err="1">
                <a:latin typeface="Times New Roman" panose="02020603050405020304" pitchFamily="18" charset="0"/>
              </a:rPr>
              <a:t>Usunier</a:t>
            </a:r>
            <a:r>
              <a:rPr lang="en-US" altLang="zh-CN" sz="1200" dirty="0">
                <a:latin typeface="Times New Roman" panose="02020603050405020304" pitchFamily="18" charset="0"/>
              </a:rPr>
              <a:t>, Alexander Kirillov, and Sergey </a:t>
            </a:r>
            <a:r>
              <a:rPr lang="en-US" altLang="zh-CN" sz="1200" dirty="0" err="1">
                <a:latin typeface="Times New Roman" panose="02020603050405020304" pitchFamily="18" charset="0"/>
              </a:rPr>
              <a:t>Zagoruyko</a:t>
            </a:r>
            <a:r>
              <a:rPr lang="en-US" altLang="zh-CN" sz="1200" dirty="0">
                <a:latin typeface="Times New Roman" panose="02020603050405020304" pitchFamily="18" charset="0"/>
              </a:rPr>
              <a:t>. End-to-End Object Detection with Transformers. In European Conference on Computer Vision (ECCV), 2020: 213-229.</a:t>
            </a:r>
          </a:p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[7] Hehe Fan, Yi Yang, and Mohan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Kankanhalli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. Point 4d transformer networks for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spatio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-temporal modeling in point cloud videos. In Proceedings of the IEEE Conference on Computer Vision and Pattern Recognition (CVPR), 2021: 14204-14213.</a:t>
            </a:r>
          </a:p>
          <a:p>
            <a:pPr marL="288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[8] Kun Xia, Le Wang,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Sanping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Zhou, Gang Hua, and Wei Tang. Learning from Noisy Pseudo Labels for Semi-Supervised Temporal Action Localization. In Proceedings of the IEEE International Conference on Computer Vision (ICCV), 2023: 10126-10135.</a:t>
            </a:r>
          </a:p>
          <a:p>
            <a:pPr marL="288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</a:rPr>
              <a:t>[9] </a:t>
            </a:r>
            <a:r>
              <a:rPr lang="en-US" altLang="zh-CN" sz="1200" dirty="0" err="1">
                <a:latin typeface="Times New Roman" panose="02020603050405020304" pitchFamily="18" charset="0"/>
              </a:rPr>
              <a:t>Feixiang</a:t>
            </a:r>
            <a:r>
              <a:rPr lang="en-US" altLang="zh-CN" sz="1200" dirty="0">
                <a:latin typeface="Times New Roman" panose="02020603050405020304" pitchFamily="18" charset="0"/>
              </a:rPr>
              <a:t> Zhou, Bryan M. Williams, and Hossein Rahmani. Towards Adaptive Pseudo-Label Learning for Semi-Supervised Temporal Action Localization. In Proceedings of the European Conference on Computer Vision (ECCV), 2024</a:t>
            </a:r>
            <a:r>
              <a:rPr lang="en-US" altLang="zh-CN" sz="1200">
                <a:latin typeface="Times New Roman" panose="02020603050405020304" pitchFamily="18" charset="0"/>
              </a:rPr>
              <a:t>: 320-338.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marL="288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[10]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Jihwan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Kim, Miso Lee, Cheol-Ho Cho, Jihyun Lee, and Jae-Pil Heo. Prediction-Feedback DETR for Temporal Action Detection. In Proceedings of the AAAI Conference on Artificial Intelligence (AAAI), 2025: 4266-4274.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F5FE77-D539-F8FF-A22E-D0A8032B44D3}"/>
              </a:ext>
            </a:extLst>
          </p:cNvPr>
          <p:cNvSpPr txBox="1"/>
          <p:nvPr/>
        </p:nvSpPr>
        <p:spPr>
          <a:xfrm>
            <a:off x="384242" y="1386805"/>
            <a:ext cx="5711757" cy="426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[1] Ping Li, Jiachen Cao, and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Xingchao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Ye. Prototype contrastive learning for point-supervised temporal action detection. Expert Systems with Applications (ESWA), 2023, 213: 118965.</a:t>
            </a:r>
            <a:endParaRPr lang="en-US" altLang="zh-CN" sz="1200" dirty="0"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[2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] Ping Li, Jiachen Cao, Li Yuan,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Qinghao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Ye, and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Xianghua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Xu. Truncated attention-aware proposal networks with multi-scale dilation for temporal action detection. Pattern Recognition (PR), 2023, 142: 109684.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[3] Yu-Wei Chao, Sudheendra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Vijayanarasimhan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, Bryan Seybold, David A. Ross, Jia Deng, and Rahul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Sukthankar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. Rethinking the Faster R-CNN Architecture for Temporal Action Localization. In Proceedings of the IEEE Conference on Computer Vision and Pattern Recognition (CVPR), 2018: 1130-1139.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[4]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Tianwei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Lin, Xiao Liu, Xin Li,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Errui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Ding, and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Shilei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Wen. BMN: Boundary-Matching Network for Temporal Action Proposal Generation. In Proceedings of the IEEE International Conference on Computer Vision (ICCV), 2019: 3888-3897.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[5]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Haisheng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Su,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Weihao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Gan, Wei Wu, Yu Qiao, and Junjie Yan. BSN++: Complementary Boundary Regressor with Scale-Balanced Relation Modeling for Temporal Action Proposal Generation. In Proceedings of the AAAI Conference on Artificial Intelligence (AAAI), 2021: 2602-2610.</a:t>
            </a:r>
            <a:endParaRPr lang="zh-CN" altLang="zh-CN" dirty="0"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" name="页脚占位符 40">
            <a:extLst>
              <a:ext uri="{FF2B5EF4-FFF2-40B4-BE49-F238E27FC236}">
                <a16:creationId xmlns:a16="http://schemas.microsoft.com/office/drawing/2014/main" id="{C45846C8-7B30-CEF0-5FE3-796C39699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947916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时序动作检测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4561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3348</TotalTime>
  <Words>2015</Words>
  <Application>Microsoft Office PowerPoint</Application>
  <PresentationFormat>宽屏</PresentationFormat>
  <Paragraphs>177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绍启 田</dc:creator>
  <cp:lastModifiedBy>绍启 田</cp:lastModifiedBy>
  <cp:revision>284</cp:revision>
  <dcterms:created xsi:type="dcterms:W3CDTF">2026-06-30T07:17:56Z</dcterms:created>
  <dcterms:modified xsi:type="dcterms:W3CDTF">2026-07-08T01:34:33Z</dcterms:modified>
</cp:coreProperties>
</file>