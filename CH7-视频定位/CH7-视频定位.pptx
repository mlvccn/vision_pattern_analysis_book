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96" r:id="rId2"/>
    <p:sldId id="291" r:id="rId3"/>
    <p:sldId id="258" r:id="rId4"/>
    <p:sldId id="259" r:id="rId5"/>
    <p:sldId id="295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2" r:id="rId19"/>
    <p:sldId id="29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F87"/>
    <a:srgbClr val="0066CC"/>
    <a:srgbClr val="192EC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4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FE52-C6E7-4B1A-9A72-EDC7F2CC29C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1401E-ED6B-48B2-A950-5A30F0C2C1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810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B1401E-ED6B-48B2-A950-5A30F0C2C18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297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E84747-1C49-D6AB-46A1-19A231556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3D8F18-AEF4-9E8E-924B-CF73DE974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0C5D38-03AC-EB27-FE1C-DE501F5B2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4FCC54-03B9-5011-B187-B0476B2F7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B67882-B289-855C-1710-FA58EA54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16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4FE8D-86CB-3534-C6F2-062EE8E2B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A28D29-47A1-5532-1937-49098FDB3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254200-1B09-69B9-39EE-2AE07C4BF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94E525-1B37-B9A7-E080-FE20B0868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6F8E7D-275F-7C2F-68BD-AD477D46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328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65CE0-EF9A-A267-4A9F-DD93074A6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B937B4-49C7-6544-A765-C2D9F2C17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B680EE-AEFB-3CA0-9B46-99A4A274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CE92B8-5EC7-795F-84C0-0FBAF1A1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AA31D-1987-30F0-2FD0-E4E692EA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55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7FB4A-3DF6-B52D-9EE7-C72728E37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C17C8E-2CF6-A0B4-123F-9883EFB8A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08FBBA-C685-7362-368C-F1974DE5E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E4A3E8-7C9E-6444-F555-DE846CC98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BDF25F-06D3-7503-E14B-DD118D0F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69A870-2A97-CC07-713D-7D8EB5DD2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35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3E9E5-191E-0DCB-A7A7-11258733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2A3025-30E2-CC4A-C02F-BE49BE6CD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8EB5F3-7D52-0074-8601-18CEB4FE7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877E73-14C5-4B7B-59A0-D95F757698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A76B99-0AFC-4011-1127-12371586F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5F8AC7-2CA6-D936-0E5D-B36922ECA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0DA63A5-B4B3-1F98-9011-1ABD044D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0F9919-6AA8-A2C1-C5A3-31E69A3D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208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5114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D4FC17-49DC-0FE5-14EC-72D5AE81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动作识别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A675A0-F7C1-42CE-C25A-161AC73D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4263" y="6473536"/>
            <a:ext cx="2743200" cy="365125"/>
          </a:xfrm>
        </p:spPr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C13B8C-828A-D377-E284-782210DF7790}"/>
              </a:ext>
            </a:extLst>
          </p:cNvPr>
          <p:cNvSpPr/>
          <p:nvPr userDrawn="1"/>
        </p:nvSpPr>
        <p:spPr>
          <a:xfrm>
            <a:off x="0" y="0"/>
            <a:ext cx="12192000" cy="675118"/>
          </a:xfrm>
          <a:prstGeom prst="rect">
            <a:avLst/>
          </a:prstGeom>
          <a:solidFill>
            <a:srgbClr val="111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765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9430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60279-D810-DE67-1D47-FF44C1FC3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F51DE6-986A-7ADA-286E-1D8CC5908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EEF086-C898-9193-8E2F-DAFC96E5F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21517C-8B76-8BBB-1434-4C28FCD76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F53C8A-C824-320A-9005-007DD9434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080528-30F0-5AAD-FEE4-5CFEBE6F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776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9CA79-E00D-4F72-1F6E-087D5BF04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3BEDA3-9A1D-EB5E-3BB6-B1E09877C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9E9B71-1E19-C1DB-ED10-F43A64085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B0E77B-2103-590E-A9F1-2AD64AA1E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6B278C-83E9-5DED-9B25-A7772134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A75E7B-7F9F-65F1-962A-DD26E9CA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60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7ABF4-EDC7-800E-2808-84558FFC2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C59CCF-058E-4AAC-6166-B8F908966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7ABC29-A20B-7138-9F70-72EFB0E7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0EAA22-911C-FB27-966E-7F8B809A4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95254B-18E4-C7CC-FF06-981CA1D7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477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3650BF-3EF0-3775-16A5-99544FAB7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9B7817-2735-1D67-85DF-B232EC677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AE93F3-05AD-7A3A-9C65-C79AE1FC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EA83B6-8D41-A3D9-D3FC-8E359B5A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1BA522-0EF7-DE91-449B-734A934A3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51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5C439E-29C6-6951-FF0F-4ED7E3320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29F0AF-7897-C6A1-01F0-AA2F24DC5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B1470C-73F8-451A-E687-F91AADD1C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A50941-8201-A070-1471-7D51AD646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zh-CN" altLang="en-US"/>
              <a:t>视觉模式分析及实践 </a:t>
            </a:r>
            <a:r>
              <a:rPr lang="en-US" altLang="zh-CN"/>
              <a:t>—— </a:t>
            </a:r>
            <a:r>
              <a:rPr lang="zh-CN" altLang="en-US"/>
              <a:t>动作识别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4811DD-121C-B478-99E4-729B269DD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78845-01F8-4781-BC44-71E27FEEA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478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FCACC26-3CBC-3BC0-35EC-0FB4FFC9EB3C}"/>
              </a:ext>
            </a:extLst>
          </p:cNvPr>
          <p:cNvSpPr txBox="1"/>
          <p:nvPr/>
        </p:nvSpPr>
        <p:spPr>
          <a:xfrm>
            <a:off x="0" y="2875002"/>
            <a:ext cx="1219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第</a:t>
            </a:r>
            <a:r>
              <a:rPr kumimoji="0" lang="en-US" altLang="zh-CN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3</a:t>
            </a: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章 动作识别</a:t>
            </a:r>
            <a:endParaRPr kumimoji="0" lang="zh-CN" alt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BCCC7118-C2BC-FC07-D4A9-51C28C294231}"/>
              </a:ext>
            </a:extLst>
          </p:cNvPr>
          <p:cNvSpPr txBox="1">
            <a:spLocks/>
          </p:cNvSpPr>
          <p:nvPr/>
        </p:nvSpPr>
        <p:spPr>
          <a:xfrm>
            <a:off x="137160" y="0"/>
            <a:ext cx="4281016" cy="365125"/>
          </a:xfrm>
          <a:prstGeom prst="homePlate">
            <a:avLst/>
          </a:prstGeom>
          <a:solidFill>
            <a:srgbClr val="111F87"/>
          </a:solidFill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i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《 </a:t>
            </a:r>
            <a:r>
              <a:rPr lang="zh-CN" altLang="en-US" b="1" i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视觉模式分析及实践 </a:t>
            </a:r>
            <a:r>
              <a:rPr lang="en-US" altLang="zh-CN" b="1" i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》</a:t>
            </a:r>
            <a:r>
              <a:rPr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教材 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2026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版 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-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杭州电子科技大学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6AAFA9-ABCC-678C-CE57-0B5533D76466}"/>
              </a:ext>
            </a:extLst>
          </p:cNvPr>
          <p:cNvSpPr/>
          <p:nvPr/>
        </p:nvSpPr>
        <p:spPr>
          <a:xfrm>
            <a:off x="0" y="2565000"/>
            <a:ext cx="12191999" cy="1728000"/>
          </a:xfrm>
          <a:prstGeom prst="rect">
            <a:avLst/>
          </a:prstGeom>
          <a:solidFill>
            <a:srgbClr val="111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第</a:t>
            </a:r>
            <a:r>
              <a:rPr lang="en-US" altLang="zh-CN" sz="6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7</a:t>
            </a:r>
            <a:r>
              <a:rPr lang="zh-CN" altLang="en-US" sz="6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章  视频定位</a:t>
            </a:r>
          </a:p>
        </p:txBody>
      </p:sp>
      <p:sp>
        <p:nvSpPr>
          <p:cNvPr id="10" name="箭头: V 形 9">
            <a:extLst>
              <a:ext uri="{FF2B5EF4-FFF2-40B4-BE49-F238E27FC236}">
                <a16:creationId xmlns:a16="http://schemas.microsoft.com/office/drawing/2014/main" id="{7AF1BAC2-A2D5-D8A9-74A2-95B0FA5B286B}"/>
              </a:ext>
            </a:extLst>
          </p:cNvPr>
          <p:cNvSpPr/>
          <p:nvPr/>
        </p:nvSpPr>
        <p:spPr>
          <a:xfrm>
            <a:off x="4272814" y="-1"/>
            <a:ext cx="365760" cy="365125"/>
          </a:xfrm>
          <a:prstGeom prst="chevron">
            <a:avLst/>
          </a:prstGeom>
          <a:solidFill>
            <a:srgbClr val="111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17FAEE-013D-FD5B-E77C-2AE41D330D8B}"/>
              </a:ext>
            </a:extLst>
          </p:cNvPr>
          <p:cNvSpPr/>
          <p:nvPr/>
        </p:nvSpPr>
        <p:spPr>
          <a:xfrm>
            <a:off x="0" y="-1"/>
            <a:ext cx="109728" cy="365124"/>
          </a:xfrm>
          <a:prstGeom prst="rect">
            <a:avLst/>
          </a:prstGeom>
          <a:solidFill>
            <a:srgbClr val="111F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35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D68F3AAF-EB30-0DE9-5027-CB027341D765}"/>
              </a:ext>
            </a:extLst>
          </p:cNvPr>
          <p:cNvGrpSpPr/>
          <p:nvPr/>
        </p:nvGrpSpPr>
        <p:grpSpPr>
          <a:xfrm>
            <a:off x="2401398" y="2299915"/>
            <a:ext cx="8288593" cy="2612465"/>
            <a:chOff x="2401398" y="2574235"/>
            <a:chExt cx="8288593" cy="2612465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9101A968-AF48-3ACA-2E3C-ABF9A5E8F146}"/>
                </a:ext>
              </a:extLst>
            </p:cNvPr>
            <p:cNvGrpSpPr/>
            <p:nvPr/>
          </p:nvGrpSpPr>
          <p:grpSpPr>
            <a:xfrm>
              <a:off x="2401398" y="2574235"/>
              <a:ext cx="4194402" cy="625474"/>
              <a:chOff x="2290870" y="2040671"/>
              <a:chExt cx="4194402" cy="625474"/>
            </a:xfrm>
          </p:grpSpPr>
          <p:sp>
            <p:nvSpPr>
              <p:cNvPr id="12" name="AutoShape 51">
                <a:extLst>
                  <a:ext uri="{FF2B5EF4-FFF2-40B4-BE49-F238E27FC236}">
                    <a16:creationId xmlns:a16="http://schemas.microsoft.com/office/drawing/2014/main" id="{38EF597D-ADEB-602A-AD27-8581E978C81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flipH="1">
                <a:off x="2740856" y="2040671"/>
                <a:ext cx="3744416" cy="625474"/>
              </a:xfrm>
              <a:prstGeom prst="rect">
                <a:avLst/>
              </a:prstGeom>
              <a:noFill/>
              <a:ln w="28575" algn="ctr">
                <a:noFill/>
                <a:round/>
              </a:ln>
              <a:effectLst/>
            </p:spPr>
            <p:txBody>
              <a:bodyPr wrap="none" lIns="288000" anchor="ctr"/>
              <a:lstStyle/>
              <a:p>
                <a:pPr>
                  <a:lnSpc>
                    <a:spcPct val="90000"/>
                  </a:lnSpc>
                  <a:buClr>
                    <a:schemeClr val="bg2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800" b="1" dirty="0">
                    <a:solidFill>
                      <a:srgbClr val="111F87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任务介绍</a:t>
                </a:r>
                <a:endParaRPr lang="en-US" altLang="zh-CN" sz="2800" b="1" dirty="0">
                  <a:solidFill>
                    <a:srgbClr val="111F87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D4D0CF59-EBA9-B467-8600-083C11C0CA80}"/>
                  </a:ext>
                </a:extLst>
              </p:cNvPr>
              <p:cNvSpPr/>
              <p:nvPr/>
            </p:nvSpPr>
            <p:spPr>
              <a:xfrm>
                <a:off x="2290870" y="2097201"/>
                <a:ext cx="468000" cy="468000"/>
              </a:xfrm>
              <a:prstGeom prst="ellipse">
                <a:avLst/>
              </a:prstGeom>
              <a:solidFill>
                <a:srgbClr val="111F87"/>
              </a:solidFill>
              <a:ln w="762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1</a:t>
                </a:r>
                <a:endPara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9A40665-B3D2-89B8-045E-6AEAD23530A5}"/>
                </a:ext>
              </a:extLst>
            </p:cNvPr>
            <p:cNvGrpSpPr/>
            <p:nvPr/>
          </p:nvGrpSpPr>
          <p:grpSpPr>
            <a:xfrm>
              <a:off x="2401398" y="3567731"/>
              <a:ext cx="4194402" cy="625474"/>
              <a:chOff x="2290870" y="2040671"/>
              <a:chExt cx="4194402" cy="625474"/>
            </a:xfrm>
          </p:grpSpPr>
          <p:sp>
            <p:nvSpPr>
              <p:cNvPr id="15" name="AutoShape 51">
                <a:extLst>
                  <a:ext uri="{FF2B5EF4-FFF2-40B4-BE49-F238E27FC236}">
                    <a16:creationId xmlns:a16="http://schemas.microsoft.com/office/drawing/2014/main" id="{5C6BA5A2-966C-0082-D827-874745C39AA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flipH="1">
                <a:off x="2740856" y="2040671"/>
                <a:ext cx="3744416" cy="625474"/>
              </a:xfrm>
              <a:prstGeom prst="rect">
                <a:avLst/>
              </a:prstGeom>
              <a:noFill/>
              <a:ln w="28575" algn="ctr">
                <a:noFill/>
                <a:round/>
              </a:ln>
              <a:effectLst/>
            </p:spPr>
            <p:txBody>
              <a:bodyPr wrap="none" lIns="288000" anchor="ctr"/>
              <a:lstStyle/>
              <a:p>
                <a:pPr>
                  <a:lnSpc>
                    <a:spcPct val="90000"/>
                  </a:lnSpc>
                  <a:buClr>
                    <a:schemeClr val="bg2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800" b="1" dirty="0">
                    <a:solidFill>
                      <a:srgbClr val="111F87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方法总览</a:t>
                </a:r>
                <a:endParaRPr lang="en-US" altLang="zh-CN" sz="2800" b="1" dirty="0">
                  <a:solidFill>
                    <a:srgbClr val="111F87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0B7AB187-E66D-F550-8937-8DC611B830A4}"/>
                  </a:ext>
                </a:extLst>
              </p:cNvPr>
              <p:cNvSpPr/>
              <p:nvPr/>
            </p:nvSpPr>
            <p:spPr>
              <a:xfrm>
                <a:off x="2290870" y="2097201"/>
                <a:ext cx="468000" cy="468000"/>
              </a:xfrm>
              <a:prstGeom prst="ellipse">
                <a:avLst/>
              </a:prstGeom>
              <a:solidFill>
                <a:srgbClr val="111F87"/>
              </a:solidFill>
              <a:ln w="762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2</a:t>
                </a:r>
                <a:endPara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9BFF575-BA77-F45C-D528-5A3A7ECEB964}"/>
                </a:ext>
              </a:extLst>
            </p:cNvPr>
            <p:cNvGrpSpPr/>
            <p:nvPr/>
          </p:nvGrpSpPr>
          <p:grpSpPr>
            <a:xfrm>
              <a:off x="2401398" y="4561226"/>
              <a:ext cx="4194402" cy="625474"/>
              <a:chOff x="2290870" y="2040671"/>
              <a:chExt cx="4194402" cy="625474"/>
            </a:xfrm>
          </p:grpSpPr>
          <p:sp>
            <p:nvSpPr>
              <p:cNvPr id="18" name="AutoShape 51">
                <a:extLst>
                  <a:ext uri="{FF2B5EF4-FFF2-40B4-BE49-F238E27FC236}">
                    <a16:creationId xmlns:a16="http://schemas.microsoft.com/office/drawing/2014/main" id="{1AF606EF-77C0-8FF2-3E3F-B683C10C1B5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flipH="1">
                <a:off x="2740856" y="2040671"/>
                <a:ext cx="3744416" cy="625474"/>
              </a:xfrm>
              <a:prstGeom prst="rect">
                <a:avLst/>
              </a:prstGeom>
              <a:noFill/>
              <a:ln w="28575" algn="ctr">
                <a:noFill/>
                <a:round/>
              </a:ln>
              <a:effectLst/>
            </p:spPr>
            <p:txBody>
              <a:bodyPr wrap="none" lIns="288000" anchor="ctr"/>
              <a:lstStyle/>
              <a:p>
                <a:pPr>
                  <a:lnSpc>
                    <a:spcPct val="90000"/>
                  </a:lnSpc>
                  <a:buClr>
                    <a:schemeClr val="bg2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800" b="1" dirty="0">
                    <a:solidFill>
                      <a:srgbClr val="111F87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典型方法</a:t>
                </a:r>
                <a:endParaRPr lang="en-US" altLang="zh-CN" sz="2800" b="1" dirty="0">
                  <a:solidFill>
                    <a:srgbClr val="111F87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7BF5576F-75A9-F1BA-0520-BD558865B1D7}"/>
                  </a:ext>
                </a:extLst>
              </p:cNvPr>
              <p:cNvSpPr/>
              <p:nvPr/>
            </p:nvSpPr>
            <p:spPr>
              <a:xfrm>
                <a:off x="2290870" y="2097201"/>
                <a:ext cx="468000" cy="468000"/>
              </a:xfrm>
              <a:prstGeom prst="ellipse">
                <a:avLst/>
              </a:prstGeom>
              <a:solidFill>
                <a:srgbClr val="111F87"/>
              </a:solidFill>
              <a:ln w="762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3</a:t>
                </a:r>
                <a:endPara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DCA72BBA-8A10-445A-24FF-A05ECFACD84A}"/>
                </a:ext>
              </a:extLst>
            </p:cNvPr>
            <p:cNvGrpSpPr/>
            <p:nvPr/>
          </p:nvGrpSpPr>
          <p:grpSpPr>
            <a:xfrm>
              <a:off x="6495589" y="2574235"/>
              <a:ext cx="4194402" cy="625474"/>
              <a:chOff x="2290870" y="2040671"/>
              <a:chExt cx="4194402" cy="625474"/>
            </a:xfrm>
          </p:grpSpPr>
          <p:sp>
            <p:nvSpPr>
              <p:cNvPr id="21" name="AutoShape 51">
                <a:extLst>
                  <a:ext uri="{FF2B5EF4-FFF2-40B4-BE49-F238E27FC236}">
                    <a16:creationId xmlns:a16="http://schemas.microsoft.com/office/drawing/2014/main" id="{7AFB504A-484C-AFD9-B5A5-B1C181DE038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flipH="1">
                <a:off x="2740856" y="2040671"/>
                <a:ext cx="3744416" cy="625474"/>
              </a:xfrm>
              <a:prstGeom prst="rect">
                <a:avLst/>
              </a:prstGeom>
              <a:noFill/>
              <a:ln w="28575" algn="ctr">
                <a:noFill/>
                <a:round/>
              </a:ln>
              <a:effectLst/>
            </p:spPr>
            <p:txBody>
              <a:bodyPr wrap="none" lIns="288000" anchor="ctr"/>
              <a:lstStyle/>
              <a:p>
                <a:pPr>
                  <a:lnSpc>
                    <a:spcPct val="90000"/>
                  </a:lnSpc>
                  <a:buClr>
                    <a:schemeClr val="bg2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800" b="1" dirty="0">
                    <a:solidFill>
                      <a:srgbClr val="111F87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本章习题</a:t>
                </a:r>
                <a:endParaRPr lang="en-US" altLang="zh-CN" sz="2800" b="1" dirty="0">
                  <a:solidFill>
                    <a:srgbClr val="111F87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6777FAA0-B04A-EEA0-B498-AE495E2598C3}"/>
                  </a:ext>
                </a:extLst>
              </p:cNvPr>
              <p:cNvSpPr/>
              <p:nvPr/>
            </p:nvSpPr>
            <p:spPr>
              <a:xfrm>
                <a:off x="2290870" y="2097201"/>
                <a:ext cx="468000" cy="468000"/>
              </a:xfrm>
              <a:prstGeom prst="ellipse">
                <a:avLst/>
              </a:prstGeom>
              <a:solidFill>
                <a:srgbClr val="111F87"/>
              </a:solidFill>
              <a:ln w="762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4</a:t>
                </a:r>
                <a:endPara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4EDEE634-1CBC-8427-6683-FEA3130D642D}"/>
                </a:ext>
              </a:extLst>
            </p:cNvPr>
            <p:cNvGrpSpPr/>
            <p:nvPr/>
          </p:nvGrpSpPr>
          <p:grpSpPr>
            <a:xfrm>
              <a:off x="6495589" y="3567731"/>
              <a:ext cx="4194402" cy="625474"/>
              <a:chOff x="2290870" y="2040671"/>
              <a:chExt cx="4194402" cy="625474"/>
            </a:xfrm>
          </p:grpSpPr>
          <p:sp>
            <p:nvSpPr>
              <p:cNvPr id="24" name="AutoShape 51">
                <a:extLst>
                  <a:ext uri="{FF2B5EF4-FFF2-40B4-BE49-F238E27FC236}">
                    <a16:creationId xmlns:a16="http://schemas.microsoft.com/office/drawing/2014/main" id="{73A587CF-AE59-7E0B-5421-2FD79D115FF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 flipH="1">
                <a:off x="2740856" y="2040671"/>
                <a:ext cx="3744416" cy="625474"/>
              </a:xfrm>
              <a:prstGeom prst="rect">
                <a:avLst/>
              </a:prstGeom>
              <a:noFill/>
              <a:ln w="28575" algn="ctr">
                <a:noFill/>
                <a:round/>
              </a:ln>
              <a:effectLst/>
            </p:spPr>
            <p:txBody>
              <a:bodyPr wrap="none" lIns="288000" anchor="ctr"/>
              <a:lstStyle/>
              <a:p>
                <a:pPr>
                  <a:lnSpc>
                    <a:spcPct val="90000"/>
                  </a:lnSpc>
                  <a:buClr>
                    <a:schemeClr val="bg2"/>
                  </a:buClr>
                  <a:buSzPct val="7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800" b="1" dirty="0">
                    <a:solidFill>
                      <a:srgbClr val="111F87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参考文献</a:t>
                </a:r>
                <a:endParaRPr lang="en-US" altLang="zh-CN" sz="2800" b="1" dirty="0">
                  <a:solidFill>
                    <a:srgbClr val="111F87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881C3F8-B9AB-3AD1-7B86-342DA450FAE4}"/>
                  </a:ext>
                </a:extLst>
              </p:cNvPr>
              <p:cNvSpPr/>
              <p:nvPr/>
            </p:nvSpPr>
            <p:spPr>
              <a:xfrm>
                <a:off x="2290870" y="2097201"/>
                <a:ext cx="468000" cy="468000"/>
              </a:xfrm>
              <a:prstGeom prst="ellipse">
                <a:avLst/>
              </a:prstGeom>
              <a:solidFill>
                <a:srgbClr val="111F87"/>
              </a:solidFill>
              <a:ln w="762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+mn-ea"/>
                    <a:sym typeface="Times New Roman" panose="02020603050405020304" pitchFamily="18" charset="0"/>
                  </a:rPr>
                  <a:t>5</a:t>
                </a:r>
                <a:endPara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endParaRPr>
              </a:p>
            </p:txBody>
          </p:sp>
        </p:grp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D795735E-076D-2D53-A982-812FD180B3B4}"/>
              </a:ext>
            </a:extLst>
          </p:cNvPr>
          <p:cNvSpPr/>
          <p:nvPr/>
        </p:nvSpPr>
        <p:spPr>
          <a:xfrm>
            <a:off x="402431" y="1088136"/>
            <a:ext cx="11387138" cy="5001768"/>
          </a:xfrm>
          <a:prstGeom prst="rect">
            <a:avLst/>
          </a:prstGeom>
          <a:noFill/>
          <a:ln>
            <a:solidFill>
              <a:srgbClr val="111F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0398B5D-D6FC-55C4-0C76-C57914AE6264}"/>
              </a:ext>
            </a:extLst>
          </p:cNvPr>
          <p:cNvSpPr/>
          <p:nvPr/>
        </p:nvSpPr>
        <p:spPr>
          <a:xfrm>
            <a:off x="4260000" y="5979904"/>
            <a:ext cx="3672000" cy="216000"/>
          </a:xfrm>
          <a:prstGeom prst="rect">
            <a:avLst/>
          </a:prstGeom>
          <a:solidFill>
            <a:srgbClr val="111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DDDF307-C711-EB3D-854F-44F9B87892CF}"/>
              </a:ext>
            </a:extLst>
          </p:cNvPr>
          <p:cNvSpPr txBox="1"/>
          <p:nvPr/>
        </p:nvSpPr>
        <p:spPr>
          <a:xfrm rot="16200000">
            <a:off x="565050" y="-471714"/>
            <a:ext cx="492443" cy="1622544"/>
          </a:xfrm>
          <a:prstGeom prst="rect">
            <a:avLst/>
          </a:prstGeom>
          <a:noFill/>
          <a:ln>
            <a:noFill/>
          </a:ln>
        </p:spPr>
        <p:txBody>
          <a:bodyPr vert="eaVert" wrap="square" lIns="0" tIns="0" rIns="0" bIns="0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9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 目录</a:t>
            </a:r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374D9BDA-4F62-EAF2-F7B8-CBF7A9F9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41" name="页脚占位符 40">
            <a:extLst>
              <a:ext uri="{FF2B5EF4-FFF2-40B4-BE49-F238E27FC236}">
                <a16:creationId xmlns:a16="http://schemas.microsoft.com/office/drawing/2014/main" id="{795AAA35-5213-4A85-81C7-E6BB2757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3844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>
            <a:extLst>
              <a:ext uri="{FF2B5EF4-FFF2-40B4-BE49-F238E27FC236}">
                <a16:creationId xmlns:a16="http://schemas.microsoft.com/office/drawing/2014/main" id="{8FF32217-A4EC-D083-5496-6EA8030194C9}"/>
              </a:ext>
            </a:extLst>
          </p:cNvPr>
          <p:cNvSpPr txBox="1"/>
          <p:nvPr/>
        </p:nvSpPr>
        <p:spPr>
          <a:xfrm>
            <a:off x="644107" y="830618"/>
            <a:ext cx="10575581" cy="1710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视频定位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根据用户输入的自然语言描述，在未裁剪视频中找到与文本语义对应的视频片段，并预测其起始时间和结束时间。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该任务需要同时理解视频内容和文本查询，并完成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跨模态语义对齐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，广泛应用于视频检索、智能监控、视频问答、人机交互和视频编辑等场景。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A41DAD0-2EE8-2969-0782-50EBD80A7F5D}"/>
              </a:ext>
            </a:extLst>
          </p:cNvPr>
          <p:cNvSpPr txBox="1"/>
          <p:nvPr/>
        </p:nvSpPr>
        <p:spPr>
          <a:xfrm>
            <a:off x="2672078" y="5774722"/>
            <a:ext cx="68478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7.1  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视频时序定位示意图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4CD8B9D-FEE0-0C56-D9BF-D9097EB5EBAE}"/>
              </a:ext>
            </a:extLst>
          </p:cNvPr>
          <p:cNvSpPr txBox="1"/>
          <p:nvPr/>
        </p:nvSpPr>
        <p:spPr>
          <a:xfrm>
            <a:off x="0" y="44674"/>
            <a:ext cx="6125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7.1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任务介绍</a:t>
            </a:r>
          </a:p>
        </p:txBody>
      </p:sp>
      <p:sp>
        <p:nvSpPr>
          <p:cNvPr id="38" name="灯片编号占位符 37">
            <a:extLst>
              <a:ext uri="{FF2B5EF4-FFF2-40B4-BE49-F238E27FC236}">
                <a16:creationId xmlns:a16="http://schemas.microsoft.com/office/drawing/2014/main" id="{42C5172A-EFFF-28D8-26D6-0D726B068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39" name="页脚占位符 38">
            <a:extLst>
              <a:ext uri="{FF2B5EF4-FFF2-40B4-BE49-F238E27FC236}">
                <a16:creationId xmlns:a16="http://schemas.microsoft.com/office/drawing/2014/main" id="{2293EEF3-1B6B-C7FC-14E7-3BBF647C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84E4D509-C280-DA10-CF42-B2FBA6514D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962" y="3158288"/>
            <a:ext cx="7044067" cy="245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2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文本框 276">
            <a:extLst>
              <a:ext uri="{FF2B5EF4-FFF2-40B4-BE49-F238E27FC236}">
                <a16:creationId xmlns:a16="http://schemas.microsoft.com/office/drawing/2014/main" id="{D971D876-3467-8491-EE92-1F1FE2EDCD6F}"/>
              </a:ext>
            </a:extLst>
          </p:cNvPr>
          <p:cNvSpPr txBox="1"/>
          <p:nvPr/>
        </p:nvSpPr>
        <p:spPr>
          <a:xfrm>
            <a:off x="374176" y="1020809"/>
            <a:ext cx="11443648" cy="87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视频定位任务可分为两类：视频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时序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定位和视频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时空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定位。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视频时序定位输出与查询相关的时间片段；视频时空定位不仅要预测起止时间，还要定位目标在空间中的边界框或时空管道。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8A7580EA-A9A0-DA75-1501-DE28B77BBAD0}"/>
              </a:ext>
            </a:extLst>
          </p:cNvPr>
          <p:cNvSpPr txBox="1"/>
          <p:nvPr/>
        </p:nvSpPr>
        <p:spPr>
          <a:xfrm>
            <a:off x="1434082" y="5987942"/>
            <a:ext cx="93238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</a:t>
            </a:r>
            <a:r>
              <a:rPr lang="zh-CN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.2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r>
              <a:rPr lang="zh-CN" altLang="zh-CN" sz="12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视频时序定位和视频时空定位的区别示意图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093637-F40E-6AF7-7BF8-2BE0A132ED60}"/>
              </a:ext>
            </a:extLst>
          </p:cNvPr>
          <p:cNvSpPr txBox="1"/>
          <p:nvPr/>
        </p:nvSpPr>
        <p:spPr>
          <a:xfrm>
            <a:off x="0" y="44674"/>
            <a:ext cx="6125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7.2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方法总览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9F6C6A-E84F-464E-A6CE-0C1721F97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3CC8FE61-F6D6-56F6-ECDF-A0E8782FE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5007BE4F-E633-15D6-0E05-16CF0816A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38802" y="2227391"/>
            <a:ext cx="7774295" cy="355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96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F88A-6B1F-C818-2720-AEB61BA3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531E4D-09F3-BE49-AE30-4631505B3004}"/>
              </a:ext>
            </a:extLst>
          </p:cNvPr>
          <p:cNvSpPr txBox="1"/>
          <p:nvPr/>
        </p:nvSpPr>
        <p:spPr>
          <a:xfrm flipH="1">
            <a:off x="-1" y="43602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典型方法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0A2D4BC-14AD-2315-5F6E-2AE7FA2C50CD}"/>
              </a:ext>
            </a:extLst>
          </p:cNvPr>
          <p:cNvGrpSpPr/>
          <p:nvPr/>
        </p:nvGrpSpPr>
        <p:grpSpPr>
          <a:xfrm>
            <a:off x="1132008" y="1546752"/>
            <a:ext cx="4824000" cy="558001"/>
            <a:chOff x="1836096" y="1546752"/>
            <a:chExt cx="4824000" cy="558001"/>
          </a:xfrm>
        </p:grpSpPr>
        <p:sp>
          <p:nvSpPr>
            <p:cNvPr id="5" name="Rectangle 57"/>
            <p:cNvSpPr/>
            <p:nvPr/>
          </p:nvSpPr>
          <p:spPr>
            <a:xfrm>
              <a:off x="1836096" y="1546753"/>
              <a:ext cx="4824000" cy="558000"/>
            </a:xfrm>
            <a:prstGeom prst="rect">
              <a:avLst/>
            </a:prstGeom>
            <a:ln>
              <a:noFill/>
              <a:prstDash val="solid"/>
            </a:ln>
          </p:spPr>
          <p:txBody>
            <a:bodyPr wrap="square" lIns="1152000" anchor="ctr">
              <a:noAutofit/>
            </a:bodyPr>
            <a:lstStyle/>
            <a:p>
              <a:pPr defTabSz="360000">
                <a:lnSpc>
                  <a:spcPts val="2200"/>
                </a:lnSpc>
              </a:pPr>
              <a:r>
                <a:rPr lang="zh-CN" altLang="en-US" sz="1600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全监督视频定位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43" name="菱形 42"/>
            <p:cNvSpPr/>
            <p:nvPr/>
          </p:nvSpPr>
          <p:spPr>
            <a:xfrm>
              <a:off x="1908104" y="1546752"/>
              <a:ext cx="540000" cy="540000"/>
            </a:xfrm>
            <a:prstGeom prst="diamond">
              <a:avLst/>
            </a:prstGeom>
            <a:solidFill>
              <a:srgbClr val="111F8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7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01</a:t>
              </a:r>
              <a:endParaRPr lang="zh-CN" altLang="en-US" sz="17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AC49ECF-6BF2-8FA0-9E33-8DB885A9675F}"/>
              </a:ext>
            </a:extLst>
          </p:cNvPr>
          <p:cNvGrpSpPr/>
          <p:nvPr/>
        </p:nvGrpSpPr>
        <p:grpSpPr>
          <a:xfrm>
            <a:off x="1132008" y="2748224"/>
            <a:ext cx="4824000" cy="540000"/>
            <a:chOff x="1836096" y="2364367"/>
            <a:chExt cx="4824000" cy="540000"/>
          </a:xfrm>
        </p:grpSpPr>
        <p:sp>
          <p:nvSpPr>
            <p:cNvPr id="46" name="Rectangle 57"/>
            <p:cNvSpPr/>
            <p:nvPr/>
          </p:nvSpPr>
          <p:spPr>
            <a:xfrm>
              <a:off x="1836096" y="2364367"/>
              <a:ext cx="4824000" cy="539997"/>
            </a:xfrm>
            <a:prstGeom prst="rect">
              <a:avLst/>
            </a:prstGeom>
            <a:ln>
              <a:noFill/>
              <a:prstDash val="solid"/>
            </a:ln>
          </p:spPr>
          <p:txBody>
            <a:bodyPr wrap="square" lIns="1152000" anchor="ctr">
              <a:noAutofit/>
            </a:bodyPr>
            <a:lstStyle/>
            <a:p>
              <a:pPr>
                <a:lnSpc>
                  <a:spcPts val="2200"/>
                </a:lnSpc>
              </a:pPr>
              <a:r>
                <a:rPr lang="zh-CN" altLang="en-US" sz="1600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弱监督视频定位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49" name="菱形 48"/>
            <p:cNvSpPr/>
            <p:nvPr/>
          </p:nvSpPr>
          <p:spPr>
            <a:xfrm>
              <a:off x="1908104" y="2364367"/>
              <a:ext cx="540000" cy="540000"/>
            </a:xfrm>
            <a:prstGeom prst="diamond">
              <a:avLst/>
            </a:prstGeom>
            <a:solidFill>
              <a:srgbClr val="111F8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7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02</a:t>
              </a:r>
              <a:endParaRPr lang="zh-CN" altLang="en-US" sz="17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63B6A28C-7034-A47D-188D-0DFF466DCC27}"/>
              </a:ext>
            </a:extLst>
          </p:cNvPr>
          <p:cNvGrpSpPr/>
          <p:nvPr/>
        </p:nvGrpSpPr>
        <p:grpSpPr>
          <a:xfrm>
            <a:off x="1132008" y="3931695"/>
            <a:ext cx="4824000" cy="540000"/>
            <a:chOff x="1836096" y="3181982"/>
            <a:chExt cx="4824000" cy="540000"/>
          </a:xfrm>
        </p:grpSpPr>
        <p:sp>
          <p:nvSpPr>
            <p:cNvPr id="52" name="Rectangle 57"/>
            <p:cNvSpPr/>
            <p:nvPr/>
          </p:nvSpPr>
          <p:spPr>
            <a:xfrm>
              <a:off x="1836096" y="3181983"/>
              <a:ext cx="4824000" cy="539996"/>
            </a:xfrm>
            <a:prstGeom prst="rect">
              <a:avLst/>
            </a:prstGeom>
            <a:ln>
              <a:noFill/>
              <a:prstDash val="solid"/>
            </a:ln>
          </p:spPr>
          <p:txBody>
            <a:bodyPr wrap="square" lIns="1152000" anchor="ctr">
              <a:noAutofit/>
            </a:bodyPr>
            <a:lstStyle/>
            <a:p>
              <a:pPr>
                <a:lnSpc>
                  <a:spcPts val="2200"/>
                </a:lnSpc>
              </a:pPr>
              <a:r>
                <a:rPr lang="zh-CN" altLang="en-US" sz="1600" dirty="0">
                  <a:solidFill>
                    <a:schemeClr val="bg2">
                      <a:lumMod val="2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点监督视频定位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55" name="菱形 54"/>
            <p:cNvSpPr/>
            <p:nvPr/>
          </p:nvSpPr>
          <p:spPr>
            <a:xfrm>
              <a:off x="1908104" y="3181982"/>
              <a:ext cx="540000" cy="540000"/>
            </a:xfrm>
            <a:prstGeom prst="diamond">
              <a:avLst/>
            </a:prstGeom>
            <a:solidFill>
              <a:srgbClr val="111F8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7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03</a:t>
              </a:r>
              <a:endParaRPr lang="zh-CN" altLang="en-US" sz="17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sp>
        <p:nvSpPr>
          <p:cNvPr id="47" name="灯片编号占位符 46">
            <a:extLst>
              <a:ext uri="{FF2B5EF4-FFF2-40B4-BE49-F238E27FC236}">
                <a16:creationId xmlns:a16="http://schemas.microsoft.com/office/drawing/2014/main" id="{C0EA51A0-AC4E-E1CE-05B4-10009706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页脚占位符 6">
            <a:extLst>
              <a:ext uri="{FF2B5EF4-FFF2-40B4-BE49-F238E27FC236}">
                <a16:creationId xmlns:a16="http://schemas.microsoft.com/office/drawing/2014/main" id="{B78B2421-0C2D-8A68-4D2F-784581E0A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7367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478F2-25DC-D61E-CE4F-779510F1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0507CFA-1DF4-64B4-B4BD-815A155A2C25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）基于二维时序邻接网络的视频时序定位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7ECA27-A1BD-F4AF-31F4-D490B862D7C2}"/>
              </a:ext>
            </a:extLst>
          </p:cNvPr>
          <p:cNvSpPr txBox="1"/>
          <p:nvPr/>
        </p:nvSpPr>
        <p:spPr>
          <a:xfrm>
            <a:off x="639839" y="1571959"/>
            <a:ext cx="11031052" cy="271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问题描述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传统方法独立处理候选片段，难以建模片段间的时序依赖，也难以区分视觉相似但语义不同的重叠片段。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方法动机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通过显式建模候选片段之间的邻接关系，增强模型对上下文和时序结构的理解。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方法特点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2D-TAN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将候选片段表示为二维时序图中的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坐标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，以起点和终点构成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二维映射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，并利用二维卷积学习片段间关系。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EC4BB6-31BC-7203-72B1-551FF094C8F4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7.3.1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全监督视频定位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75A3E49-B63F-0A4F-D391-39775EC1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页脚占位符 6">
            <a:extLst>
              <a:ext uri="{FF2B5EF4-FFF2-40B4-BE49-F238E27FC236}">
                <a16:creationId xmlns:a16="http://schemas.microsoft.com/office/drawing/2014/main" id="{63FB33F5-FD2F-6734-D918-FB0E9615C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0016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41922-3908-CC09-A19F-DF53467E6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文本框 144">
            <a:extLst>
              <a:ext uri="{FF2B5EF4-FFF2-40B4-BE49-F238E27FC236}">
                <a16:creationId xmlns:a16="http://schemas.microsoft.com/office/drawing/2014/main" id="{DD73F2CE-2F46-E6C6-FE4E-8D0EC3F39B5E}"/>
              </a:ext>
            </a:extLst>
          </p:cNvPr>
          <p:cNvSpPr txBox="1"/>
          <p:nvPr/>
        </p:nvSpPr>
        <p:spPr>
          <a:xfrm>
            <a:off x="651046" y="1685240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具体方法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BE704A86-AE2B-3244-4599-C8DB0027724F}"/>
              </a:ext>
            </a:extLst>
          </p:cNvPr>
          <p:cNvSpPr txBox="1"/>
          <p:nvPr/>
        </p:nvSpPr>
        <p:spPr>
          <a:xfrm>
            <a:off x="0" y="5981058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  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二维时序邻接网络结构图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1B2D5D-F9EC-CD3C-B2BA-BB6EEC1511D1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7.3.1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全监督视频定位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6689C7-A23A-B80C-9B4F-E23D46A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D46BD8-AF08-8EC0-66E1-2FB983A0C44E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）基于二维时序邻接网络的视频时序定位</a:t>
            </a:r>
          </a:p>
        </p:txBody>
      </p:sp>
      <p:sp>
        <p:nvSpPr>
          <p:cNvPr id="4" name="页脚占位符 6">
            <a:extLst>
              <a:ext uri="{FF2B5EF4-FFF2-40B4-BE49-F238E27FC236}">
                <a16:creationId xmlns:a16="http://schemas.microsoft.com/office/drawing/2014/main" id="{49F8F65C-97A3-DB2A-D12E-D5283366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F1A9E374-69EB-AAE5-A484-9A3959378B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0589" y="2120961"/>
            <a:ext cx="10370820" cy="373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58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4E8F-351A-5826-5373-CF2BE2CD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72FCED6-5472-D36F-4AA8-8A1DCEE71D1F}"/>
              </a:ext>
            </a:extLst>
          </p:cNvPr>
          <p:cNvSpPr txBox="1"/>
          <p:nvPr/>
        </p:nvSpPr>
        <p:spPr>
          <a:xfrm>
            <a:off x="646043" y="1576346"/>
            <a:ext cx="10828201" cy="271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问题描述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传统视频时序定位默认视频中一定存在与查询相关的片段，实际应用中若查询与视频无关，模型仍会强制输出错误片段。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方法动机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让模型同时具备相关性判断和片段定位能力：有相关片段时定位边界，无相关片段时明确反馈不存在。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方法特点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RaTSG 提出带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相关性反馈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的时序语句定位任务，并通过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多粒度相关性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判别与关系感知定位模块实现端到端建模。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0B6799-F762-809F-AA2E-DAB771B56335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7.3.1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全监督视频定位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F52CA3-6C5A-659B-B302-74F5E5F4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15459B-419E-DFE0-1646-ECE8CB7B4CF8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）基于关系感知的时序语句定位</a:t>
            </a:r>
          </a:p>
        </p:txBody>
      </p:sp>
      <p:sp>
        <p:nvSpPr>
          <p:cNvPr id="2" name="页脚占位符 6">
            <a:extLst>
              <a:ext uri="{FF2B5EF4-FFF2-40B4-BE49-F238E27FC236}">
                <a16:creationId xmlns:a16="http://schemas.microsoft.com/office/drawing/2014/main" id="{38722127-9524-5E86-FA5A-CE8A558E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240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E8B90-1A5C-6B29-932A-E7FA95A7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文本框 146">
            <a:extLst>
              <a:ext uri="{FF2B5EF4-FFF2-40B4-BE49-F238E27FC236}">
                <a16:creationId xmlns:a16="http://schemas.microsoft.com/office/drawing/2014/main" id="{E3D906D9-C081-8C4C-8ADB-0E103D982F57}"/>
              </a:ext>
            </a:extLst>
          </p:cNvPr>
          <p:cNvSpPr txBox="1"/>
          <p:nvPr/>
        </p:nvSpPr>
        <p:spPr>
          <a:xfrm>
            <a:off x="0" y="5991890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7.4  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关系感知时序语句定位网络结构图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E5712C-8EC6-F6AD-60B8-FDA0571B5393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7.3.1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全监督视频定位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C0B52D-0AFB-8F1E-E671-D981E3FD9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B19C17-48CC-3BFB-9141-7CAACC418099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）基于关系感知的时序语句定位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E52294-B2E3-90D0-BCCA-000A2A5765B6}"/>
              </a:ext>
            </a:extLst>
          </p:cNvPr>
          <p:cNvSpPr txBox="1"/>
          <p:nvPr/>
        </p:nvSpPr>
        <p:spPr>
          <a:xfrm>
            <a:off x="651046" y="1685240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具体方法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8" name="页脚占位符 6">
            <a:extLst>
              <a:ext uri="{FF2B5EF4-FFF2-40B4-BE49-F238E27FC236}">
                <a16:creationId xmlns:a16="http://schemas.microsoft.com/office/drawing/2014/main" id="{DC46A224-D5BF-6D52-E041-ED1F7A63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63134DE4-654E-96C2-BB8A-58E2314E52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2012" y="1340029"/>
            <a:ext cx="8834773" cy="454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95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2ECD0-5D02-E42D-5AB6-279D30B0D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4872B06-DF3D-3A45-9D72-C926707BA4B5}"/>
              </a:ext>
            </a:extLst>
          </p:cNvPr>
          <p:cNvSpPr txBox="1"/>
          <p:nvPr/>
        </p:nvSpPr>
        <p:spPr>
          <a:xfrm>
            <a:off x="637439" y="1581289"/>
            <a:ext cx="10925295" cy="271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问题描述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弱监督视频定位缺少真实边界标注，传统提议生成容易产生内容无关片段，负样本挖掘不足也会影响定位效果。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方法动机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利用高斯提议生成更柔性的候选片段，并通过对比学习逐步拉开正负提议差异。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方法特点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CPL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采用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高斯提议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和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条件掩码重构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，将正提议、负提议和全视频参考进行对比，利用课程学习动态调整负样本难度。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0A16F2-9394-4E13-8955-58EC553FF254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7.3.2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弱监督视频定位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859EC01-2743-0331-59F1-D123411D2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A88A8A-624E-B528-F968-07DF0FC6BF73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）基于对比提议学习的弱监督视频时序定位</a:t>
            </a:r>
          </a:p>
        </p:txBody>
      </p:sp>
      <p:sp>
        <p:nvSpPr>
          <p:cNvPr id="2" name="页脚占位符 6">
            <a:extLst>
              <a:ext uri="{FF2B5EF4-FFF2-40B4-BE49-F238E27FC236}">
                <a16:creationId xmlns:a16="http://schemas.microsoft.com/office/drawing/2014/main" id="{A33D1E59-DDA8-09C9-56DF-092CC351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6971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EA7F0-7667-30D0-9C99-86657FEB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文本框 146">
            <a:extLst>
              <a:ext uri="{FF2B5EF4-FFF2-40B4-BE49-F238E27FC236}">
                <a16:creationId xmlns:a16="http://schemas.microsoft.com/office/drawing/2014/main" id="{C7AA4E97-721F-E62B-8132-56459E0A43BE}"/>
              </a:ext>
            </a:extLst>
          </p:cNvPr>
          <p:cNvSpPr txBox="1"/>
          <p:nvPr/>
        </p:nvSpPr>
        <p:spPr>
          <a:xfrm>
            <a:off x="0" y="5985830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7.5  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对比提议学习方法结构图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9DF9DDD-8B4D-84C1-12AC-446E60650750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7.3.2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弱监督视频定位</a:t>
            </a:r>
          </a:p>
        </p:txBody>
      </p:sp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82A05C5D-05BA-DCE5-F0B5-5D6DB6C1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EF65F0-6AA2-8522-52A9-470B91C8E9CE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）基于对比提议学习的弱监督视频时序定位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5E54823-7F42-409B-D849-036072BD1A26}"/>
              </a:ext>
            </a:extLst>
          </p:cNvPr>
          <p:cNvSpPr txBox="1"/>
          <p:nvPr/>
        </p:nvSpPr>
        <p:spPr>
          <a:xfrm>
            <a:off x="651046" y="1685240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具体方法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4" name="页脚占位符 6">
            <a:extLst>
              <a:ext uri="{FF2B5EF4-FFF2-40B4-BE49-F238E27FC236}">
                <a16:creationId xmlns:a16="http://schemas.microsoft.com/office/drawing/2014/main" id="{E6B08D7D-4F02-076E-2EE1-2FBFA5BE0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7" name="图形 56">
            <a:extLst>
              <a:ext uri="{FF2B5EF4-FFF2-40B4-BE49-F238E27FC236}">
                <a16:creationId xmlns:a16="http://schemas.microsoft.com/office/drawing/2014/main" id="{0F4B047A-99E7-BA11-97A7-BE0BFEF84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05889" y="1923290"/>
            <a:ext cx="9380220" cy="404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83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53313-108B-5F39-42EC-CD1A40C09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869F2AA-DB2B-F5A7-755D-7E3BABD3089D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7.3.2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弱监督视频定位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9DD31B-8402-9E94-C027-13252661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6CD84B-8BEF-6E6C-3553-A861D2E5A228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）基于推拉学习的弱监督视频时序定位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C5B07D-5B89-68D8-0113-753AB40932D6}"/>
              </a:ext>
            </a:extLst>
          </p:cNvPr>
          <p:cNvSpPr txBox="1"/>
          <p:nvPr/>
        </p:nvSpPr>
        <p:spPr>
          <a:xfrm>
            <a:off x="637439" y="1581289"/>
            <a:ext cx="10925295" cy="271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问题描述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弱监督方法容易只学习粗粒度视频-文本相关性，难以准确区分真正相关片段与语义相似的干扰片段。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方法动机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通过“拉近正样本、推远负样本”的学习策略，增强模型对不同事件片段的区分能力。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方法特点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PPS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结合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高斯混合提议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与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推拉学习机制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，利用多提议覆盖多样事件，并通过正负约束提升弱监督定位精度。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页脚占位符 6">
            <a:extLst>
              <a:ext uri="{FF2B5EF4-FFF2-40B4-BE49-F238E27FC236}">
                <a16:creationId xmlns:a16="http://schemas.microsoft.com/office/drawing/2014/main" id="{B9AEFC75-970F-706F-E8CF-DDC81405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7948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5B7BC-CB32-E867-F06E-6F5EF55F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文本框 146">
            <a:extLst>
              <a:ext uri="{FF2B5EF4-FFF2-40B4-BE49-F238E27FC236}">
                <a16:creationId xmlns:a16="http://schemas.microsoft.com/office/drawing/2014/main" id="{F11E2654-357C-078F-871A-28DE4F3DA192}"/>
              </a:ext>
            </a:extLst>
          </p:cNvPr>
          <p:cNvSpPr txBox="1"/>
          <p:nvPr/>
        </p:nvSpPr>
        <p:spPr>
          <a:xfrm>
            <a:off x="53342" y="5647292"/>
            <a:ext cx="121919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7.6  PPS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方法结构图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5CC188-964F-3145-E00C-1FECF799CC41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7.3.2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弱监督视频定位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D50AE-200E-8C1F-85DF-CB6F0239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D7392A-D813-0D25-3F8F-0698750ABFB0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）基于推拉学习的弱监督视频时序定位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4531FB-8153-ECC2-9BA8-7F9B620C8343}"/>
              </a:ext>
            </a:extLst>
          </p:cNvPr>
          <p:cNvSpPr txBox="1"/>
          <p:nvPr/>
        </p:nvSpPr>
        <p:spPr>
          <a:xfrm>
            <a:off x="651046" y="1685240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具体方法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" name="页脚占位符 6">
            <a:extLst>
              <a:ext uri="{FF2B5EF4-FFF2-40B4-BE49-F238E27FC236}">
                <a16:creationId xmlns:a16="http://schemas.microsoft.com/office/drawing/2014/main" id="{C7C2FBF5-A09A-D0FA-70E8-4DD81026A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C6DBD344-EFB3-C30D-8C5D-44461A37AD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6817" y="2100156"/>
            <a:ext cx="9718363" cy="354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98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E11B-D61C-5066-8858-846ABE357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10F00AA-D168-4C03-EB85-A33A9D3A5C0A}"/>
              </a:ext>
            </a:extLst>
          </p:cNvPr>
          <p:cNvSpPr txBox="1"/>
          <p:nvPr/>
        </p:nvSpPr>
        <p:spPr>
          <a:xfrm>
            <a:off x="639097" y="1573749"/>
            <a:ext cx="10903973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问题描述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全监督方法标注成本高，弱监督方法定位精度有限；仅使用单个时间点标注时，模型仍需推断完整目标片段边界。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方法动机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利用点标注作为种子，生成片段级伪监督信号，在低标注成本下提升定位性能。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方法特点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PS-VTG 采用“候选 + 选择”的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伪标记生成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策略，并从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语义对齐和激活分布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两个层面优化模型。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17DA0C-1ACB-1E74-0348-E19C1E8F9E81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7.3.3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点监督视频定位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746A03-CC80-1DB6-9107-16CE61E7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713AC3-2AE3-6211-D07D-FD91F30AFD7A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PS-VTG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：点监督视频时序定位</a:t>
            </a:r>
          </a:p>
        </p:txBody>
      </p:sp>
      <p:sp>
        <p:nvSpPr>
          <p:cNvPr id="2" name="页脚占位符 6">
            <a:extLst>
              <a:ext uri="{FF2B5EF4-FFF2-40B4-BE49-F238E27FC236}">
                <a16:creationId xmlns:a16="http://schemas.microsoft.com/office/drawing/2014/main" id="{6B692F16-65D1-286C-5ED6-410EBB9A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8979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67298-CB77-A87A-E3D6-17B1C3B71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文本框 146">
            <a:extLst>
              <a:ext uri="{FF2B5EF4-FFF2-40B4-BE49-F238E27FC236}">
                <a16:creationId xmlns:a16="http://schemas.microsoft.com/office/drawing/2014/main" id="{D8E4641D-710D-D605-78E4-99735C9DF544}"/>
              </a:ext>
            </a:extLst>
          </p:cNvPr>
          <p:cNvSpPr txBox="1"/>
          <p:nvPr/>
        </p:nvSpPr>
        <p:spPr>
          <a:xfrm>
            <a:off x="-1" y="5975847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7.7  PS-VTG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点监督视频时序定位结构图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C0F41E6-0ACC-4BE4-95F3-E073D4BEBB8A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7.3.3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点监督视频定位</a:t>
            </a:r>
          </a:p>
        </p:txBody>
      </p:sp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A2FABE3F-C371-982B-F9DC-8CABDF6D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D0E4889-20D7-E6A3-BC38-3CACDD45D861}"/>
              </a:ext>
            </a:extLst>
          </p:cNvPr>
          <p:cNvSpPr txBox="1"/>
          <p:nvPr/>
        </p:nvSpPr>
        <p:spPr>
          <a:xfrm>
            <a:off x="651046" y="1685240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具体方法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页脚占位符 6">
            <a:extLst>
              <a:ext uri="{FF2B5EF4-FFF2-40B4-BE49-F238E27FC236}">
                <a16:creationId xmlns:a16="http://schemas.microsoft.com/office/drawing/2014/main" id="{5FAD7D9A-2BFC-02DA-13D4-370AA3CF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6DE655-7F1D-FDA0-7057-55D3FC6CF7DD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PS-VTG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：点监督视频时序定位</a:t>
            </a:r>
          </a:p>
        </p:txBody>
      </p:sp>
      <p:pic>
        <p:nvPicPr>
          <p:cNvPr id="57" name="图形 56">
            <a:extLst>
              <a:ext uri="{FF2B5EF4-FFF2-40B4-BE49-F238E27FC236}">
                <a16:creationId xmlns:a16="http://schemas.microsoft.com/office/drawing/2014/main" id="{265C7618-8DB4-27E0-20C2-5A19B25276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6610" y="2291287"/>
            <a:ext cx="8558778" cy="363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37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37C8D-EFE2-7F87-E3F4-710F93655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7FF16EE-9B60-3E0D-50DC-1CCE112734B5}"/>
              </a:ext>
            </a:extLst>
          </p:cNvPr>
          <p:cNvSpPr txBox="1"/>
          <p:nvPr/>
        </p:nvSpPr>
        <p:spPr>
          <a:xfrm>
            <a:off x="639097" y="1573749"/>
            <a:ext cx="10913806" cy="271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问题描述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视频时空定位不仅需要预测目标出现的时间区间，还要定位目标在每帧中的空间位置；完整时空管标注成本极高。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方法动机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只使用单帧边界框标注，通过扩展和多示例学习生成可靠的时空伪标记。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方法特点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T-SMILE 采用两阶段框架，先扩展单帧标注得到伪时空管，再通过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时间多示例学习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和 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RoI 引导查询聚合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提升定位效果。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EA079E-5984-888D-4D68-1BE9DC9DAB69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7.3.3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点监督视频定位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722E59-B4F4-8719-8007-28DE824D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83AF92-A0F0-621A-6906-988813A854E3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T-SMILE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：基于两阶段多示例学习的视频时空定位</a:t>
            </a:r>
          </a:p>
        </p:txBody>
      </p:sp>
      <p:sp>
        <p:nvSpPr>
          <p:cNvPr id="2" name="页脚占位符 6">
            <a:extLst>
              <a:ext uri="{FF2B5EF4-FFF2-40B4-BE49-F238E27FC236}">
                <a16:creationId xmlns:a16="http://schemas.microsoft.com/office/drawing/2014/main" id="{017C6ED3-EF68-6CD2-2E03-67C829AE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1956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059FE-A2BF-8B75-A7F2-3962E73A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文本框 146">
            <a:extLst>
              <a:ext uri="{FF2B5EF4-FFF2-40B4-BE49-F238E27FC236}">
                <a16:creationId xmlns:a16="http://schemas.microsoft.com/office/drawing/2014/main" id="{2B7C9012-51CB-E50F-FAF4-FC1122893A7E}"/>
              </a:ext>
            </a:extLst>
          </p:cNvPr>
          <p:cNvSpPr txBox="1"/>
          <p:nvPr/>
        </p:nvSpPr>
        <p:spPr>
          <a:xfrm>
            <a:off x="-1" y="6222996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图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7.8  T-SMILE 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两阶段多示例学习方法结构图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99268B-467D-C9B5-E35E-EB19351E068C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7.3.3 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点监督视频定位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BC6D3-8D11-4511-3AD2-F478EDBF9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DFB2E8-7510-9509-D54C-8A97FDB16F93}"/>
              </a:ext>
            </a:extLst>
          </p:cNvPr>
          <p:cNvSpPr txBox="1"/>
          <p:nvPr/>
        </p:nvSpPr>
        <p:spPr>
          <a:xfrm>
            <a:off x="651046" y="1685240"/>
            <a:ext cx="6195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具体方法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" name="页脚占位符 6">
            <a:extLst>
              <a:ext uri="{FF2B5EF4-FFF2-40B4-BE49-F238E27FC236}">
                <a16:creationId xmlns:a16="http://schemas.microsoft.com/office/drawing/2014/main" id="{3B7089EC-C877-C78D-8C49-890819B87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3DBA1A-7D6A-E5EA-8FDB-0F5CD2F024C7}"/>
              </a:ext>
            </a:extLst>
          </p:cNvPr>
          <p:cNvSpPr txBox="1"/>
          <p:nvPr/>
        </p:nvSpPr>
        <p:spPr>
          <a:xfrm flipH="1">
            <a:off x="0" y="1048415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T-SMILE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：基于两阶段多示例学习的视频时空定位</a:t>
            </a: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B966A11D-623A-3E6E-4CF0-387E6F3EED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5016" y="1685240"/>
            <a:ext cx="6801963" cy="447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55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D8770-DB3B-60FA-9A16-C501E5666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文本框 541">
            <a:extLst>
              <a:ext uri="{FF2B5EF4-FFF2-40B4-BE49-F238E27FC236}">
                <a16:creationId xmlns:a16="http://schemas.microsoft.com/office/drawing/2014/main" id="{EDFA2E21-D55D-2AF8-054F-EBCE02651E74}"/>
              </a:ext>
            </a:extLst>
          </p:cNvPr>
          <p:cNvSpPr txBox="1"/>
          <p:nvPr/>
        </p:nvSpPr>
        <p:spPr>
          <a:xfrm flipH="1">
            <a:off x="-37752" y="849075"/>
            <a:ext cx="11043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简答题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546" name="文本框 545">
            <a:extLst>
              <a:ext uri="{FF2B5EF4-FFF2-40B4-BE49-F238E27FC236}">
                <a16:creationId xmlns:a16="http://schemas.microsoft.com/office/drawing/2014/main" id="{42F3BB67-4B50-DF3C-46FC-D198D63B228C}"/>
              </a:ext>
            </a:extLst>
          </p:cNvPr>
          <p:cNvSpPr txBox="1"/>
          <p:nvPr/>
        </p:nvSpPr>
        <p:spPr>
          <a:xfrm>
            <a:off x="380326" y="1288382"/>
            <a:ext cx="9963150" cy="1895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请简述视觉定位（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Visual Grounding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）和本章介绍的视频定位的区别。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请说明在视频定位任务中处理多模态的理由，并说明常见的多模态融合方法。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请说明视频定位任务中使用多模态对齐与融合的理由，并说明二者的区别。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请说明在弱监督视频定位中引入重构损失的理由。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5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现有弱监督方法使用重构损失时，通常会对查询进行随机掩码，请说明这种处理方式的弊端。</a:t>
            </a:r>
          </a:p>
        </p:txBody>
      </p:sp>
      <p:sp>
        <p:nvSpPr>
          <p:cNvPr id="548" name="文本框 547">
            <a:extLst>
              <a:ext uri="{FF2B5EF4-FFF2-40B4-BE49-F238E27FC236}">
                <a16:creationId xmlns:a16="http://schemas.microsoft.com/office/drawing/2014/main" id="{BD24D0FE-B5A1-F42C-4767-B2A59F57ABAA}"/>
              </a:ext>
            </a:extLst>
          </p:cNvPr>
          <p:cNvSpPr txBox="1"/>
          <p:nvPr/>
        </p:nvSpPr>
        <p:spPr>
          <a:xfrm>
            <a:off x="0" y="3570556"/>
            <a:ext cx="6196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动手实践题</a:t>
            </a:r>
          </a:p>
        </p:txBody>
      </p:sp>
      <p:sp>
        <p:nvSpPr>
          <p:cNvPr id="549" name="文本框 548">
            <a:extLst>
              <a:ext uri="{FF2B5EF4-FFF2-40B4-BE49-F238E27FC236}">
                <a16:creationId xmlns:a16="http://schemas.microsoft.com/office/drawing/2014/main" id="{7C42C222-E2CF-0943-5537-EF0247572947}"/>
              </a:ext>
            </a:extLst>
          </p:cNvPr>
          <p:cNvSpPr txBox="1"/>
          <p:nvPr/>
        </p:nvSpPr>
        <p:spPr>
          <a:xfrm>
            <a:off x="380326" y="4041970"/>
            <a:ext cx="9963150" cy="41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) P210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60D332-CB6D-BB30-75BF-3BE84146BDB3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本章习题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4FBD49-35DD-4625-EC0C-B0CF1CC1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2" name="页脚占位符 6">
            <a:extLst>
              <a:ext uri="{FF2B5EF4-FFF2-40B4-BE49-F238E27FC236}">
                <a16:creationId xmlns:a16="http://schemas.microsoft.com/office/drawing/2014/main" id="{09271355-534E-57CC-96ED-01E311BC7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4796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A9E4B-7F74-8750-919B-FC21B9CE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BB2BE74-158B-434C-0738-67ECE3A4595E}"/>
              </a:ext>
            </a:extLst>
          </p:cNvPr>
          <p:cNvSpPr txBox="1"/>
          <p:nvPr/>
        </p:nvSpPr>
        <p:spPr>
          <a:xfrm>
            <a:off x="0" y="42259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参考文献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AD22F9-1C47-3A1D-38DA-8039315D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8845-01F8-4781-BC44-71E27FEEA8FC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F87A8B-4528-2FF6-7C6E-7F8838D0A8F3}"/>
              </a:ext>
            </a:extLst>
          </p:cNvPr>
          <p:cNvSpPr txBox="1"/>
          <p:nvPr/>
        </p:nvSpPr>
        <p:spPr>
          <a:xfrm>
            <a:off x="6162291" y="1383722"/>
            <a:ext cx="5544000" cy="490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8000" indent="-457200" algn="just">
              <a:lnSpc>
                <a:spcPct val="114000"/>
              </a:lnSpc>
              <a:spcAft>
                <a:spcPts val="1200"/>
              </a:spcAft>
            </a:pPr>
            <a:r>
              <a:rPr lang="en-US" altLang="zh-CN" sz="1200" dirty="0">
                <a:latin typeface="Times New Roman" panose="02020603050405020304" pitchFamily="18" charset="0"/>
              </a:rPr>
              <a:t> [6] </a:t>
            </a:r>
            <a:r>
              <a:rPr lang="de-DE" altLang="zh-CN" sz="1200" dirty="0">
                <a:latin typeface="Times New Roman" panose="02020603050405020304" pitchFamily="18" charset="0"/>
              </a:rPr>
              <a:t>Hao Wang, Zheng-Jun Zha, Liang Li, Dong Liu, and Jiebo Luo. Structured multi-level interaction network for video moment localization via language query. In Proceedings of the IEEE/CVF Conference on Computer Vision and Pattern Recognition (CVPR), 2021</a:t>
            </a:r>
            <a:r>
              <a:rPr lang="de-DE" altLang="zh-CN" sz="1200">
                <a:latin typeface="Times New Roman" panose="02020603050405020304" pitchFamily="18" charset="0"/>
              </a:rPr>
              <a:t>: 7026-7035</a:t>
            </a:r>
            <a:r>
              <a:rPr lang="de-DE" altLang="zh-CN" sz="1200" dirty="0">
                <a:latin typeface="Times New Roman" panose="02020603050405020304" pitchFamily="18" charset="0"/>
              </a:rPr>
              <a:t>.</a:t>
            </a:r>
          </a:p>
          <a:p>
            <a:pPr marL="288000" indent="-457200" algn="just">
              <a:lnSpc>
                <a:spcPct val="114000"/>
              </a:lnSpc>
              <a:spcAft>
                <a:spcPts val="1200"/>
              </a:spcAft>
            </a:pPr>
            <a:r>
              <a:rPr lang="en-US" altLang="zh-CN" sz="1200" dirty="0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 [7]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Zhenzhi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Wang, Limin Wang, Tao Wu,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Tianhao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Li, and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Gangshan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Wu. Negative sample matters: A renaissance of metric learning for temporal grounding. In Proceedings of the AAAI Conference on Artificial Intelligence (AAAI), 2022: 2613-2623.</a:t>
            </a:r>
          </a:p>
          <a:p>
            <a:pPr marL="288000" indent="-457200" algn="just">
              <a:lnSpc>
                <a:spcPct val="114000"/>
              </a:lnSpc>
              <a:spcAft>
                <a:spcPts val="1200"/>
              </a:spcAft>
            </a:pPr>
            <a:r>
              <a:rPr lang="en-US" altLang="zh-CN" sz="1200" dirty="0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 [8] 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Meng Cao,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Fangyun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Wei, Can Xu,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Xiubo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Geng, Long Chen, Can Zhang,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Yuexian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Zou, Tao Shen, and Daxin Jiang. Iterative proposal refinement for weakly-supervised video grounding. In Proceedings of the IEEE/CVF Conference on Computer Vision and Pattern Recognition (CVPR), 2023: 6524-6534.</a:t>
            </a:r>
          </a:p>
          <a:p>
            <a:pPr marL="288000" indent="-457200" algn="just">
              <a:lnSpc>
                <a:spcPct val="114000"/>
              </a:lnSpc>
              <a:spcAft>
                <a:spcPts val="1200"/>
              </a:spcAft>
            </a:pPr>
            <a:r>
              <a:rPr lang="en-US" altLang="zh-CN" sz="1200" dirty="0">
                <a:latin typeface="Times New Roman" panose="02020603050405020304" pitchFamily="18" charset="0"/>
              </a:rPr>
              <a:t> [9] Kun Liu, </a:t>
            </a:r>
            <a:r>
              <a:rPr lang="en-US" altLang="zh-CN" sz="1200" dirty="0" err="1">
                <a:latin typeface="Times New Roman" panose="02020603050405020304" pitchFamily="18" charset="0"/>
              </a:rPr>
              <a:t>Mengxue</a:t>
            </a:r>
            <a:r>
              <a:rPr lang="en-US" altLang="zh-CN" sz="1200" dirty="0">
                <a:latin typeface="Times New Roman" panose="02020603050405020304" pitchFamily="18" charset="0"/>
              </a:rPr>
              <a:t> Qu, Yang Liu, </a:t>
            </a:r>
            <a:r>
              <a:rPr lang="en-US" altLang="zh-CN" sz="1200" dirty="0" err="1">
                <a:latin typeface="Times New Roman" panose="02020603050405020304" pitchFamily="18" charset="0"/>
              </a:rPr>
              <a:t>Yunchao</a:t>
            </a:r>
            <a:r>
              <a:rPr lang="en-US" altLang="zh-CN" sz="1200" dirty="0">
                <a:latin typeface="Times New Roman" panose="02020603050405020304" pitchFamily="18" charset="0"/>
              </a:rPr>
              <a:t> Wei, </a:t>
            </a:r>
            <a:r>
              <a:rPr lang="en-US" altLang="zh-CN" sz="1200" dirty="0" err="1">
                <a:latin typeface="Times New Roman" panose="02020603050405020304" pitchFamily="18" charset="0"/>
              </a:rPr>
              <a:t>Wenming</a:t>
            </a:r>
            <a:r>
              <a:rPr lang="en-US" altLang="zh-CN" sz="1200" dirty="0">
                <a:latin typeface="Times New Roman" panose="02020603050405020304" pitchFamily="18" charset="0"/>
              </a:rPr>
              <a:t> Zhe, Yao Zhao, and Wu Liu. Single-frame supervision for </a:t>
            </a:r>
            <a:r>
              <a:rPr lang="en-US" altLang="zh-CN" sz="1200" dirty="0" err="1">
                <a:latin typeface="Times New Roman" panose="02020603050405020304" pitchFamily="18" charset="0"/>
              </a:rPr>
              <a:t>spatio</a:t>
            </a:r>
            <a:r>
              <a:rPr lang="en-US" altLang="zh-CN" sz="1200" dirty="0">
                <a:latin typeface="Times New Roman" panose="02020603050405020304" pitchFamily="18" charset="0"/>
              </a:rPr>
              <a:t>-temporal video grounding. IEEE Transactions on Pattern Analysis and Machine Intelligence (TPAMI), 2025, 47(7): 5177-5191.</a:t>
            </a:r>
          </a:p>
          <a:p>
            <a:pPr marL="288000" indent="-457200" algn="just">
              <a:lnSpc>
                <a:spcPct val="114000"/>
              </a:lnSpc>
              <a:spcAft>
                <a:spcPts val="1200"/>
              </a:spcAft>
            </a:pP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[10] Jianfeng Dong,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Xiaoman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Peng, Daizong Liu, Xiaoye Qu, Xun Yang,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Cuizhu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Bao, and Meng Wang. Temporal sentence grounding with relevance feedback in videos. Advances in Neural Information Processing Systems (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NeurIPS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), 2024: 43107-43132.</a:t>
            </a:r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F5FE77-D539-F8FF-A22E-D0A8032B44D3}"/>
              </a:ext>
            </a:extLst>
          </p:cNvPr>
          <p:cNvSpPr txBox="1"/>
          <p:nvPr/>
        </p:nvSpPr>
        <p:spPr>
          <a:xfrm>
            <a:off x="384242" y="1386805"/>
            <a:ext cx="5711757" cy="384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000" lvl="0" indent="-457200" algn="just">
              <a:lnSpc>
                <a:spcPct val="114000"/>
              </a:lnSpc>
              <a:spcAft>
                <a:spcPts val="1200"/>
              </a:spcAft>
              <a:buSzPts val="900"/>
            </a:pP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[1]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Jiyang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Gao, Chen Sun,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Zhenheng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Yang, and Ram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Nevatia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. Tall: Temporal activity localization via language query. In Proceedings of the IEEE International Conference on Computer Vision (ICCV), 2017: 5277-5285.</a:t>
            </a:r>
          </a:p>
          <a:p>
            <a:pPr marL="252000" lvl="0" indent="-457200" algn="just">
              <a:lnSpc>
                <a:spcPct val="114000"/>
              </a:lnSpc>
              <a:spcAft>
                <a:spcPts val="1200"/>
              </a:spcAft>
              <a:buSzPts val="900"/>
            </a:pP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[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2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] Meng Liu, Xiang Wang,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Liqiang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Nie, Qi Tian, Baoquan Chen, and Tat-Seng Chua. Cross-modal moment localization in videos. In Proceedings of the ACM International Conference on Multimedia (ACM MM), 2018: 843-851.</a:t>
            </a:r>
          </a:p>
          <a:p>
            <a:pPr marL="252000" lvl="0" indent="-457200" algn="just">
              <a:lnSpc>
                <a:spcPct val="114000"/>
              </a:lnSpc>
              <a:spcAft>
                <a:spcPts val="1200"/>
              </a:spcAft>
              <a:buSzPts val="900"/>
            </a:pPr>
            <a:r>
              <a:rPr lang="en-US" altLang="zh-CN" sz="1200" dirty="0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[3] 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Songyang Zhang,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Jinsong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Su, and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Jiebo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Luo. Exploiting temporal relationships in video moment localization with natural language. In Proceedings of the ACM International Conference on Multimedia (ACM MM), 2019: 1230-1238.</a:t>
            </a:r>
          </a:p>
          <a:p>
            <a:pPr marL="252000" lvl="0" indent="-457200" algn="just">
              <a:lnSpc>
                <a:spcPct val="114000"/>
              </a:lnSpc>
              <a:spcAft>
                <a:spcPts val="1200"/>
              </a:spcAft>
              <a:buSzPts val="900"/>
            </a:pPr>
            <a:r>
              <a:rPr lang="en-US" altLang="zh-CN" sz="1200" dirty="0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[4] Anurag Arnab, Mostafa Dehghani, Georg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Heigold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, Chen Sun, Mario Lučić, Cordelia Schmid.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Vivit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: A video vision transformer. In Proceedings of the IEEE international conference on computer vision (ICCV), 2021: 6836-6846.</a:t>
            </a:r>
          </a:p>
          <a:p>
            <a:pPr marL="252000" lvl="0" indent="-457200" algn="just">
              <a:lnSpc>
                <a:spcPct val="114000"/>
              </a:lnSpc>
              <a:spcAft>
                <a:spcPts val="1200"/>
              </a:spcAft>
              <a:buSzPts val="900"/>
            </a:pPr>
            <a:r>
              <a:rPr lang="en-US" altLang="zh-CN" sz="1200" dirty="0">
                <a:effectLst/>
                <a:latin typeface="Times New Roman" panose="02020603050405020304" pitchFamily="18" charset="0"/>
                <a:ea typeface="仿宋" panose="02010609060101010101" pitchFamily="49" charset="-122"/>
              </a:rPr>
              <a:t>[5] 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Songyang Zhang,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Houwen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Peng,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Jianlong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Fu, and </a:t>
            </a:r>
            <a:r>
              <a:rPr lang="en-US" altLang="zh-CN" sz="1200" dirty="0" err="1">
                <a:latin typeface="Times New Roman" panose="02020603050405020304" pitchFamily="18" charset="0"/>
                <a:ea typeface="仿宋" panose="02010609060101010101" pitchFamily="49" charset="-122"/>
              </a:rPr>
              <a:t>Jiebo</a:t>
            </a:r>
            <a:r>
              <a:rPr lang="en-US" altLang="zh-CN" sz="1200" dirty="0">
                <a:latin typeface="Times New Roman" panose="02020603050405020304" pitchFamily="18" charset="0"/>
                <a:ea typeface="仿宋" panose="02010609060101010101" pitchFamily="49" charset="-122"/>
              </a:rPr>
              <a:t> Luo. Learning 2d temporal adjacent networks for moment localization with natural language. In Proceedings of the AAAI Conference on Artificial Intelligence (AAAI), 2020: 12870-12877.</a:t>
            </a:r>
            <a:endParaRPr lang="zh-CN" altLang="zh-CN" dirty="0">
              <a:effectLst/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2" name="页脚占位符 6">
            <a:extLst>
              <a:ext uri="{FF2B5EF4-FFF2-40B4-BE49-F238E27FC236}">
                <a16:creationId xmlns:a16="http://schemas.microsoft.com/office/drawing/2014/main" id="{C572EB5F-E823-8EC0-4DD9-95770174A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73537"/>
            <a:ext cx="2674834" cy="365125"/>
          </a:xfrm>
        </p:spPr>
        <p:txBody>
          <a:bodyPr/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视觉模式分析及实践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视频定位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4561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3158</TotalTime>
  <Words>1759</Words>
  <Application>Microsoft Office PowerPoint</Application>
  <PresentationFormat>宽屏</PresentationFormat>
  <Paragraphs>157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等线 Light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绍启 田</dc:creator>
  <cp:lastModifiedBy>绍启 田</cp:lastModifiedBy>
  <cp:revision>262</cp:revision>
  <dcterms:created xsi:type="dcterms:W3CDTF">2026-06-30T07:17:56Z</dcterms:created>
  <dcterms:modified xsi:type="dcterms:W3CDTF">2026-07-08T01:50:26Z</dcterms:modified>
</cp:coreProperties>
</file>